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63" r:id="rId2"/>
    <p:sldId id="338" r:id="rId3"/>
    <p:sldId id="277" r:id="rId4"/>
    <p:sldId id="370" r:id="rId5"/>
    <p:sldId id="368" r:id="rId6"/>
    <p:sldId id="387" r:id="rId7"/>
    <p:sldId id="371" r:id="rId8"/>
    <p:sldId id="373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7" r:id="rId17"/>
    <p:sldId id="395" r:id="rId18"/>
    <p:sldId id="396" r:id="rId19"/>
    <p:sldId id="398" r:id="rId20"/>
    <p:sldId id="399" r:id="rId21"/>
    <p:sldId id="402" r:id="rId22"/>
    <p:sldId id="401" r:id="rId23"/>
    <p:sldId id="400" r:id="rId24"/>
    <p:sldId id="404" r:id="rId25"/>
    <p:sldId id="403" r:id="rId26"/>
    <p:sldId id="405" r:id="rId27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38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付 庆娇" initials="付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227"/>
        <p:guide pos="38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18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A4318-65E8-4EBB-B31A-905932719CA3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F6AFF-0606-4CAC-A8B7-B616D5DE6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F6AFF-0606-4CAC-A8B7-B616D5DE6DC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矩形: 圆角 22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占位符 65"/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: 圆角 66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0" name="矩形: 圆角 11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/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/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-1" fmla="*/ 2209501 w 2211099"/>
                <a:gd name="connsiteY0-2" fmla="*/ 0 h 4432548"/>
                <a:gd name="connsiteX1-3" fmla="*/ 2211099 w 2211099"/>
                <a:gd name="connsiteY1-4" fmla="*/ 2248887 h 4432548"/>
                <a:gd name="connsiteX2-5" fmla="*/ 2209501 w 2211099"/>
                <a:gd name="connsiteY2-6" fmla="*/ 4432548 h 4432548"/>
                <a:gd name="connsiteX3-7" fmla="*/ 1989997 w 2211099"/>
                <a:gd name="connsiteY3-8" fmla="*/ 4421464 h 4432548"/>
                <a:gd name="connsiteX4-9" fmla="*/ 0 w 2211099"/>
                <a:gd name="connsiteY4-10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-11" fmla="*/ 2211099 w 2302539"/>
                <a:gd name="connsiteY0-12" fmla="*/ 2248887 h 4432548"/>
                <a:gd name="connsiteX1-13" fmla="*/ 2209501 w 2302539"/>
                <a:gd name="connsiteY1-14" fmla="*/ 4432548 h 4432548"/>
                <a:gd name="connsiteX2-15" fmla="*/ 1989997 w 2302539"/>
                <a:gd name="connsiteY2-16" fmla="*/ 4421464 h 4432548"/>
                <a:gd name="connsiteX3-17" fmla="*/ 0 w 2302539"/>
                <a:gd name="connsiteY3-18" fmla="*/ 2216274 h 4432548"/>
                <a:gd name="connsiteX4-19" fmla="*/ 1989997 w 2302539"/>
                <a:gd name="connsiteY4-20" fmla="*/ 11085 h 4432548"/>
                <a:gd name="connsiteX5-21" fmla="*/ 2209501 w 2302539"/>
                <a:gd name="connsiteY5-22" fmla="*/ 0 h 4432548"/>
                <a:gd name="connsiteX6-23" fmla="*/ 2302539 w 2302539"/>
                <a:gd name="connsiteY6-24" fmla="*/ 2340327 h 4432548"/>
                <a:gd name="connsiteX0-25" fmla="*/ 2211099 w 2211099"/>
                <a:gd name="connsiteY0-26" fmla="*/ 2248887 h 4432548"/>
                <a:gd name="connsiteX1-27" fmla="*/ 2209501 w 2211099"/>
                <a:gd name="connsiteY1-28" fmla="*/ 4432548 h 4432548"/>
                <a:gd name="connsiteX2-29" fmla="*/ 1989997 w 2211099"/>
                <a:gd name="connsiteY2-30" fmla="*/ 4421464 h 4432548"/>
                <a:gd name="connsiteX3-31" fmla="*/ 0 w 2211099"/>
                <a:gd name="connsiteY3-32" fmla="*/ 2216274 h 4432548"/>
                <a:gd name="connsiteX4-33" fmla="*/ 1989997 w 2211099"/>
                <a:gd name="connsiteY4-34" fmla="*/ 11085 h 4432548"/>
                <a:gd name="connsiteX5-35" fmla="*/ 2209501 w 2211099"/>
                <a:gd name="connsiteY5-36" fmla="*/ 0 h 4432548"/>
                <a:gd name="connsiteX0-37" fmla="*/ 2209501 w 2209501"/>
                <a:gd name="connsiteY0-38" fmla="*/ 4432548 h 4432548"/>
                <a:gd name="connsiteX1-39" fmla="*/ 1989997 w 2209501"/>
                <a:gd name="connsiteY1-40" fmla="*/ 4421464 h 4432548"/>
                <a:gd name="connsiteX2-41" fmla="*/ 0 w 2209501"/>
                <a:gd name="connsiteY2-42" fmla="*/ 2216274 h 4432548"/>
                <a:gd name="connsiteX3-43" fmla="*/ 1989997 w 2209501"/>
                <a:gd name="connsiteY3-44" fmla="*/ 11085 h 4432548"/>
                <a:gd name="connsiteX4-45" fmla="*/ 2209501 w 2209501"/>
                <a:gd name="connsiteY4-46" fmla="*/ 0 h 4432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-1" fmla="*/ 1310015 w 2619936"/>
                  <a:gd name="connsiteY0-2" fmla="*/ 1311964 h 2620034"/>
                  <a:gd name="connsiteX1-3" fmla="*/ 2619936 w 2619936"/>
                  <a:gd name="connsiteY1-4" fmla="*/ 1311964 h 2620034"/>
                  <a:gd name="connsiteX2-5" fmla="*/ 2613271 w 2619936"/>
                  <a:gd name="connsiteY2-6" fmla="*/ 1443959 h 2620034"/>
                  <a:gd name="connsiteX3-7" fmla="*/ 1310017 w 2619936"/>
                  <a:gd name="connsiteY3-8" fmla="*/ 2620034 h 2620034"/>
                  <a:gd name="connsiteX4-9" fmla="*/ 0 w 2619936"/>
                  <a:gd name="connsiteY4-10" fmla="*/ 1310017 h 2620034"/>
                  <a:gd name="connsiteX5-11" fmla="*/ 1176076 w 2619936"/>
                  <a:gd name="connsiteY5-12" fmla="*/ 6764 h 2620034"/>
                  <a:gd name="connsiteX6-13" fmla="*/ 1310015 w 2619936"/>
                  <a:gd name="connsiteY6-14" fmla="*/ 0 h 2620034"/>
                  <a:gd name="connsiteX7" fmla="*/ 1401455 w 2619936"/>
                  <a:gd name="connsiteY7" fmla="*/ 1403404 h 2620034"/>
                  <a:gd name="connsiteX0-15" fmla="*/ 1310015 w 2619936"/>
                  <a:gd name="connsiteY0-16" fmla="*/ 1311964 h 2620034"/>
                  <a:gd name="connsiteX1-17" fmla="*/ 2619936 w 2619936"/>
                  <a:gd name="connsiteY1-18" fmla="*/ 1311964 h 2620034"/>
                  <a:gd name="connsiteX2-19" fmla="*/ 2613271 w 2619936"/>
                  <a:gd name="connsiteY2-20" fmla="*/ 1443959 h 2620034"/>
                  <a:gd name="connsiteX3-21" fmla="*/ 1310017 w 2619936"/>
                  <a:gd name="connsiteY3-22" fmla="*/ 2620034 h 2620034"/>
                  <a:gd name="connsiteX4-23" fmla="*/ 0 w 2619936"/>
                  <a:gd name="connsiteY4-24" fmla="*/ 1310017 h 2620034"/>
                  <a:gd name="connsiteX5-25" fmla="*/ 1176076 w 2619936"/>
                  <a:gd name="connsiteY5-26" fmla="*/ 6764 h 2620034"/>
                  <a:gd name="connsiteX6-27" fmla="*/ 1310015 w 2619936"/>
                  <a:gd name="connsiteY6-28" fmla="*/ 0 h 2620034"/>
                  <a:gd name="connsiteX0-29" fmla="*/ 2619936 w 2619936"/>
                  <a:gd name="connsiteY0-30" fmla="*/ 1311964 h 2620034"/>
                  <a:gd name="connsiteX1-31" fmla="*/ 2613271 w 2619936"/>
                  <a:gd name="connsiteY1-32" fmla="*/ 1443959 h 2620034"/>
                  <a:gd name="connsiteX2-33" fmla="*/ 1310017 w 2619936"/>
                  <a:gd name="connsiteY2-34" fmla="*/ 2620034 h 2620034"/>
                  <a:gd name="connsiteX3-35" fmla="*/ 0 w 2619936"/>
                  <a:gd name="connsiteY3-36" fmla="*/ 1310017 h 2620034"/>
                  <a:gd name="connsiteX4-37" fmla="*/ 1176076 w 2619936"/>
                  <a:gd name="connsiteY4-38" fmla="*/ 6764 h 2620034"/>
                  <a:gd name="connsiteX5-39" fmla="*/ 1310015 w 2619936"/>
                  <a:gd name="connsiteY5-40" fmla="*/ 0 h 262003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/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-1" fmla="*/ 2422212 w 2513652"/>
                    <a:gd name="connsiteY0-2" fmla="*/ 2452564 h 2544004"/>
                    <a:gd name="connsiteX1-3" fmla="*/ 1086 w 2513652"/>
                    <a:gd name="connsiteY1-4" fmla="*/ 2452564 h 2544004"/>
                    <a:gd name="connsiteX2-5" fmla="*/ 0 w 2513652"/>
                    <a:gd name="connsiteY2-6" fmla="*/ 2429638 h 2544004"/>
                    <a:gd name="connsiteX3-7" fmla="*/ 2181576 w 2513652"/>
                    <a:gd name="connsiteY3-8" fmla="*/ 12152 h 2544004"/>
                    <a:gd name="connsiteX4-9" fmla="*/ 2422212 w 2513652"/>
                    <a:gd name="connsiteY4-10" fmla="*/ 0 h 2544004"/>
                    <a:gd name="connsiteX5" fmla="*/ 2513652 w 2513652"/>
                    <a:gd name="connsiteY5" fmla="*/ 2544004 h 2544004"/>
                    <a:gd name="connsiteX0-11" fmla="*/ 1086 w 2513652"/>
                    <a:gd name="connsiteY0-12" fmla="*/ 2452564 h 2544004"/>
                    <a:gd name="connsiteX1-13" fmla="*/ 0 w 2513652"/>
                    <a:gd name="connsiteY1-14" fmla="*/ 2429638 h 2544004"/>
                    <a:gd name="connsiteX2-15" fmla="*/ 2181576 w 2513652"/>
                    <a:gd name="connsiteY2-16" fmla="*/ 12152 h 2544004"/>
                    <a:gd name="connsiteX3-17" fmla="*/ 2422212 w 2513652"/>
                    <a:gd name="connsiteY3-18" fmla="*/ 0 h 2544004"/>
                    <a:gd name="connsiteX4-19" fmla="*/ 2513652 w 2513652"/>
                    <a:gd name="connsiteY4-20" fmla="*/ 2544004 h 2544004"/>
                    <a:gd name="connsiteX0-21" fmla="*/ 1086 w 2422212"/>
                    <a:gd name="connsiteY0-22" fmla="*/ 2452564 h 2452564"/>
                    <a:gd name="connsiteX1-23" fmla="*/ 0 w 2422212"/>
                    <a:gd name="connsiteY1-24" fmla="*/ 2429638 h 2452564"/>
                    <a:gd name="connsiteX2-25" fmla="*/ 2181576 w 2422212"/>
                    <a:gd name="connsiteY2-26" fmla="*/ 12152 h 2452564"/>
                    <a:gd name="connsiteX3-27" fmla="*/ 2422212 w 2422212"/>
                    <a:gd name="connsiteY3-28" fmla="*/ 0 h 245256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/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9" name="矩形: 圆角 7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圆角 5"/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/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0" name="矩形: 圆角 7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泪滴形 22"/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/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/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/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图片占位符 16"/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/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/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: 圆角 8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>
            <a:fillRect/>
          </a:stretch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5" name="矩形: 圆角 7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5" name="椭圆 64"/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/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: 圆角 6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grpSp>
        <p:nvGrpSpPr>
          <p:cNvPr id="55" name="组合 5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60" y="253874"/>
            <a:ext cx="605908" cy="60590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9355898" y="5929331"/>
            <a:ext cx="2131527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格高志远 学贯中外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D:\360MoveData\Users\xiaoxiao\Desktop\图片2.png图片2"/>
          <p:cNvPicPr>
            <a:picLocks noChangeAspect="1"/>
          </p:cNvPicPr>
          <p:nvPr userDrawn="1"/>
        </p:nvPicPr>
        <p:blipFill rotWithShape="1">
          <a:blip r:embed="rId18"/>
          <a:srcRect/>
          <a:stretch>
            <a:fillRect/>
          </a:stretch>
        </p:blipFill>
        <p:spPr>
          <a:xfrm>
            <a:off x="9422765" y="90488"/>
            <a:ext cx="2358390" cy="8655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D:\360MoveData\Users\xiaoxiao\Desktop\微信图片_20230609200901.png微信图片_20230609200901"/>
          <p:cNvPicPr>
            <a:picLocks noChangeAspect="1"/>
          </p:cNvPicPr>
          <p:nvPr/>
        </p:nvPicPr>
        <p:blipFill>
          <a:blip r:embed="rId3"/>
          <a:srcRect t="25402" b="15531"/>
          <a:stretch>
            <a:fillRect/>
          </a:stretch>
        </p:blipFill>
        <p:spPr>
          <a:xfrm>
            <a:off x="0" y="0"/>
            <a:ext cx="12178030" cy="3604895"/>
          </a:xfrm>
          <a:custGeom>
            <a:avLst/>
            <a:gdLst>
              <a:gd name="connsiteX0" fmla="*/ 0 w 12192000"/>
              <a:gd name="connsiteY0" fmla="*/ 0 h 3573014"/>
              <a:gd name="connsiteX1" fmla="*/ 12192000 w 12192000"/>
              <a:gd name="connsiteY1" fmla="*/ 0 h 3573014"/>
              <a:gd name="connsiteX2" fmla="*/ 12192000 w 12192000"/>
              <a:gd name="connsiteY2" fmla="*/ 1792365 h 3573014"/>
              <a:gd name="connsiteX3" fmla="*/ 12053358 w 12192000"/>
              <a:gd name="connsiteY3" fmla="*/ 1912035 h 3573014"/>
              <a:gd name="connsiteX4" fmla="*/ 6096000 w 12192000"/>
              <a:gd name="connsiteY4" fmla="*/ 3573014 h 3573014"/>
              <a:gd name="connsiteX5" fmla="*/ 138643 w 12192000"/>
              <a:gd name="connsiteY5" fmla="*/ 1912035 h 3573014"/>
              <a:gd name="connsiteX6" fmla="*/ 0 w 12192000"/>
              <a:gd name="connsiteY6" fmla="*/ 1792365 h 357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573014">
                <a:moveTo>
                  <a:pt x="0" y="0"/>
                </a:moveTo>
                <a:lnTo>
                  <a:pt x="12192000" y="0"/>
                </a:lnTo>
                <a:lnTo>
                  <a:pt x="12192000" y="1792365"/>
                </a:lnTo>
                <a:lnTo>
                  <a:pt x="12053358" y="1912035"/>
                </a:lnTo>
                <a:cubicBezTo>
                  <a:pt x="10762282" y="2914151"/>
                  <a:pt x="8575872" y="3573014"/>
                  <a:pt x="6096000" y="3573014"/>
                </a:cubicBezTo>
                <a:cubicBezTo>
                  <a:pt x="3616128" y="3573014"/>
                  <a:pt x="1429718" y="2914151"/>
                  <a:pt x="138643" y="1912035"/>
                </a:cubicBezTo>
                <a:lnTo>
                  <a:pt x="0" y="1792365"/>
                </a:lnTo>
                <a:close/>
              </a:path>
            </a:pathLst>
          </a:custGeom>
        </p:spPr>
      </p:pic>
      <p:sp>
        <p:nvSpPr>
          <p:cNvPr id="67" name="文本框 66"/>
          <p:cNvSpPr txBox="1"/>
          <p:nvPr/>
        </p:nvSpPr>
        <p:spPr>
          <a:xfrm>
            <a:off x="513984" y="3685324"/>
            <a:ext cx="1071508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 dirty="0" err="1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DormFix</a:t>
            </a:r>
            <a:r>
              <a:rPr lang="zh-CN" altLang="en-US" sz="5400" b="1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5400" b="1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  <a:p>
            <a:pPr lvl="0" algn="ctr">
              <a:defRPr/>
            </a:pPr>
            <a:r>
              <a:rPr lang="zh-CN" altLang="en-US" sz="4800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宿舍报修与维修进度管理系统</a:t>
            </a:r>
          </a:p>
        </p:txBody>
      </p:sp>
      <p:sp>
        <p:nvSpPr>
          <p:cNvPr id="68" name="副标题 16"/>
          <p:cNvSpPr txBox="1"/>
          <p:nvPr/>
        </p:nvSpPr>
        <p:spPr>
          <a:xfrm>
            <a:off x="1153311" y="5612332"/>
            <a:ext cx="10065072" cy="10061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小组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成员：王怡博，孙佳乐，何叶，王羿淼</a:t>
            </a:r>
            <a:endParaRPr lang="en-US" altLang="zh-CN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微软雅黑 Light" panose="020B0502040204020203" pitchFamily="34" charset="-122"/>
              <a:cs typeface="Arial" panose="020B0604020202020204" pitchFamily="34" charset="0"/>
            </a:endParaRPr>
          </a:p>
          <a:p>
            <a:pPr marL="0" lvl="0" indent="0" algn="ctr"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学号：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2310425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，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2310417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，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2313487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，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 Light" panose="020B0502040204020203" pitchFamily="34" charset="-122"/>
                <a:cs typeface="Arial" panose="020B0604020202020204" pitchFamily="34" charset="0"/>
              </a:rPr>
              <a:t>2310419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-20955" y="0"/>
            <a:ext cx="12195810" cy="3662680"/>
          </a:xfrm>
          <a:custGeom>
            <a:avLst/>
            <a:gdLst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104640">
                <a:moveTo>
                  <a:pt x="0" y="0"/>
                </a:moveTo>
                <a:lnTo>
                  <a:pt x="12192000" y="0"/>
                </a:lnTo>
                <a:lnTo>
                  <a:pt x="12192000" y="2059049"/>
                </a:lnTo>
                <a:lnTo>
                  <a:pt x="12053358" y="2196525"/>
                </a:lnTo>
                <a:cubicBezTo>
                  <a:pt x="10762282" y="3347745"/>
                  <a:pt x="8575872" y="4104640"/>
                  <a:pt x="6096000" y="4104640"/>
                </a:cubicBezTo>
                <a:cubicBezTo>
                  <a:pt x="3616128" y="4104640"/>
                  <a:pt x="1429718" y="3347745"/>
                  <a:pt x="138643" y="2196525"/>
                </a:cubicBezTo>
                <a:lnTo>
                  <a:pt x="0" y="205904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0" y="1533191"/>
            <a:ext cx="12192000" cy="1869044"/>
          </a:xfrm>
          <a:custGeom>
            <a:avLst/>
            <a:gdLst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0-1" fmla="*/ 0 w 12192000"/>
              <a:gd name="connsiteY0-2" fmla="*/ 0 h 4104640"/>
              <a:gd name="connsiteX1-3" fmla="*/ 12192000 w 12192000"/>
              <a:gd name="connsiteY1-4" fmla="*/ 0 h 4104640"/>
              <a:gd name="connsiteX2-5" fmla="*/ 12192000 w 12192000"/>
              <a:gd name="connsiteY2-6" fmla="*/ 2059049 h 4104640"/>
              <a:gd name="connsiteX3-7" fmla="*/ 12053358 w 12192000"/>
              <a:gd name="connsiteY3-8" fmla="*/ 2196525 h 4104640"/>
              <a:gd name="connsiteX4-9" fmla="*/ 6096000 w 12192000"/>
              <a:gd name="connsiteY4-10" fmla="*/ 4104640 h 4104640"/>
              <a:gd name="connsiteX5-11" fmla="*/ 138643 w 12192000"/>
              <a:gd name="connsiteY5-12" fmla="*/ 2196525 h 4104640"/>
              <a:gd name="connsiteX6-13" fmla="*/ 0 w 12192000"/>
              <a:gd name="connsiteY6-14" fmla="*/ 2059049 h 4104640"/>
              <a:gd name="connsiteX7" fmla="*/ 91440 w 12192000"/>
              <a:gd name="connsiteY7" fmla="*/ 87904 h 4104640"/>
              <a:gd name="connsiteX0-15" fmla="*/ 0 w 12192000"/>
              <a:gd name="connsiteY0-16" fmla="*/ 0 h 4104640"/>
              <a:gd name="connsiteX1-17" fmla="*/ 12192000 w 12192000"/>
              <a:gd name="connsiteY1-18" fmla="*/ 0 h 4104640"/>
              <a:gd name="connsiteX2-19" fmla="*/ 12192000 w 12192000"/>
              <a:gd name="connsiteY2-20" fmla="*/ 2059049 h 4104640"/>
              <a:gd name="connsiteX3-21" fmla="*/ 12053358 w 12192000"/>
              <a:gd name="connsiteY3-22" fmla="*/ 2196525 h 4104640"/>
              <a:gd name="connsiteX4-23" fmla="*/ 6096000 w 12192000"/>
              <a:gd name="connsiteY4-24" fmla="*/ 4104640 h 4104640"/>
              <a:gd name="connsiteX5-25" fmla="*/ 138643 w 12192000"/>
              <a:gd name="connsiteY5-26" fmla="*/ 2196525 h 4104640"/>
              <a:gd name="connsiteX6-27" fmla="*/ 0 w 12192000"/>
              <a:gd name="connsiteY6-28" fmla="*/ 2059049 h 4104640"/>
              <a:gd name="connsiteX0-29" fmla="*/ 0 w 12192000"/>
              <a:gd name="connsiteY0-30" fmla="*/ 0 h 4104640"/>
              <a:gd name="connsiteX1-31" fmla="*/ 12192000 w 12192000"/>
              <a:gd name="connsiteY1-32" fmla="*/ 2059049 h 4104640"/>
              <a:gd name="connsiteX2-33" fmla="*/ 12053358 w 12192000"/>
              <a:gd name="connsiteY2-34" fmla="*/ 2196525 h 4104640"/>
              <a:gd name="connsiteX3-35" fmla="*/ 6096000 w 12192000"/>
              <a:gd name="connsiteY3-36" fmla="*/ 4104640 h 4104640"/>
              <a:gd name="connsiteX4-37" fmla="*/ 138643 w 12192000"/>
              <a:gd name="connsiteY4-38" fmla="*/ 2196525 h 4104640"/>
              <a:gd name="connsiteX5-39" fmla="*/ 0 w 12192000"/>
              <a:gd name="connsiteY5-40" fmla="*/ 2059049 h 4104640"/>
              <a:gd name="connsiteX0-41" fmla="*/ 12192000 w 12192000"/>
              <a:gd name="connsiteY0-42" fmla="*/ 0 h 2045591"/>
              <a:gd name="connsiteX1-43" fmla="*/ 12053358 w 12192000"/>
              <a:gd name="connsiteY1-44" fmla="*/ 137476 h 2045591"/>
              <a:gd name="connsiteX2-45" fmla="*/ 6096000 w 12192000"/>
              <a:gd name="connsiteY2-46" fmla="*/ 2045591 h 2045591"/>
              <a:gd name="connsiteX3-47" fmla="*/ 138643 w 12192000"/>
              <a:gd name="connsiteY3-48" fmla="*/ 137476 h 2045591"/>
              <a:gd name="connsiteX4-49" fmla="*/ 0 w 12192000"/>
              <a:gd name="connsiteY4-50" fmla="*/ 0 h 2045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2045591">
                <a:moveTo>
                  <a:pt x="12192000" y="0"/>
                </a:moveTo>
                <a:lnTo>
                  <a:pt x="12053358" y="137476"/>
                </a:lnTo>
                <a:cubicBezTo>
                  <a:pt x="10762282" y="1288696"/>
                  <a:pt x="8575872" y="2045591"/>
                  <a:pt x="6096000" y="2045591"/>
                </a:cubicBezTo>
                <a:cubicBezTo>
                  <a:pt x="3616128" y="2045591"/>
                  <a:pt x="1429718" y="1288696"/>
                  <a:pt x="138643" y="137476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538687-B298-A9F7-AABC-7EAAF5D2C75E}"/>
              </a:ext>
            </a:extLst>
          </p:cNvPr>
          <p:cNvSpPr txBox="1"/>
          <p:nvPr/>
        </p:nvSpPr>
        <p:spPr>
          <a:xfrm>
            <a:off x="1775520" y="1272746"/>
            <a:ext cx="8640960" cy="1178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6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软件工程第</a:t>
            </a:r>
            <a:r>
              <a:rPr lang="en-US" altLang="zh-CN" sz="6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</a:t>
            </a:r>
            <a:r>
              <a:rPr lang="zh-CN" altLang="en-US" sz="6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组期末汇报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 descr="D:\360MoveData\Users\xiaoxiao\Desktop\微信图片_20230609200940.png微信图片_20230609200940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-635" y="-16510"/>
            <a:ext cx="5026660" cy="6895465"/>
          </a:xfrm>
        </p:spPr>
      </p:pic>
      <p:sp>
        <p:nvSpPr>
          <p:cNvPr id="16" name="文本框 15"/>
          <p:cNvSpPr txBox="1"/>
          <p:nvPr/>
        </p:nvSpPr>
        <p:spPr>
          <a:xfrm>
            <a:off x="5807968" y="929809"/>
            <a:ext cx="6175289" cy="5538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strike="noStrike" kern="1200" cap="none" spc="0" normalizeH="0" baseline="0" noProof="0" dirty="0">
                <a:ln>
                  <a:noFill/>
                </a:ln>
                <a:solidFill>
                  <a:srgbClr val="034C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01</a:t>
            </a:r>
            <a:r>
              <a:rPr kumimoji="0" lang="en-US" altLang="zh-CN" sz="6000" b="1" i="0" strike="noStrike" kern="1200" cap="none" spc="0" normalizeH="0" baseline="0" noProof="0" dirty="0">
                <a:ln>
                  <a:noFill/>
                </a:ln>
                <a:solidFill>
                  <a:srgbClr val="034C9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3600" b="1" i="0" u="sng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项目动机和背景介绍</a:t>
            </a:r>
            <a:endParaRPr kumimoji="0" lang="en-US" altLang="zh-CN" sz="3600" b="1" i="0" u="sng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6000" b="1" dirty="0">
                <a:solidFill>
                  <a:srgbClr val="034C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en-US" altLang="zh-CN" sz="6000" b="1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600" b="1" u="sng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项目的组织管理情况</a:t>
            </a:r>
            <a:endParaRPr lang="en-US" altLang="zh-CN" sz="3600" b="1" u="sng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defRPr/>
            </a:pPr>
            <a:r>
              <a:rPr kumimoji="0" lang="en-US" altLang="zh-CN" sz="6000" b="1" i="0" strike="noStrike" kern="1200" cap="none" spc="0" normalizeH="0" baseline="0" noProof="0" dirty="0">
                <a:ln>
                  <a:noFill/>
                </a:ln>
                <a:solidFill>
                  <a:srgbClr val="034C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03</a:t>
            </a:r>
            <a:r>
              <a:rPr kumimoji="0" lang="en-US" altLang="zh-CN" sz="6000" b="1" i="0" strike="noStrike" kern="1200" cap="none" spc="0" normalizeH="0" baseline="0" noProof="0" dirty="0">
                <a:ln>
                  <a:noFill/>
                </a:ln>
                <a:solidFill>
                  <a:srgbClr val="034C9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zh-CN" altLang="en-US" sz="3600" b="1" u="sng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项目功能演示</a:t>
            </a:r>
            <a:endParaRPr lang="en-US" altLang="zh-CN" sz="3600" b="1" u="sng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6000" b="1" dirty="0">
                <a:solidFill>
                  <a:srgbClr val="034C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en-US" altLang="zh-CN" sz="6000" b="1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600" b="1" u="sng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分工情况</a:t>
            </a:r>
            <a:endParaRPr lang="en-US" altLang="zh-CN" sz="3600" b="1" u="sng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1" i="0" strike="noStrike" kern="1200" cap="none" spc="0" normalizeH="0" baseline="0" noProof="0" dirty="0">
                <a:ln>
                  <a:noFill/>
                </a:ln>
                <a:solidFill>
                  <a:srgbClr val="034C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05</a:t>
            </a:r>
            <a:r>
              <a:rPr kumimoji="0" lang="en-US" altLang="zh-CN" sz="6000" b="1" i="0" strike="noStrike" kern="1200" cap="none" spc="0" normalizeH="0" baseline="0" noProof="0" dirty="0">
                <a:ln>
                  <a:noFill/>
                </a:ln>
                <a:solidFill>
                  <a:srgbClr val="034C9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zh-CN" altLang="en-US" sz="3600" b="1" u="sng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544341" y="0"/>
            <a:ext cx="1027860" cy="4730374"/>
            <a:chOff x="4673575" y="0"/>
            <a:chExt cx="711071" cy="4730374"/>
          </a:xfrm>
        </p:grpSpPr>
        <p:cxnSp>
          <p:nvCxnSpPr>
            <p:cNvPr id="42" name="直接连接符 41"/>
            <p:cNvCxnSpPr>
              <a:endCxn id="43" idx="1"/>
            </p:cNvCxnSpPr>
            <p:nvPr/>
          </p:nvCxnSpPr>
          <p:spPr>
            <a:xfrm>
              <a:off x="5029111" y="0"/>
              <a:ext cx="0" cy="2127628"/>
            </a:xfrm>
            <a:prstGeom prst="line">
              <a:avLst/>
            </a:prstGeom>
            <a:ln w="1016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: 圆角 42"/>
            <p:cNvSpPr/>
            <p:nvPr/>
          </p:nvSpPr>
          <p:spPr>
            <a:xfrm rot="5400000">
              <a:off x="3727738" y="3073465"/>
              <a:ext cx="2602746" cy="71107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 flipH="1">
            <a:off x="5026401" y="4695871"/>
            <a:ext cx="2" cy="2183229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4596606" y="2568244"/>
            <a:ext cx="923330" cy="168701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28060" b="17165"/>
          <a:stretch>
            <a:fillRect/>
          </a:stretch>
        </p:blipFill>
        <p:spPr>
          <a:xfrm>
            <a:off x="1270" y="-120650"/>
            <a:ext cx="12190730" cy="415353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PART 01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项目动机和背景介绍</a:t>
            </a:r>
          </a:p>
        </p:txBody>
      </p:sp>
      <p:sp>
        <p:nvSpPr>
          <p:cNvPr id="11" name="等腰三角形 10"/>
          <p:cNvSpPr/>
          <p:nvPr/>
        </p:nvSpPr>
        <p:spPr>
          <a:xfrm>
            <a:off x="5922380" y="6558655"/>
            <a:ext cx="347240" cy="29934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E902-3DCC-F247-E526-15E9A283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9607AC7-BEA5-03A1-B142-48B530D23B59}"/>
              </a:ext>
            </a:extLst>
          </p:cNvPr>
          <p:cNvSpPr/>
          <p:nvPr/>
        </p:nvSpPr>
        <p:spPr>
          <a:xfrm>
            <a:off x="624255" y="1362602"/>
            <a:ext cx="3525434" cy="42986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FFC637A-D8DD-8A15-EB19-E5034FBD3283}"/>
              </a:ext>
            </a:extLst>
          </p:cNvPr>
          <p:cNvCxnSpPr>
            <a:cxnSpLocks/>
          </p:cNvCxnSpPr>
          <p:nvPr/>
        </p:nvCxnSpPr>
        <p:spPr>
          <a:xfrm>
            <a:off x="623392" y="5713196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1EF333A3-0B83-C835-ED1B-43E95105BC50}"/>
              </a:ext>
            </a:extLst>
          </p:cNvPr>
          <p:cNvSpPr/>
          <p:nvPr/>
        </p:nvSpPr>
        <p:spPr>
          <a:xfrm flipV="1">
            <a:off x="623393" y="1425353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4E9E934-235B-C2FD-03D1-8997C61D012A}"/>
              </a:ext>
            </a:extLst>
          </p:cNvPr>
          <p:cNvSpPr txBox="1"/>
          <p:nvPr/>
        </p:nvSpPr>
        <p:spPr>
          <a:xfrm>
            <a:off x="1027586" y="1829828"/>
            <a:ext cx="295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动机分析：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C61753-37D1-A3C4-75B5-BD47AE6E1DB1}"/>
              </a:ext>
            </a:extLst>
          </p:cNvPr>
          <p:cNvSpPr/>
          <p:nvPr/>
        </p:nvSpPr>
        <p:spPr>
          <a:xfrm>
            <a:off x="807244" y="2636912"/>
            <a:ext cx="3139482" cy="1966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>
              <a:lnSpc>
                <a:spcPct val="13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当前高校宿舍报修普遍依赖人工登记、电话或微信群，存在很多核心问题。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5031CDE-5300-733E-6CA1-5F356511F316}"/>
              </a:ext>
            </a:extLst>
          </p:cNvPr>
          <p:cNvCxnSpPr>
            <a:cxnSpLocks/>
          </p:cNvCxnSpPr>
          <p:nvPr/>
        </p:nvCxnSpPr>
        <p:spPr>
          <a:xfrm>
            <a:off x="1271464" y="2510831"/>
            <a:ext cx="24482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形 25" descr="黑板">
            <a:extLst>
              <a:ext uri="{FF2B5EF4-FFF2-40B4-BE49-F238E27FC236}">
                <a16:creationId xmlns:a16="http://schemas.microsoft.com/office/drawing/2014/main" id="{2EAC26F8-97F2-7D36-371F-629A2A3D0F6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561" y="1449420"/>
            <a:ext cx="369392" cy="36939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02DD2D7-0AA9-1C4A-EF06-8BE4FF077394}"/>
              </a:ext>
            </a:extLst>
          </p:cNvPr>
          <p:cNvGrpSpPr/>
          <p:nvPr/>
        </p:nvGrpSpPr>
        <p:grpSpPr>
          <a:xfrm>
            <a:off x="-240704" y="246620"/>
            <a:ext cx="4464496" cy="734108"/>
            <a:chOff x="-240704" y="246620"/>
            <a:chExt cx="3456384" cy="734108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949A0DD-3DF8-EF84-A4EC-8709C2AF54D9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4" name="文本占位符 3">
              <a:extLst>
                <a:ext uri="{FF2B5EF4-FFF2-40B4-BE49-F238E27FC236}">
                  <a16:creationId xmlns:a16="http://schemas.microsoft.com/office/drawing/2014/main" id="{3BE559F4-8C23-38FE-1DE8-AA913F1BF9A9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项目动机和背景介绍</a:t>
              </a:r>
            </a:p>
          </p:txBody>
        </p:sp>
      </p:grp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3A217B2-E8F0-FE84-32D0-4A9FD123C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991104"/>
              </p:ext>
            </p:extLst>
          </p:nvPr>
        </p:nvGraphicFramePr>
        <p:xfrm>
          <a:off x="4593935" y="1391705"/>
          <a:ext cx="7180761" cy="44564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180761">
                  <a:extLst>
                    <a:ext uri="{9D8B030D-6E8A-4147-A177-3AD203B41FA5}">
                      <a16:colId xmlns:a16="http://schemas.microsoft.com/office/drawing/2014/main" val="1172427749"/>
                    </a:ext>
                  </a:extLst>
                </a:gridCol>
              </a:tblGrid>
              <a:tr h="769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高校宿舍报修面临问题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700402"/>
                  </a:ext>
                </a:extLst>
              </a:tr>
              <a:tr h="614440">
                <a:tc>
                  <a:txBody>
                    <a:bodyPr/>
                    <a:lstStyle/>
                    <a:p>
                      <a:pPr indent="457200"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</a:t>
                      </a:r>
                      <a:r>
                        <a:rPr lang="zh-CN" altLang="en-US" sz="2800" b="1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报修渠道分散且不规范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1194"/>
                  </a:ext>
                </a:extLst>
              </a:tr>
              <a:tr h="614440">
                <a:tc>
                  <a:txBody>
                    <a:bodyPr/>
                    <a:lstStyle/>
                    <a:p>
                      <a:pPr indent="457200"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2.</a:t>
                      </a:r>
                      <a:r>
                        <a:rPr lang="zh-CN" altLang="zh-CN" sz="2800" b="1" dirty="0">
                          <a:solidFill>
                            <a:srgbClr val="C00000"/>
                          </a:solidFill>
                        </a:rPr>
                        <a:t>信息传递效率低下</a:t>
                      </a:r>
                      <a:endParaRPr lang="zh-CN" altLang="en-US" sz="2800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276330"/>
                  </a:ext>
                </a:extLst>
              </a:tr>
              <a:tr h="614440">
                <a:tc>
                  <a:txBody>
                    <a:bodyPr/>
                    <a:lstStyle/>
                    <a:p>
                      <a:pPr indent="457200"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3.</a:t>
                      </a:r>
                      <a:r>
                        <a:rPr lang="zh-CN" altLang="zh-CN" sz="2800" b="1" dirty="0">
                          <a:solidFill>
                            <a:srgbClr val="C00000"/>
                          </a:solidFill>
                        </a:rPr>
                        <a:t>报修记录易遗漏与丢失</a:t>
                      </a:r>
                      <a:endParaRPr lang="zh-CN" altLang="en-US" sz="2800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633402"/>
                  </a:ext>
                </a:extLst>
              </a:tr>
              <a:tr h="614440">
                <a:tc>
                  <a:txBody>
                    <a:bodyPr/>
                    <a:lstStyle/>
                    <a:p>
                      <a:pPr indent="457200"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4.</a:t>
                      </a:r>
                      <a:r>
                        <a:rPr lang="zh-CN" altLang="zh-CN" sz="2800" b="1" dirty="0">
                          <a:solidFill>
                            <a:srgbClr val="C00000"/>
                          </a:solidFill>
                        </a:rPr>
                        <a:t>维修进度不透明</a:t>
                      </a:r>
                      <a:endParaRPr lang="zh-CN" altLang="en-US" sz="2800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998432"/>
                  </a:ext>
                </a:extLst>
              </a:tr>
              <a:tr h="614440">
                <a:tc>
                  <a:txBody>
                    <a:bodyPr/>
                    <a:lstStyle/>
                    <a:p>
                      <a:pPr indent="457200"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5.</a:t>
                      </a:r>
                      <a:r>
                        <a:rPr lang="zh-CN" altLang="zh-CN" sz="2800" b="1" dirty="0">
                          <a:solidFill>
                            <a:srgbClr val="C00000"/>
                          </a:solidFill>
                        </a:rPr>
                        <a:t>后勤统计与监管困难</a:t>
                      </a:r>
                      <a:endParaRPr lang="zh-CN" altLang="en-US" sz="2800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532650"/>
                  </a:ext>
                </a:extLst>
              </a:tr>
              <a:tr h="614440">
                <a:tc>
                  <a:txBody>
                    <a:bodyPr/>
                    <a:lstStyle/>
                    <a:p>
                      <a:pPr indent="457200" algn="l"/>
                      <a:r>
                        <a:rPr lang="en-US" altLang="zh-CN" sz="2800" b="1" dirty="0">
                          <a:solidFill>
                            <a:srgbClr val="C00000"/>
                          </a:solidFill>
                        </a:rPr>
                        <a:t>6.</a:t>
                      </a:r>
                      <a:r>
                        <a:rPr lang="zh-CN" altLang="zh-CN" sz="2800" b="1" dirty="0">
                          <a:solidFill>
                            <a:srgbClr val="C00000"/>
                          </a:solidFill>
                        </a:rPr>
                        <a:t>缺乏服务评价与反馈</a:t>
                      </a:r>
                      <a:endParaRPr lang="zh-CN" altLang="en-US" sz="2800" b="1" dirty="0">
                        <a:solidFill>
                          <a:srgbClr val="C0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712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53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7D238-84F4-48D2-A54C-3850FD277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18E9CB7-1BF8-C22C-2607-2EDF036F84FE}"/>
              </a:ext>
            </a:extLst>
          </p:cNvPr>
          <p:cNvGrpSpPr/>
          <p:nvPr/>
        </p:nvGrpSpPr>
        <p:grpSpPr>
          <a:xfrm>
            <a:off x="-240704" y="246620"/>
            <a:ext cx="4464496" cy="734108"/>
            <a:chOff x="-240704" y="246620"/>
            <a:chExt cx="3456384" cy="73410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3ECA2DE-EA9A-0213-7EFA-C95BC1A322A3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7" name="文本占位符 3">
              <a:extLst>
                <a:ext uri="{FF2B5EF4-FFF2-40B4-BE49-F238E27FC236}">
                  <a16:creationId xmlns:a16="http://schemas.microsoft.com/office/drawing/2014/main" id="{3BCB3673-B70B-F410-74A9-699C5B7E6626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项目动机和背景介绍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300C81D1-E405-9CE9-9ADA-6564ED0F7F23}"/>
              </a:ext>
            </a:extLst>
          </p:cNvPr>
          <p:cNvSpPr/>
          <p:nvPr/>
        </p:nvSpPr>
        <p:spPr>
          <a:xfrm>
            <a:off x="733245" y="1100547"/>
            <a:ext cx="10768992" cy="15907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为此，我们需要建设一个统一、高效、可追踪的宿舍报修服务平台：</a:t>
            </a:r>
            <a:endParaRPr lang="en-US" altLang="zh-CN" sz="2400" b="1" dirty="0">
              <a:solidFill>
                <a:schemeClr val="accent6">
                  <a:lumMod val="50000"/>
                </a:schemeClr>
              </a:solidFill>
              <a:ea typeface="微软雅黑 Light" panose="020B0502040204020203" pitchFamily="34" charset="-122"/>
            </a:endParaRPr>
          </a:p>
          <a:p>
            <a:pPr lvl="0" indent="45720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通过信息化手段彻底改善当前高校宿舍维修业务中渠道分散、进度不透明、监管困难的现状。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70D4D5C4-5E49-165A-0095-BC7542D00AB1}"/>
              </a:ext>
            </a:extLst>
          </p:cNvPr>
          <p:cNvSpPr/>
          <p:nvPr/>
        </p:nvSpPr>
        <p:spPr>
          <a:xfrm>
            <a:off x="4007656" y="4551642"/>
            <a:ext cx="628424" cy="6284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0E8D91F-15D7-2A16-D7A4-93A41597CCAB}"/>
              </a:ext>
            </a:extLst>
          </p:cNvPr>
          <p:cNvSpPr txBox="1"/>
          <p:nvPr/>
        </p:nvSpPr>
        <p:spPr>
          <a:xfrm>
            <a:off x="4839362" y="4558247"/>
            <a:ext cx="6264696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管理员：高效审核派单，全面监管数据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926177F3-633B-1A01-2525-B38A8190C084}"/>
              </a:ext>
            </a:extLst>
          </p:cNvPr>
          <p:cNvSpPr/>
          <p:nvPr/>
        </p:nvSpPr>
        <p:spPr>
          <a:xfrm>
            <a:off x="4002019" y="3161554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0AD0847-893E-8777-2AF1-7087E465F1F6}"/>
              </a:ext>
            </a:extLst>
          </p:cNvPr>
          <p:cNvSpPr txBox="1"/>
          <p:nvPr/>
        </p:nvSpPr>
        <p:spPr>
          <a:xfrm>
            <a:off x="4819046" y="3166171"/>
            <a:ext cx="6264696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学生：便捷提交报修，实时跟踪进度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840DAC1-4A44-31D8-72ED-D8F5D26E06B3}"/>
              </a:ext>
            </a:extLst>
          </p:cNvPr>
          <p:cNvSpPr/>
          <p:nvPr/>
        </p:nvSpPr>
        <p:spPr>
          <a:xfrm>
            <a:off x="4002019" y="5830079"/>
            <a:ext cx="628424" cy="62842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7DF2C00-FE3B-98C6-54F1-BFBFAB538C7F}"/>
              </a:ext>
            </a:extLst>
          </p:cNvPr>
          <p:cNvSpPr txBox="1"/>
          <p:nvPr/>
        </p:nvSpPr>
        <p:spPr>
          <a:xfrm>
            <a:off x="4819046" y="5834696"/>
            <a:ext cx="6264696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维修人员：清晰接收任务，规范更新状态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2" name="writing_122117">
            <a:extLst>
              <a:ext uri="{FF2B5EF4-FFF2-40B4-BE49-F238E27FC236}">
                <a16:creationId xmlns:a16="http://schemas.microsoft.com/office/drawing/2014/main" id="{5F46B62C-349D-4240-0BBE-CC2E5869E693}"/>
              </a:ext>
            </a:extLst>
          </p:cNvPr>
          <p:cNvSpPr>
            <a:spLocks noChangeAspect="1"/>
          </p:cNvSpPr>
          <p:nvPr/>
        </p:nvSpPr>
        <p:spPr bwMode="auto">
          <a:xfrm>
            <a:off x="4111410" y="4655716"/>
            <a:ext cx="420916" cy="420276"/>
          </a:xfrm>
          <a:custGeom>
            <a:avLst/>
            <a:gdLst>
              <a:gd name="connsiteX0" fmla="*/ 45797 w 605028"/>
              <a:gd name="connsiteY0" fmla="*/ 445126 h 604110"/>
              <a:gd name="connsiteX1" fmla="*/ 159266 w 605028"/>
              <a:gd name="connsiteY1" fmla="*/ 558313 h 604110"/>
              <a:gd name="connsiteX2" fmla="*/ 0 w 605028"/>
              <a:gd name="connsiteY2" fmla="*/ 604110 h 604110"/>
              <a:gd name="connsiteX3" fmla="*/ 460648 w 605028"/>
              <a:gd name="connsiteY3" fmla="*/ 330740 h 604110"/>
              <a:gd name="connsiteX4" fmla="*/ 504033 w 605028"/>
              <a:gd name="connsiteY4" fmla="*/ 374171 h 604110"/>
              <a:gd name="connsiteX5" fmla="*/ 441749 w 605028"/>
              <a:gd name="connsiteY5" fmla="*/ 436273 h 604110"/>
              <a:gd name="connsiteX6" fmla="*/ 470504 w 605028"/>
              <a:gd name="connsiteY6" fmla="*/ 464990 h 604110"/>
              <a:gd name="connsiteX7" fmla="*/ 532787 w 605028"/>
              <a:gd name="connsiteY7" fmla="*/ 402786 h 604110"/>
              <a:gd name="connsiteX8" fmla="*/ 605028 w 605028"/>
              <a:gd name="connsiteY8" fmla="*/ 474934 h 604110"/>
              <a:gd name="connsiteX9" fmla="*/ 475685 w 605028"/>
              <a:gd name="connsiteY9" fmla="*/ 604110 h 604110"/>
              <a:gd name="connsiteX10" fmla="*/ 331305 w 605028"/>
              <a:gd name="connsiteY10" fmla="*/ 459916 h 604110"/>
              <a:gd name="connsiteX11" fmla="*/ 354026 w 605028"/>
              <a:gd name="connsiteY11" fmla="*/ 121443 h 604110"/>
              <a:gd name="connsiteX12" fmla="*/ 483302 w 605028"/>
              <a:gd name="connsiteY12" fmla="*/ 250578 h 604110"/>
              <a:gd name="connsiteX13" fmla="*/ 195889 w 605028"/>
              <a:gd name="connsiteY13" fmla="*/ 537637 h 604110"/>
              <a:gd name="connsiteX14" fmla="*/ 66543 w 605028"/>
              <a:gd name="connsiteY14" fmla="*/ 408503 h 604110"/>
              <a:gd name="connsiteX15" fmla="*/ 475681 w 605028"/>
              <a:gd name="connsiteY15" fmla="*/ 0 h 604110"/>
              <a:gd name="connsiteX16" fmla="*/ 605028 w 605028"/>
              <a:gd name="connsiteY16" fmla="*/ 129134 h 604110"/>
              <a:gd name="connsiteX17" fmla="*/ 512093 w 605028"/>
              <a:gd name="connsiteY17" fmla="*/ 221857 h 604110"/>
              <a:gd name="connsiteX18" fmla="*/ 382817 w 605028"/>
              <a:gd name="connsiteY18" fmla="*/ 92864 h 604110"/>
              <a:gd name="connsiteX19" fmla="*/ 129376 w 605028"/>
              <a:gd name="connsiteY19" fmla="*/ 0 h 604110"/>
              <a:gd name="connsiteX20" fmla="*/ 201636 w 605028"/>
              <a:gd name="connsiteY20" fmla="*/ 72129 h 604110"/>
              <a:gd name="connsiteX21" fmla="*/ 139336 w 605028"/>
              <a:gd name="connsiteY21" fmla="*/ 134317 h 604110"/>
              <a:gd name="connsiteX22" fmla="*/ 168098 w 605028"/>
              <a:gd name="connsiteY22" fmla="*/ 162925 h 604110"/>
              <a:gd name="connsiteX23" fmla="*/ 230296 w 605028"/>
              <a:gd name="connsiteY23" fmla="*/ 100839 h 604110"/>
              <a:gd name="connsiteX24" fmla="*/ 273794 w 605028"/>
              <a:gd name="connsiteY24" fmla="*/ 144157 h 604110"/>
              <a:gd name="connsiteX25" fmla="*/ 144418 w 605028"/>
              <a:gd name="connsiteY25" fmla="*/ 273300 h 604110"/>
              <a:gd name="connsiteX26" fmla="*/ 0 w 605028"/>
              <a:gd name="connsiteY26" fmla="*/ 129143 h 6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5028" h="604110">
                <a:moveTo>
                  <a:pt x="45797" y="445126"/>
                </a:moveTo>
                <a:lnTo>
                  <a:pt x="159266" y="558313"/>
                </a:lnTo>
                <a:lnTo>
                  <a:pt x="0" y="604110"/>
                </a:lnTo>
                <a:close/>
                <a:moveTo>
                  <a:pt x="460648" y="330740"/>
                </a:moveTo>
                <a:lnTo>
                  <a:pt x="504033" y="374171"/>
                </a:lnTo>
                <a:lnTo>
                  <a:pt x="441749" y="436273"/>
                </a:lnTo>
                <a:lnTo>
                  <a:pt x="470504" y="464990"/>
                </a:lnTo>
                <a:lnTo>
                  <a:pt x="532787" y="402786"/>
                </a:lnTo>
                <a:lnTo>
                  <a:pt x="605028" y="474934"/>
                </a:lnTo>
                <a:lnTo>
                  <a:pt x="475685" y="604110"/>
                </a:lnTo>
                <a:lnTo>
                  <a:pt x="331305" y="459916"/>
                </a:lnTo>
                <a:close/>
                <a:moveTo>
                  <a:pt x="354026" y="121443"/>
                </a:moveTo>
                <a:lnTo>
                  <a:pt x="483302" y="250578"/>
                </a:lnTo>
                <a:lnTo>
                  <a:pt x="195889" y="537637"/>
                </a:lnTo>
                <a:lnTo>
                  <a:pt x="66543" y="408503"/>
                </a:lnTo>
                <a:close/>
                <a:moveTo>
                  <a:pt x="475681" y="0"/>
                </a:moveTo>
                <a:lnTo>
                  <a:pt x="605028" y="129134"/>
                </a:lnTo>
                <a:lnTo>
                  <a:pt x="512093" y="221857"/>
                </a:lnTo>
                <a:lnTo>
                  <a:pt x="382817" y="92864"/>
                </a:lnTo>
                <a:close/>
                <a:moveTo>
                  <a:pt x="129376" y="0"/>
                </a:moveTo>
                <a:lnTo>
                  <a:pt x="201636" y="72129"/>
                </a:lnTo>
                <a:lnTo>
                  <a:pt x="139336" y="134317"/>
                </a:lnTo>
                <a:lnTo>
                  <a:pt x="168098" y="162925"/>
                </a:lnTo>
                <a:lnTo>
                  <a:pt x="230296" y="100839"/>
                </a:lnTo>
                <a:lnTo>
                  <a:pt x="273794" y="144157"/>
                </a:lnTo>
                <a:lnTo>
                  <a:pt x="144418" y="273300"/>
                </a:lnTo>
                <a:lnTo>
                  <a:pt x="0" y="129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5" name="accept_38398">
            <a:extLst>
              <a:ext uri="{FF2B5EF4-FFF2-40B4-BE49-F238E27FC236}">
                <a16:creationId xmlns:a16="http://schemas.microsoft.com/office/drawing/2014/main" id="{2BE7138A-C27F-F09E-76F7-A514E8AA01D1}"/>
              </a:ext>
            </a:extLst>
          </p:cNvPr>
          <p:cNvSpPr>
            <a:spLocks noChangeAspect="1"/>
          </p:cNvSpPr>
          <p:nvPr/>
        </p:nvSpPr>
        <p:spPr bwMode="auto">
          <a:xfrm>
            <a:off x="4080917" y="3235167"/>
            <a:ext cx="470628" cy="442048"/>
          </a:xfrm>
          <a:custGeom>
            <a:avLst/>
            <a:gdLst>
              <a:gd name="connsiteX0" fmla="*/ 543411 w 606580"/>
              <a:gd name="connsiteY0" fmla="*/ 61956 h 569745"/>
              <a:gd name="connsiteX1" fmla="*/ 556798 w 606580"/>
              <a:gd name="connsiteY1" fmla="*/ 67559 h 569745"/>
              <a:gd name="connsiteX2" fmla="*/ 601369 w 606580"/>
              <a:gd name="connsiteY2" fmla="*/ 112060 h 569745"/>
              <a:gd name="connsiteX3" fmla="*/ 606580 w 606580"/>
              <a:gd name="connsiteY3" fmla="*/ 125346 h 569745"/>
              <a:gd name="connsiteX4" fmla="*/ 601369 w 606580"/>
              <a:gd name="connsiteY4" fmla="*/ 138712 h 569745"/>
              <a:gd name="connsiteX5" fmla="*/ 295704 w 606580"/>
              <a:gd name="connsiteY5" fmla="*/ 442134 h 569745"/>
              <a:gd name="connsiteX6" fmla="*/ 281916 w 606580"/>
              <a:gd name="connsiteY6" fmla="*/ 447737 h 569745"/>
              <a:gd name="connsiteX7" fmla="*/ 279671 w 606580"/>
              <a:gd name="connsiteY7" fmla="*/ 447337 h 569745"/>
              <a:gd name="connsiteX8" fmla="*/ 268528 w 606580"/>
              <a:gd name="connsiteY8" fmla="*/ 442134 h 569745"/>
              <a:gd name="connsiteX9" fmla="*/ 117339 w 606580"/>
              <a:gd name="connsiteY9" fmla="*/ 290783 h 569745"/>
              <a:gd name="connsiteX10" fmla="*/ 112128 w 606580"/>
              <a:gd name="connsiteY10" fmla="*/ 277497 h 569745"/>
              <a:gd name="connsiteX11" fmla="*/ 117339 w 606580"/>
              <a:gd name="connsiteY11" fmla="*/ 264451 h 569745"/>
              <a:gd name="connsiteX12" fmla="*/ 162311 w 606580"/>
              <a:gd name="connsiteY12" fmla="*/ 219950 h 569745"/>
              <a:gd name="connsiteX13" fmla="*/ 175297 w 606580"/>
              <a:gd name="connsiteY13" fmla="*/ 214428 h 569745"/>
              <a:gd name="connsiteX14" fmla="*/ 188685 w 606580"/>
              <a:gd name="connsiteY14" fmla="*/ 219950 h 569745"/>
              <a:gd name="connsiteX15" fmla="*/ 282316 w 606580"/>
              <a:gd name="connsiteY15" fmla="*/ 313434 h 569745"/>
              <a:gd name="connsiteX16" fmla="*/ 530023 w 606580"/>
              <a:gd name="connsiteY16" fmla="*/ 67559 h 569745"/>
              <a:gd name="connsiteX17" fmla="*/ 543411 w 606580"/>
              <a:gd name="connsiteY17" fmla="*/ 61956 h 569745"/>
              <a:gd name="connsiteX18" fmla="*/ 285296 w 606580"/>
              <a:gd name="connsiteY18" fmla="*/ 0 h 569745"/>
              <a:gd name="connsiteX19" fmla="*/ 332832 w 606580"/>
              <a:gd name="connsiteY19" fmla="*/ 19690 h 569745"/>
              <a:gd name="connsiteX20" fmla="*/ 431271 w 606580"/>
              <a:gd name="connsiteY20" fmla="*/ 117983 h 569745"/>
              <a:gd name="connsiteX21" fmla="*/ 283452 w 606580"/>
              <a:gd name="connsiteY21" fmla="*/ 265982 h 569745"/>
              <a:gd name="connsiteX22" fmla="*/ 213631 w 606580"/>
              <a:gd name="connsiteY22" fmla="*/ 196265 h 569745"/>
              <a:gd name="connsiteX23" fmla="*/ 176837 w 606580"/>
              <a:gd name="connsiteY23" fmla="*/ 180657 h 569745"/>
              <a:gd name="connsiteX24" fmla="*/ 139642 w 606580"/>
              <a:gd name="connsiteY24" fmla="*/ 195865 h 569745"/>
              <a:gd name="connsiteX25" fmla="*/ 95072 w 606580"/>
              <a:gd name="connsiteY25" fmla="*/ 240769 h 569745"/>
              <a:gd name="connsiteX26" fmla="*/ 79521 w 606580"/>
              <a:gd name="connsiteY26" fmla="*/ 277509 h 569745"/>
              <a:gd name="connsiteX27" fmla="*/ 95072 w 606580"/>
              <a:gd name="connsiteY27" fmla="*/ 314568 h 569745"/>
              <a:gd name="connsiteX28" fmla="*/ 245937 w 606580"/>
              <a:gd name="connsiteY28" fmla="*/ 465930 h 569745"/>
              <a:gd name="connsiteX29" fmla="*/ 270787 w 606580"/>
              <a:gd name="connsiteY29" fmla="*/ 479617 h 569745"/>
              <a:gd name="connsiteX30" fmla="*/ 273031 w 606580"/>
              <a:gd name="connsiteY30" fmla="*/ 481138 h 569745"/>
              <a:gd name="connsiteX31" fmla="*/ 283452 w 606580"/>
              <a:gd name="connsiteY31" fmla="*/ 481138 h 569745"/>
              <a:gd name="connsiteX32" fmla="*/ 320247 w 606580"/>
              <a:gd name="connsiteY32" fmla="*/ 465930 h 569745"/>
              <a:gd name="connsiteX33" fmla="*/ 550151 w 606580"/>
              <a:gd name="connsiteY33" fmla="*/ 236287 h 569745"/>
              <a:gd name="connsiteX34" fmla="*/ 550872 w 606580"/>
              <a:gd name="connsiteY34" fmla="*/ 237407 h 569745"/>
              <a:gd name="connsiteX35" fmla="*/ 570592 w 606580"/>
              <a:gd name="connsiteY35" fmla="*/ 284873 h 569745"/>
              <a:gd name="connsiteX36" fmla="*/ 550872 w 606580"/>
              <a:gd name="connsiteY36" fmla="*/ 332338 h 569745"/>
              <a:gd name="connsiteX37" fmla="*/ 332832 w 606580"/>
              <a:gd name="connsiteY37" fmla="*/ 550135 h 569745"/>
              <a:gd name="connsiteX38" fmla="*/ 285456 w 606580"/>
              <a:gd name="connsiteY38" fmla="*/ 569745 h 569745"/>
              <a:gd name="connsiteX39" fmla="*/ 237760 w 606580"/>
              <a:gd name="connsiteY39" fmla="*/ 550135 h 569745"/>
              <a:gd name="connsiteX40" fmla="*/ 19720 w 606580"/>
              <a:gd name="connsiteY40" fmla="*/ 332338 h 569745"/>
              <a:gd name="connsiteX41" fmla="*/ 0 w 606580"/>
              <a:gd name="connsiteY41" fmla="*/ 284873 h 569745"/>
              <a:gd name="connsiteX42" fmla="*/ 19720 w 606580"/>
              <a:gd name="connsiteY42" fmla="*/ 237407 h 569745"/>
              <a:gd name="connsiteX43" fmla="*/ 237760 w 606580"/>
              <a:gd name="connsiteY43" fmla="*/ 19690 h 569745"/>
              <a:gd name="connsiteX44" fmla="*/ 285296 w 606580"/>
              <a:gd name="connsiteY44" fmla="*/ 0 h 569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06580" h="569745">
                <a:moveTo>
                  <a:pt x="543411" y="61956"/>
                </a:moveTo>
                <a:cubicBezTo>
                  <a:pt x="548621" y="61956"/>
                  <a:pt x="553030" y="63797"/>
                  <a:pt x="556798" y="67559"/>
                </a:cubicBezTo>
                <a:lnTo>
                  <a:pt x="601369" y="112060"/>
                </a:lnTo>
                <a:cubicBezTo>
                  <a:pt x="604816" y="115741"/>
                  <a:pt x="606580" y="120223"/>
                  <a:pt x="606580" y="125346"/>
                </a:cubicBezTo>
                <a:cubicBezTo>
                  <a:pt x="606580" y="130548"/>
                  <a:pt x="604816" y="135030"/>
                  <a:pt x="601369" y="138712"/>
                </a:cubicBezTo>
                <a:lnTo>
                  <a:pt x="295704" y="442134"/>
                </a:lnTo>
                <a:cubicBezTo>
                  <a:pt x="291455" y="445896"/>
                  <a:pt x="286886" y="447737"/>
                  <a:pt x="281916" y="447737"/>
                </a:cubicBezTo>
                <a:cubicBezTo>
                  <a:pt x="280954" y="447737"/>
                  <a:pt x="280232" y="447577"/>
                  <a:pt x="279671" y="447337"/>
                </a:cubicBezTo>
                <a:cubicBezTo>
                  <a:pt x="275262" y="446857"/>
                  <a:pt x="271494" y="445096"/>
                  <a:pt x="268528" y="442134"/>
                </a:cubicBezTo>
                <a:lnTo>
                  <a:pt x="117339" y="290783"/>
                </a:lnTo>
                <a:cubicBezTo>
                  <a:pt x="113892" y="287102"/>
                  <a:pt x="112128" y="282700"/>
                  <a:pt x="112128" y="277497"/>
                </a:cubicBezTo>
                <a:cubicBezTo>
                  <a:pt x="112128" y="272295"/>
                  <a:pt x="113892" y="267973"/>
                  <a:pt x="117339" y="264451"/>
                </a:cubicBezTo>
                <a:lnTo>
                  <a:pt x="162311" y="219950"/>
                </a:lnTo>
                <a:cubicBezTo>
                  <a:pt x="165517" y="216268"/>
                  <a:pt x="169846" y="214428"/>
                  <a:pt x="175297" y="214428"/>
                </a:cubicBezTo>
                <a:cubicBezTo>
                  <a:pt x="180748" y="214428"/>
                  <a:pt x="185238" y="216268"/>
                  <a:pt x="188685" y="219950"/>
                </a:cubicBezTo>
                <a:lnTo>
                  <a:pt x="282316" y="313434"/>
                </a:lnTo>
                <a:lnTo>
                  <a:pt x="530023" y="67559"/>
                </a:lnTo>
                <a:cubicBezTo>
                  <a:pt x="533711" y="63797"/>
                  <a:pt x="538200" y="61956"/>
                  <a:pt x="543411" y="61956"/>
                </a:cubicBezTo>
                <a:close/>
                <a:moveTo>
                  <a:pt x="285296" y="0"/>
                </a:moveTo>
                <a:cubicBezTo>
                  <a:pt x="303894" y="0"/>
                  <a:pt x="319685" y="6563"/>
                  <a:pt x="332832" y="19690"/>
                </a:cubicBezTo>
                <a:lnTo>
                  <a:pt x="431271" y="117983"/>
                </a:lnTo>
                <a:lnTo>
                  <a:pt x="283452" y="265982"/>
                </a:lnTo>
                <a:lnTo>
                  <a:pt x="213631" y="196265"/>
                </a:lnTo>
                <a:cubicBezTo>
                  <a:pt x="203210" y="185860"/>
                  <a:pt x="190946" y="180657"/>
                  <a:pt x="176837" y="180657"/>
                </a:cubicBezTo>
                <a:cubicBezTo>
                  <a:pt x="162248" y="180657"/>
                  <a:pt x="149822" y="185780"/>
                  <a:pt x="139642" y="195865"/>
                </a:cubicBezTo>
                <a:lnTo>
                  <a:pt x="95072" y="240769"/>
                </a:lnTo>
                <a:cubicBezTo>
                  <a:pt x="84731" y="250694"/>
                  <a:pt x="79521" y="262861"/>
                  <a:pt x="79521" y="277509"/>
                </a:cubicBezTo>
                <a:cubicBezTo>
                  <a:pt x="79521" y="291836"/>
                  <a:pt x="84731" y="304163"/>
                  <a:pt x="95072" y="314568"/>
                </a:cubicBezTo>
                <a:lnTo>
                  <a:pt x="245937" y="465930"/>
                </a:lnTo>
                <a:cubicBezTo>
                  <a:pt x="253311" y="472813"/>
                  <a:pt x="261648" y="477376"/>
                  <a:pt x="270787" y="479617"/>
                </a:cubicBezTo>
                <a:lnTo>
                  <a:pt x="273031" y="481138"/>
                </a:lnTo>
                <a:lnTo>
                  <a:pt x="283452" y="481138"/>
                </a:lnTo>
                <a:cubicBezTo>
                  <a:pt x="298282" y="481138"/>
                  <a:pt x="310547" y="476015"/>
                  <a:pt x="320247" y="465930"/>
                </a:cubicBezTo>
                <a:lnTo>
                  <a:pt x="550151" y="236287"/>
                </a:lnTo>
                <a:lnTo>
                  <a:pt x="550872" y="237407"/>
                </a:lnTo>
                <a:cubicBezTo>
                  <a:pt x="564019" y="250534"/>
                  <a:pt x="570592" y="266303"/>
                  <a:pt x="570592" y="284873"/>
                </a:cubicBezTo>
                <a:cubicBezTo>
                  <a:pt x="570592" y="303443"/>
                  <a:pt x="564019" y="319291"/>
                  <a:pt x="550872" y="332338"/>
                </a:cubicBezTo>
                <a:lnTo>
                  <a:pt x="332832" y="550135"/>
                </a:lnTo>
                <a:cubicBezTo>
                  <a:pt x="319926" y="563182"/>
                  <a:pt x="304134" y="569745"/>
                  <a:pt x="285456" y="569745"/>
                </a:cubicBezTo>
                <a:cubicBezTo>
                  <a:pt x="266779" y="569745"/>
                  <a:pt x="250826" y="563182"/>
                  <a:pt x="237760" y="550135"/>
                </a:cubicBezTo>
                <a:lnTo>
                  <a:pt x="19720" y="332338"/>
                </a:lnTo>
                <a:cubicBezTo>
                  <a:pt x="6573" y="319291"/>
                  <a:pt x="0" y="303443"/>
                  <a:pt x="0" y="284873"/>
                </a:cubicBezTo>
                <a:cubicBezTo>
                  <a:pt x="0" y="266383"/>
                  <a:pt x="6573" y="250534"/>
                  <a:pt x="19720" y="237407"/>
                </a:cubicBezTo>
                <a:lnTo>
                  <a:pt x="237760" y="19690"/>
                </a:lnTo>
                <a:cubicBezTo>
                  <a:pt x="250907" y="6563"/>
                  <a:pt x="266698" y="0"/>
                  <a:pt x="2852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6" name="intelligence_66143">
            <a:extLst>
              <a:ext uri="{FF2B5EF4-FFF2-40B4-BE49-F238E27FC236}">
                <a16:creationId xmlns:a16="http://schemas.microsoft.com/office/drawing/2014/main" id="{D9A2B600-CCF7-67F7-D7BE-7E322887BA75}"/>
              </a:ext>
            </a:extLst>
          </p:cNvPr>
          <p:cNvSpPr>
            <a:spLocks noChangeAspect="1"/>
          </p:cNvSpPr>
          <p:nvPr/>
        </p:nvSpPr>
        <p:spPr bwMode="auto">
          <a:xfrm>
            <a:off x="4157903" y="5958869"/>
            <a:ext cx="316656" cy="370844"/>
          </a:xfrm>
          <a:custGeom>
            <a:avLst/>
            <a:gdLst>
              <a:gd name="connsiteX0" fmla="*/ 220247 w 519074"/>
              <a:gd name="connsiteY0" fmla="*/ 135608 h 607902"/>
              <a:gd name="connsiteX1" fmla="*/ 265974 w 519074"/>
              <a:gd name="connsiteY1" fmla="*/ 181264 h 607902"/>
              <a:gd name="connsiteX2" fmla="*/ 220247 w 519074"/>
              <a:gd name="connsiteY2" fmla="*/ 226920 h 607902"/>
              <a:gd name="connsiteX3" fmla="*/ 174521 w 519074"/>
              <a:gd name="connsiteY3" fmla="*/ 181264 h 607902"/>
              <a:gd name="connsiteX4" fmla="*/ 220247 w 519074"/>
              <a:gd name="connsiteY4" fmla="*/ 135608 h 607902"/>
              <a:gd name="connsiteX5" fmla="*/ 212236 w 519074"/>
              <a:gd name="connsiteY5" fmla="*/ 59615 h 607902"/>
              <a:gd name="connsiteX6" fmla="*/ 202277 w 519074"/>
              <a:gd name="connsiteY6" fmla="*/ 66210 h 607902"/>
              <a:gd name="connsiteX7" fmla="*/ 191760 w 519074"/>
              <a:gd name="connsiteY7" fmla="*/ 91321 h 607902"/>
              <a:gd name="connsiteX8" fmla="*/ 185714 w 519074"/>
              <a:gd name="connsiteY8" fmla="*/ 97206 h 607902"/>
              <a:gd name="connsiteX9" fmla="*/ 185054 w 519074"/>
              <a:gd name="connsiteY9" fmla="*/ 97459 h 607902"/>
              <a:gd name="connsiteX10" fmla="*/ 176924 w 519074"/>
              <a:gd name="connsiteY10" fmla="*/ 97459 h 607902"/>
              <a:gd name="connsiteX11" fmla="*/ 151521 w 519074"/>
              <a:gd name="connsiteY11" fmla="*/ 87263 h 607902"/>
              <a:gd name="connsiteX12" fmla="*/ 139886 w 519074"/>
              <a:gd name="connsiteY12" fmla="*/ 89647 h 607902"/>
              <a:gd name="connsiteX13" fmla="*/ 128403 w 519074"/>
              <a:gd name="connsiteY13" fmla="*/ 101061 h 607902"/>
              <a:gd name="connsiteX14" fmla="*/ 126066 w 519074"/>
              <a:gd name="connsiteY14" fmla="*/ 112780 h 607902"/>
              <a:gd name="connsiteX15" fmla="*/ 136329 w 519074"/>
              <a:gd name="connsiteY15" fmla="*/ 137739 h 607902"/>
              <a:gd name="connsiteX16" fmla="*/ 136329 w 519074"/>
              <a:gd name="connsiteY16" fmla="*/ 145906 h 607902"/>
              <a:gd name="connsiteX17" fmla="*/ 136024 w 519074"/>
              <a:gd name="connsiteY17" fmla="*/ 146870 h 607902"/>
              <a:gd name="connsiteX18" fmla="*/ 130181 w 519074"/>
              <a:gd name="connsiteY18" fmla="*/ 152806 h 607902"/>
              <a:gd name="connsiteX19" fmla="*/ 105133 w 519074"/>
              <a:gd name="connsiteY19" fmla="*/ 163510 h 607902"/>
              <a:gd name="connsiteX20" fmla="*/ 98528 w 519074"/>
              <a:gd name="connsiteY20" fmla="*/ 173351 h 607902"/>
              <a:gd name="connsiteX21" fmla="*/ 98528 w 519074"/>
              <a:gd name="connsiteY21" fmla="*/ 173402 h 607902"/>
              <a:gd name="connsiteX22" fmla="*/ 98630 w 519074"/>
              <a:gd name="connsiteY22" fmla="*/ 173402 h 607902"/>
              <a:gd name="connsiteX23" fmla="*/ 98630 w 519074"/>
              <a:gd name="connsiteY23" fmla="*/ 189534 h 607902"/>
              <a:gd name="connsiteX24" fmla="*/ 105235 w 519074"/>
              <a:gd name="connsiteY24" fmla="*/ 199477 h 607902"/>
              <a:gd name="connsiteX25" fmla="*/ 130181 w 519074"/>
              <a:gd name="connsiteY25" fmla="*/ 209826 h 607902"/>
              <a:gd name="connsiteX26" fmla="*/ 136075 w 519074"/>
              <a:gd name="connsiteY26" fmla="*/ 215812 h 607902"/>
              <a:gd name="connsiteX27" fmla="*/ 136482 w 519074"/>
              <a:gd name="connsiteY27" fmla="*/ 216725 h 607902"/>
              <a:gd name="connsiteX28" fmla="*/ 136532 w 519074"/>
              <a:gd name="connsiteY28" fmla="*/ 224943 h 607902"/>
              <a:gd name="connsiteX29" fmla="*/ 126371 w 519074"/>
              <a:gd name="connsiteY29" fmla="*/ 250156 h 607902"/>
              <a:gd name="connsiteX30" fmla="*/ 128759 w 519074"/>
              <a:gd name="connsiteY30" fmla="*/ 261773 h 607902"/>
              <a:gd name="connsiteX31" fmla="*/ 140191 w 519074"/>
              <a:gd name="connsiteY31" fmla="*/ 273238 h 607902"/>
              <a:gd name="connsiteX32" fmla="*/ 151927 w 519074"/>
              <a:gd name="connsiteY32" fmla="*/ 275572 h 607902"/>
              <a:gd name="connsiteX33" fmla="*/ 177077 w 519074"/>
              <a:gd name="connsiteY33" fmla="*/ 265223 h 607902"/>
              <a:gd name="connsiteX34" fmla="*/ 185206 w 519074"/>
              <a:gd name="connsiteY34" fmla="*/ 265223 h 607902"/>
              <a:gd name="connsiteX35" fmla="*/ 185867 w 519074"/>
              <a:gd name="connsiteY35" fmla="*/ 265476 h 607902"/>
              <a:gd name="connsiteX36" fmla="*/ 191964 w 519074"/>
              <a:gd name="connsiteY36" fmla="*/ 271310 h 607902"/>
              <a:gd name="connsiteX37" fmla="*/ 202735 w 519074"/>
              <a:gd name="connsiteY37" fmla="*/ 296472 h 607902"/>
              <a:gd name="connsiteX38" fmla="*/ 212642 w 519074"/>
              <a:gd name="connsiteY38" fmla="*/ 303016 h 607902"/>
              <a:gd name="connsiteX39" fmla="*/ 228799 w 519074"/>
              <a:gd name="connsiteY39" fmla="*/ 303016 h 607902"/>
              <a:gd name="connsiteX40" fmla="*/ 238757 w 519074"/>
              <a:gd name="connsiteY40" fmla="*/ 296421 h 607902"/>
              <a:gd name="connsiteX41" fmla="*/ 249224 w 519074"/>
              <a:gd name="connsiteY41" fmla="*/ 271057 h 607902"/>
              <a:gd name="connsiteX42" fmla="*/ 255117 w 519074"/>
              <a:gd name="connsiteY42" fmla="*/ 265223 h 607902"/>
              <a:gd name="connsiteX43" fmla="*/ 255575 w 519074"/>
              <a:gd name="connsiteY43" fmla="*/ 265020 h 607902"/>
              <a:gd name="connsiteX44" fmla="*/ 263704 w 519074"/>
              <a:gd name="connsiteY44" fmla="*/ 264969 h 607902"/>
              <a:gd name="connsiteX45" fmla="*/ 289463 w 519074"/>
              <a:gd name="connsiteY45" fmla="*/ 275216 h 607902"/>
              <a:gd name="connsiteX46" fmla="*/ 301098 w 519074"/>
              <a:gd name="connsiteY46" fmla="*/ 272883 h 607902"/>
              <a:gd name="connsiteX47" fmla="*/ 312530 w 519074"/>
              <a:gd name="connsiteY47" fmla="*/ 261418 h 607902"/>
              <a:gd name="connsiteX48" fmla="*/ 314918 w 519074"/>
              <a:gd name="connsiteY48" fmla="*/ 249750 h 607902"/>
              <a:gd name="connsiteX49" fmla="*/ 304350 w 519074"/>
              <a:gd name="connsiteY49" fmla="*/ 224284 h 607902"/>
              <a:gd name="connsiteX50" fmla="*/ 304299 w 519074"/>
              <a:gd name="connsiteY50" fmla="*/ 216268 h 607902"/>
              <a:gd name="connsiteX51" fmla="*/ 304401 w 519074"/>
              <a:gd name="connsiteY51" fmla="*/ 215913 h 607902"/>
              <a:gd name="connsiteX52" fmla="*/ 310244 w 519074"/>
              <a:gd name="connsiteY52" fmla="*/ 209978 h 607902"/>
              <a:gd name="connsiteX53" fmla="*/ 335851 w 519074"/>
              <a:gd name="connsiteY53" fmla="*/ 199071 h 607902"/>
              <a:gd name="connsiteX54" fmla="*/ 342405 w 519074"/>
              <a:gd name="connsiteY54" fmla="*/ 189179 h 607902"/>
              <a:gd name="connsiteX55" fmla="*/ 342405 w 519074"/>
              <a:gd name="connsiteY55" fmla="*/ 173047 h 607902"/>
              <a:gd name="connsiteX56" fmla="*/ 335800 w 519074"/>
              <a:gd name="connsiteY56" fmla="*/ 163104 h 607902"/>
              <a:gd name="connsiteX57" fmla="*/ 310295 w 519074"/>
              <a:gd name="connsiteY57" fmla="*/ 152450 h 607902"/>
              <a:gd name="connsiteX58" fmla="*/ 304401 w 519074"/>
              <a:gd name="connsiteY58" fmla="*/ 146464 h 607902"/>
              <a:gd name="connsiteX59" fmla="*/ 304350 w 519074"/>
              <a:gd name="connsiteY59" fmla="*/ 146261 h 607902"/>
              <a:gd name="connsiteX60" fmla="*/ 304248 w 519074"/>
              <a:gd name="connsiteY60" fmla="*/ 138145 h 607902"/>
              <a:gd name="connsiteX61" fmla="*/ 314562 w 519074"/>
              <a:gd name="connsiteY61" fmla="*/ 112425 h 607902"/>
              <a:gd name="connsiteX62" fmla="*/ 312174 w 519074"/>
              <a:gd name="connsiteY62" fmla="*/ 100808 h 607902"/>
              <a:gd name="connsiteX63" fmla="*/ 300743 w 519074"/>
              <a:gd name="connsiteY63" fmla="*/ 89343 h 607902"/>
              <a:gd name="connsiteX64" fmla="*/ 289006 w 519074"/>
              <a:gd name="connsiteY64" fmla="*/ 87009 h 607902"/>
              <a:gd name="connsiteX65" fmla="*/ 263704 w 519074"/>
              <a:gd name="connsiteY65" fmla="*/ 97409 h 607902"/>
              <a:gd name="connsiteX66" fmla="*/ 255422 w 519074"/>
              <a:gd name="connsiteY66" fmla="*/ 97409 h 607902"/>
              <a:gd name="connsiteX67" fmla="*/ 255016 w 519074"/>
              <a:gd name="connsiteY67" fmla="*/ 97257 h 607902"/>
              <a:gd name="connsiteX68" fmla="*/ 249122 w 519074"/>
              <a:gd name="connsiteY68" fmla="*/ 91524 h 607902"/>
              <a:gd name="connsiteX69" fmla="*/ 238300 w 519074"/>
              <a:gd name="connsiteY69" fmla="*/ 66159 h 607902"/>
              <a:gd name="connsiteX70" fmla="*/ 228393 w 519074"/>
              <a:gd name="connsiteY70" fmla="*/ 59615 h 607902"/>
              <a:gd name="connsiteX71" fmla="*/ 227935 w 519074"/>
              <a:gd name="connsiteY71" fmla="*/ 8 h 607902"/>
              <a:gd name="connsiteX72" fmla="*/ 459669 w 519074"/>
              <a:gd name="connsiteY72" fmla="*/ 229458 h 607902"/>
              <a:gd name="connsiteX73" fmla="*/ 474099 w 519074"/>
              <a:gd name="connsiteY73" fmla="*/ 287341 h 607902"/>
              <a:gd name="connsiteX74" fmla="*/ 516625 w 519074"/>
              <a:gd name="connsiteY74" fmla="*/ 367443 h 607902"/>
              <a:gd name="connsiteX75" fmla="*/ 498689 w 519074"/>
              <a:gd name="connsiteY75" fmla="*/ 397779 h 607902"/>
              <a:gd name="connsiteX76" fmla="*/ 459720 w 519074"/>
              <a:gd name="connsiteY76" fmla="*/ 398540 h 607902"/>
              <a:gd name="connsiteX77" fmla="*/ 459720 w 519074"/>
              <a:gd name="connsiteY77" fmla="*/ 483107 h 607902"/>
              <a:gd name="connsiteX78" fmla="*/ 411402 w 519074"/>
              <a:gd name="connsiteY78" fmla="*/ 531402 h 607902"/>
              <a:gd name="connsiteX79" fmla="*/ 344844 w 519074"/>
              <a:gd name="connsiteY79" fmla="*/ 531402 h 607902"/>
              <a:gd name="connsiteX80" fmla="*/ 344844 w 519074"/>
              <a:gd name="connsiteY80" fmla="*/ 590958 h 607902"/>
              <a:gd name="connsiteX81" fmla="*/ 327925 w 519074"/>
              <a:gd name="connsiteY81" fmla="*/ 607902 h 607902"/>
              <a:gd name="connsiteX82" fmla="*/ 89688 w 519074"/>
              <a:gd name="connsiteY82" fmla="*/ 607902 h 607902"/>
              <a:gd name="connsiteX83" fmla="*/ 72718 w 519074"/>
              <a:gd name="connsiteY83" fmla="*/ 590958 h 607902"/>
              <a:gd name="connsiteX84" fmla="*/ 72718 w 519074"/>
              <a:gd name="connsiteY84" fmla="*/ 529829 h 607902"/>
              <a:gd name="connsiteX85" fmla="*/ 25111 w 519074"/>
              <a:gd name="connsiteY85" fmla="*/ 333657 h 607902"/>
              <a:gd name="connsiteX86" fmla="*/ 12 w 519074"/>
              <a:gd name="connsiteY86" fmla="*/ 231792 h 607902"/>
              <a:gd name="connsiteX87" fmla="*/ 227935 w 519074"/>
              <a:gd name="connsiteY87" fmla="*/ 8 h 60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19074" h="607902">
                <a:moveTo>
                  <a:pt x="220247" y="135608"/>
                </a:moveTo>
                <a:cubicBezTo>
                  <a:pt x="245549" y="135608"/>
                  <a:pt x="265974" y="156052"/>
                  <a:pt x="265974" y="181264"/>
                </a:cubicBezTo>
                <a:cubicBezTo>
                  <a:pt x="265974" y="206527"/>
                  <a:pt x="245499" y="226920"/>
                  <a:pt x="220247" y="226920"/>
                </a:cubicBezTo>
                <a:cubicBezTo>
                  <a:pt x="194996" y="226920"/>
                  <a:pt x="174521" y="206426"/>
                  <a:pt x="174521" y="181264"/>
                </a:cubicBezTo>
                <a:cubicBezTo>
                  <a:pt x="174521" y="156052"/>
                  <a:pt x="194996" y="135608"/>
                  <a:pt x="220247" y="135608"/>
                </a:cubicBezTo>
                <a:close/>
                <a:moveTo>
                  <a:pt x="212236" y="59615"/>
                </a:moveTo>
                <a:cubicBezTo>
                  <a:pt x="207866" y="59615"/>
                  <a:pt x="203954" y="62253"/>
                  <a:pt x="202277" y="66210"/>
                </a:cubicBezTo>
                <a:lnTo>
                  <a:pt x="191760" y="91321"/>
                </a:lnTo>
                <a:cubicBezTo>
                  <a:pt x="190592" y="94010"/>
                  <a:pt x="188458" y="96140"/>
                  <a:pt x="185714" y="97206"/>
                </a:cubicBezTo>
                <a:cubicBezTo>
                  <a:pt x="185511" y="97257"/>
                  <a:pt x="185257" y="97409"/>
                  <a:pt x="185054" y="97459"/>
                </a:cubicBezTo>
                <a:cubicBezTo>
                  <a:pt x="182412" y="98474"/>
                  <a:pt x="179516" y="98474"/>
                  <a:pt x="176924" y="97459"/>
                </a:cubicBezTo>
                <a:lnTo>
                  <a:pt x="151521" y="87263"/>
                </a:lnTo>
                <a:cubicBezTo>
                  <a:pt x="147507" y="85639"/>
                  <a:pt x="142934" y="86603"/>
                  <a:pt x="139886" y="89647"/>
                </a:cubicBezTo>
                <a:lnTo>
                  <a:pt x="128403" y="101061"/>
                </a:lnTo>
                <a:cubicBezTo>
                  <a:pt x="125304" y="104105"/>
                  <a:pt x="124440" y="108772"/>
                  <a:pt x="126066" y="112780"/>
                </a:cubicBezTo>
                <a:lnTo>
                  <a:pt x="136329" y="137739"/>
                </a:lnTo>
                <a:cubicBezTo>
                  <a:pt x="137447" y="140377"/>
                  <a:pt x="137447" y="143268"/>
                  <a:pt x="136329" y="145906"/>
                </a:cubicBezTo>
                <a:cubicBezTo>
                  <a:pt x="136278" y="146261"/>
                  <a:pt x="136126" y="146515"/>
                  <a:pt x="136024" y="146870"/>
                </a:cubicBezTo>
                <a:cubicBezTo>
                  <a:pt x="134907" y="149508"/>
                  <a:pt x="132823" y="151639"/>
                  <a:pt x="130181" y="152806"/>
                </a:cubicBezTo>
                <a:lnTo>
                  <a:pt x="105133" y="163510"/>
                </a:lnTo>
                <a:cubicBezTo>
                  <a:pt x="101119" y="165184"/>
                  <a:pt x="98528" y="169039"/>
                  <a:pt x="98528" y="173351"/>
                </a:cubicBezTo>
                <a:lnTo>
                  <a:pt x="98528" y="173402"/>
                </a:lnTo>
                <a:lnTo>
                  <a:pt x="98630" y="173402"/>
                </a:lnTo>
                <a:lnTo>
                  <a:pt x="98630" y="189534"/>
                </a:lnTo>
                <a:cubicBezTo>
                  <a:pt x="98630" y="193897"/>
                  <a:pt x="101272" y="197803"/>
                  <a:pt x="105235" y="199477"/>
                </a:cubicBezTo>
                <a:lnTo>
                  <a:pt x="130181" y="209826"/>
                </a:lnTo>
                <a:cubicBezTo>
                  <a:pt x="132874" y="210942"/>
                  <a:pt x="135008" y="213073"/>
                  <a:pt x="136075" y="215812"/>
                </a:cubicBezTo>
                <a:cubicBezTo>
                  <a:pt x="136228" y="216116"/>
                  <a:pt x="136329" y="216421"/>
                  <a:pt x="136482" y="216725"/>
                </a:cubicBezTo>
                <a:cubicBezTo>
                  <a:pt x="137549" y="219363"/>
                  <a:pt x="137650" y="222305"/>
                  <a:pt x="136532" y="224943"/>
                </a:cubicBezTo>
                <a:lnTo>
                  <a:pt x="126371" y="250156"/>
                </a:lnTo>
                <a:cubicBezTo>
                  <a:pt x="124745" y="254164"/>
                  <a:pt x="125710" y="258729"/>
                  <a:pt x="128759" y="261773"/>
                </a:cubicBezTo>
                <a:lnTo>
                  <a:pt x="140191" y="273238"/>
                </a:lnTo>
                <a:cubicBezTo>
                  <a:pt x="143239" y="276332"/>
                  <a:pt x="147913" y="277195"/>
                  <a:pt x="151927" y="275572"/>
                </a:cubicBezTo>
                <a:lnTo>
                  <a:pt x="177077" y="265223"/>
                </a:lnTo>
                <a:cubicBezTo>
                  <a:pt x="179617" y="264208"/>
                  <a:pt x="182564" y="264208"/>
                  <a:pt x="185206" y="265223"/>
                </a:cubicBezTo>
                <a:cubicBezTo>
                  <a:pt x="185409" y="265273"/>
                  <a:pt x="185663" y="265426"/>
                  <a:pt x="185867" y="265476"/>
                </a:cubicBezTo>
                <a:cubicBezTo>
                  <a:pt x="188559" y="266491"/>
                  <a:pt x="190795" y="268622"/>
                  <a:pt x="191964" y="271310"/>
                </a:cubicBezTo>
                <a:lnTo>
                  <a:pt x="202735" y="296472"/>
                </a:lnTo>
                <a:cubicBezTo>
                  <a:pt x="204411" y="300480"/>
                  <a:pt x="208273" y="303016"/>
                  <a:pt x="212642" y="303016"/>
                </a:cubicBezTo>
                <a:lnTo>
                  <a:pt x="228799" y="303016"/>
                </a:lnTo>
                <a:cubicBezTo>
                  <a:pt x="233169" y="303016"/>
                  <a:pt x="237081" y="300378"/>
                  <a:pt x="238757" y="296421"/>
                </a:cubicBezTo>
                <a:lnTo>
                  <a:pt x="249224" y="271057"/>
                </a:lnTo>
                <a:cubicBezTo>
                  <a:pt x="250342" y="268419"/>
                  <a:pt x="252475" y="266288"/>
                  <a:pt x="255117" y="265223"/>
                </a:cubicBezTo>
                <a:cubicBezTo>
                  <a:pt x="255219" y="265172"/>
                  <a:pt x="255422" y="265070"/>
                  <a:pt x="255575" y="265020"/>
                </a:cubicBezTo>
                <a:cubicBezTo>
                  <a:pt x="258217" y="263954"/>
                  <a:pt x="261113" y="263954"/>
                  <a:pt x="263704" y="264969"/>
                </a:cubicBezTo>
                <a:lnTo>
                  <a:pt x="289463" y="275216"/>
                </a:lnTo>
                <a:cubicBezTo>
                  <a:pt x="293426" y="276840"/>
                  <a:pt x="298050" y="275927"/>
                  <a:pt x="301098" y="272883"/>
                </a:cubicBezTo>
                <a:lnTo>
                  <a:pt x="312530" y="261418"/>
                </a:lnTo>
                <a:cubicBezTo>
                  <a:pt x="315680" y="258374"/>
                  <a:pt x="316595" y="253707"/>
                  <a:pt x="314918" y="249750"/>
                </a:cubicBezTo>
                <a:lnTo>
                  <a:pt x="304350" y="224284"/>
                </a:lnTo>
                <a:cubicBezTo>
                  <a:pt x="303283" y="221747"/>
                  <a:pt x="303283" y="218805"/>
                  <a:pt x="304299" y="216268"/>
                </a:cubicBezTo>
                <a:lnTo>
                  <a:pt x="304401" y="215913"/>
                </a:lnTo>
                <a:cubicBezTo>
                  <a:pt x="305519" y="213225"/>
                  <a:pt x="307602" y="211094"/>
                  <a:pt x="310244" y="209978"/>
                </a:cubicBezTo>
                <a:lnTo>
                  <a:pt x="335851" y="199071"/>
                </a:lnTo>
                <a:cubicBezTo>
                  <a:pt x="339865" y="197397"/>
                  <a:pt x="342405" y="193542"/>
                  <a:pt x="342405" y="189179"/>
                </a:cubicBezTo>
                <a:lnTo>
                  <a:pt x="342405" y="173047"/>
                </a:lnTo>
                <a:cubicBezTo>
                  <a:pt x="342405" y="168684"/>
                  <a:pt x="339763" y="164778"/>
                  <a:pt x="335800" y="163104"/>
                </a:cubicBezTo>
                <a:lnTo>
                  <a:pt x="310295" y="152450"/>
                </a:lnTo>
                <a:cubicBezTo>
                  <a:pt x="307602" y="151334"/>
                  <a:pt x="305519" y="149153"/>
                  <a:pt x="304401" y="146464"/>
                </a:cubicBezTo>
                <a:cubicBezTo>
                  <a:pt x="304401" y="146363"/>
                  <a:pt x="304350" y="146312"/>
                  <a:pt x="304350" y="146261"/>
                </a:cubicBezTo>
                <a:cubicBezTo>
                  <a:pt x="303232" y="143674"/>
                  <a:pt x="303232" y="140783"/>
                  <a:pt x="304248" y="138145"/>
                </a:cubicBezTo>
                <a:lnTo>
                  <a:pt x="314562" y="112425"/>
                </a:lnTo>
                <a:cubicBezTo>
                  <a:pt x="316188" y="108417"/>
                  <a:pt x="315223" y="103851"/>
                  <a:pt x="312174" y="100808"/>
                </a:cubicBezTo>
                <a:lnTo>
                  <a:pt x="300743" y="89343"/>
                </a:lnTo>
                <a:cubicBezTo>
                  <a:pt x="297694" y="86248"/>
                  <a:pt x="293020" y="85386"/>
                  <a:pt x="289006" y="87009"/>
                </a:cubicBezTo>
                <a:lnTo>
                  <a:pt x="263704" y="97409"/>
                </a:lnTo>
                <a:cubicBezTo>
                  <a:pt x="261062" y="98575"/>
                  <a:pt x="258064" y="98474"/>
                  <a:pt x="255422" y="97409"/>
                </a:cubicBezTo>
                <a:cubicBezTo>
                  <a:pt x="255270" y="97409"/>
                  <a:pt x="255168" y="97358"/>
                  <a:pt x="255016" y="97257"/>
                </a:cubicBezTo>
                <a:cubicBezTo>
                  <a:pt x="252374" y="96191"/>
                  <a:pt x="250291" y="94162"/>
                  <a:pt x="249122" y="91524"/>
                </a:cubicBezTo>
                <a:lnTo>
                  <a:pt x="238300" y="66159"/>
                </a:lnTo>
                <a:cubicBezTo>
                  <a:pt x="236623" y="62152"/>
                  <a:pt x="232711" y="59615"/>
                  <a:pt x="228393" y="59615"/>
                </a:cubicBezTo>
                <a:close/>
                <a:moveTo>
                  <a:pt x="227935" y="8"/>
                </a:moveTo>
                <a:cubicBezTo>
                  <a:pt x="355767" y="-1007"/>
                  <a:pt x="459669" y="102076"/>
                  <a:pt x="459669" y="229458"/>
                </a:cubicBezTo>
                <a:cubicBezTo>
                  <a:pt x="459669" y="249598"/>
                  <a:pt x="464597" y="269484"/>
                  <a:pt x="474099" y="287341"/>
                </a:cubicBezTo>
                <a:lnTo>
                  <a:pt x="516625" y="367443"/>
                </a:lnTo>
                <a:cubicBezTo>
                  <a:pt x="523890" y="381039"/>
                  <a:pt x="514135" y="397526"/>
                  <a:pt x="498689" y="397779"/>
                </a:cubicBezTo>
                <a:lnTo>
                  <a:pt x="459720" y="398540"/>
                </a:lnTo>
                <a:lnTo>
                  <a:pt x="459720" y="483107"/>
                </a:lnTo>
                <a:cubicBezTo>
                  <a:pt x="459720" y="509689"/>
                  <a:pt x="438025" y="531402"/>
                  <a:pt x="411402" y="531402"/>
                </a:cubicBezTo>
                <a:lnTo>
                  <a:pt x="344844" y="531402"/>
                </a:lnTo>
                <a:lnTo>
                  <a:pt x="344844" y="590958"/>
                </a:lnTo>
                <a:cubicBezTo>
                  <a:pt x="344844" y="600293"/>
                  <a:pt x="337273" y="607902"/>
                  <a:pt x="327925" y="607902"/>
                </a:cubicBezTo>
                <a:lnTo>
                  <a:pt x="89688" y="607902"/>
                </a:lnTo>
                <a:cubicBezTo>
                  <a:pt x="80339" y="607902"/>
                  <a:pt x="72718" y="600293"/>
                  <a:pt x="72718" y="590958"/>
                </a:cubicBezTo>
                <a:lnTo>
                  <a:pt x="72718" y="529829"/>
                </a:lnTo>
                <a:cubicBezTo>
                  <a:pt x="72718" y="461648"/>
                  <a:pt x="56358" y="394482"/>
                  <a:pt x="25111" y="333657"/>
                </a:cubicBezTo>
                <a:cubicBezTo>
                  <a:pt x="9462" y="303118"/>
                  <a:pt x="419" y="268469"/>
                  <a:pt x="12" y="231792"/>
                </a:cubicBezTo>
                <a:cubicBezTo>
                  <a:pt x="-1258" y="104562"/>
                  <a:pt x="100510" y="1022"/>
                  <a:pt x="227935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6E4AF58-9FB8-5B55-CF31-C4817E9C80C3}"/>
              </a:ext>
            </a:extLst>
          </p:cNvPr>
          <p:cNvSpPr/>
          <p:nvPr/>
        </p:nvSpPr>
        <p:spPr>
          <a:xfrm>
            <a:off x="410368" y="4341884"/>
            <a:ext cx="2503613" cy="73410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目标用户</a:t>
            </a:r>
          </a:p>
        </p:txBody>
      </p:sp>
      <p:sp>
        <p:nvSpPr>
          <p:cNvPr id="48" name="左大括号 47">
            <a:extLst>
              <a:ext uri="{FF2B5EF4-FFF2-40B4-BE49-F238E27FC236}">
                <a16:creationId xmlns:a16="http://schemas.microsoft.com/office/drawing/2014/main" id="{ABDF1881-1DB0-F581-12DA-45F75CC2A9DA}"/>
              </a:ext>
            </a:extLst>
          </p:cNvPr>
          <p:cNvSpPr/>
          <p:nvPr/>
        </p:nvSpPr>
        <p:spPr>
          <a:xfrm>
            <a:off x="2913981" y="3235167"/>
            <a:ext cx="938575" cy="2842680"/>
          </a:xfrm>
          <a:prstGeom prst="leftBrace">
            <a:avLst/>
          </a:prstGeom>
          <a:ln w="317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75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1892-CAEA-C791-31E8-7D02F11C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F80D261-15E5-EA63-C836-FFF84311ABB6}"/>
              </a:ext>
            </a:extLst>
          </p:cNvPr>
          <p:cNvGrpSpPr/>
          <p:nvPr/>
        </p:nvGrpSpPr>
        <p:grpSpPr>
          <a:xfrm>
            <a:off x="-240704" y="246620"/>
            <a:ext cx="4464496" cy="734108"/>
            <a:chOff x="-240704" y="246620"/>
            <a:chExt cx="3456384" cy="734108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B9A80FA-E21C-F240-10FD-CD6A68CD1ABE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7" name="文本占位符 3">
              <a:extLst>
                <a:ext uri="{FF2B5EF4-FFF2-40B4-BE49-F238E27FC236}">
                  <a16:creationId xmlns:a16="http://schemas.microsoft.com/office/drawing/2014/main" id="{BD5ACB45-01A7-2E58-4486-B0530D699F2B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项目动机和背景介绍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59C12451-AD02-C913-97FF-2BB420B8DEFA}"/>
              </a:ext>
            </a:extLst>
          </p:cNvPr>
          <p:cNvSpPr/>
          <p:nvPr/>
        </p:nvSpPr>
        <p:spPr>
          <a:xfrm>
            <a:off x="733245" y="1100547"/>
            <a:ext cx="10768992" cy="15907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项目定位：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ea typeface="微软雅黑 Light" panose="020B0502040204020203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DormFix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是一个面向学生、宿舍管理员、维修人员三类用户的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Web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端系统，旨在实现报修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审核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派单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维修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确认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—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ea typeface="微软雅黑 Light" panose="020B0502040204020203" pitchFamily="34" charset="-122"/>
              </a:rPr>
              <a:t>评价的全流程数字化闭环管理。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7B8332-CD67-42FE-BB8C-EFE667BEF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792479"/>
            <a:ext cx="9361040" cy="391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68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4499-3E40-C62A-C86E-BC1F9181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>
            <a:extLst>
              <a:ext uri="{FF2B5EF4-FFF2-40B4-BE49-F238E27FC236}">
                <a16:creationId xmlns:a16="http://schemas.microsoft.com/office/drawing/2014/main" id="{2E9DB100-1F16-6056-25AC-F37C0361ED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28060" b="17165"/>
          <a:stretch>
            <a:fillRect/>
          </a:stretch>
        </p:blipFill>
        <p:spPr>
          <a:xfrm>
            <a:off x="1270" y="-120650"/>
            <a:ext cx="12190730" cy="415353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13C62E0-854D-1D77-0A22-1B810976E0EF}"/>
              </a:ext>
            </a:extLst>
          </p:cNvPr>
          <p:cNvCxnSpPr/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37BB4A-7C91-F972-3527-CEA03E1B1841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F152AE-426E-259E-0276-210B66CE04DB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PART 02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E64153C-CC61-78E3-B221-0938B0A37D84}"/>
              </a:ext>
            </a:extLst>
          </p:cNvPr>
          <p:cNvCxnSpPr/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924C589-5B07-E3F5-A80F-9E5F5A1DC2AD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4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项目的组织管理情况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B52503CA-1553-32D8-C1EB-393ADA990011}"/>
              </a:ext>
            </a:extLst>
          </p:cNvPr>
          <p:cNvSpPr/>
          <p:nvPr/>
        </p:nvSpPr>
        <p:spPr>
          <a:xfrm>
            <a:off x="5922380" y="6558655"/>
            <a:ext cx="347240" cy="29934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200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3EE2-7F3E-B808-8D56-ACDCECAD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C305B197-2355-744C-4B72-6E21B642F6D5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57329C41-8A1B-0009-4E1F-D4F6B053869B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6D445C0D-EDC6-BC90-7DC1-9A4EF372FDCD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模型选取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08AB590-0388-3943-7722-DCA62E8ED2C2}"/>
              </a:ext>
            </a:extLst>
          </p:cNvPr>
          <p:cNvSpPr/>
          <p:nvPr/>
        </p:nvSpPr>
        <p:spPr>
          <a:xfrm>
            <a:off x="407368" y="1068358"/>
            <a:ext cx="4824536" cy="63245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本项目选取迭代式开发模型：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890458-2862-AC00-0DBB-B935CC1E94B2}"/>
              </a:ext>
            </a:extLst>
          </p:cNvPr>
          <p:cNvSpPr/>
          <p:nvPr/>
        </p:nvSpPr>
        <p:spPr>
          <a:xfrm>
            <a:off x="407368" y="1788437"/>
            <a:ext cx="11233248" cy="47588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30000"/>
              </a:lnSpc>
              <a:defRPr/>
            </a:pP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选择迭代式开发模型原因：</a:t>
            </a:r>
          </a:p>
          <a:p>
            <a:pPr lvl="0" indent="457200"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1.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核心需求（如报修、派单、评价）在初期已通过调研明确，但具体交互细节和用户体验需要通过快速原型进行验证和调整。</a:t>
            </a:r>
          </a:p>
          <a:p>
            <a:pPr lvl="0" indent="457200"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2. 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团队对</a:t>
            </a: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Python/Django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技术栈较为熟悉，能快速构建可运行的迭代版本。</a:t>
            </a:r>
          </a:p>
          <a:p>
            <a:pPr lvl="0" indent="457200"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3.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迭代模型允许我们在有限的课程周期内，分阶段交付可用的功能模块（如先完成核心报修流程，再增加统计、评价等）。</a:t>
            </a:r>
          </a:p>
          <a:p>
            <a:pPr lvl="0" indent="457200">
              <a:lnSpc>
                <a:spcPct val="130000"/>
              </a:lnSpc>
              <a:defRPr/>
            </a:pPr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4.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ea typeface="微软雅黑 Light" panose="020B0502040204020203" pitchFamily="34" charset="-122"/>
              </a:rPr>
              <a:t>迭代模型根据灵活性，在开发过程中，有利于我们根据内部测试反馈，对部分核心功能进行了调整。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77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EBF6-B2CE-BCE5-49F0-445982F1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F6656B64-D61A-2B71-B9B8-F5DF1DF2A38F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9507ADC0-FED0-42D7-7CE8-8F9CB6DB0F93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10A91AF0-8DFA-9A70-53C8-600CAC86FF7F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软件过程管理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5D1237A-BA82-BCE4-4C7D-F1FEDFB63B6F}"/>
              </a:ext>
            </a:extLst>
          </p:cNvPr>
          <p:cNvSpPr/>
          <p:nvPr/>
        </p:nvSpPr>
        <p:spPr>
          <a:xfrm>
            <a:off x="263352" y="1182724"/>
            <a:ext cx="11305256" cy="10801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严格遵循软件工程流程，划分为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需求分析 </a:t>
            </a: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-&gt; 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软件设计 </a:t>
            </a: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-&gt; 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编码实现 </a:t>
            </a:r>
            <a:r>
              <a:rPr lang="en-US" altLang="zh-CN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-&gt; 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测试联调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四大阶段。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751C2-EAA9-97F6-BAAA-554056D1A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2436222"/>
            <a:ext cx="9649072" cy="37555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62066C9-DDC4-A12F-81D2-16510632656F}"/>
              </a:ext>
            </a:extLst>
          </p:cNvPr>
          <p:cNvSpPr txBox="1"/>
          <p:nvPr/>
        </p:nvSpPr>
        <p:spPr>
          <a:xfrm>
            <a:off x="918538" y="6196134"/>
            <a:ext cx="9505056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项目甘特图</a:t>
            </a:r>
          </a:p>
        </p:txBody>
      </p:sp>
    </p:spTree>
    <p:extLst>
      <p:ext uri="{BB962C8B-B14F-4D97-AF65-F5344CB8AC3E}">
        <p14:creationId xmlns:p14="http://schemas.microsoft.com/office/powerpoint/2010/main" val="189989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2E0B-D8BA-B6EA-CC09-D89A07BD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381B6F93-CDF3-612D-BEED-4152AB9786C4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8DA45EF9-BB11-3BC1-B7DF-38067AE0AD1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B5C4859C-E008-E264-0A63-2022481DE85E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软件过程管理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FA83475F-A7F0-F11B-D287-224B98591EBF}"/>
              </a:ext>
            </a:extLst>
          </p:cNvPr>
          <p:cNvSpPr/>
          <p:nvPr/>
        </p:nvSpPr>
        <p:spPr>
          <a:xfrm>
            <a:off x="479376" y="1196752"/>
            <a:ext cx="10729192" cy="108803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50000"/>
              </a:lnSpc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项目分阶段开发报修系统，后端搭建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Django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框架、开发全套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API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，前端完成多角色页面开发，同步优化路由与界面问题。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CF701F2-0C1A-06E7-FBB7-6FB5CCA8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30" y="2522052"/>
            <a:ext cx="11779539" cy="347907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6E88E09-D070-6B05-0408-5EA1BE588DB8}"/>
              </a:ext>
            </a:extLst>
          </p:cNvPr>
          <p:cNvSpPr txBox="1"/>
          <p:nvPr/>
        </p:nvSpPr>
        <p:spPr>
          <a:xfrm>
            <a:off x="911424" y="6036784"/>
            <a:ext cx="9505056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项目开发阶段</a:t>
            </a:r>
          </a:p>
        </p:txBody>
      </p:sp>
    </p:spTree>
    <p:extLst>
      <p:ext uri="{BB962C8B-B14F-4D97-AF65-F5344CB8AC3E}">
        <p14:creationId xmlns:p14="http://schemas.microsoft.com/office/powerpoint/2010/main" val="270930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341FE-564B-E14A-8989-1EFDEB1C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33A055EE-B724-725F-CDC2-2EEA7206515D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E459B21-02D5-E1BF-18B6-FA762386C98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89BF43B6-61E0-283F-793E-38F5B7CBA1E9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软件过程管理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32A2D586-1275-6FBA-019D-A0F62B482CFB}"/>
              </a:ext>
            </a:extLst>
          </p:cNvPr>
          <p:cNvSpPr/>
          <p:nvPr/>
        </p:nvSpPr>
        <p:spPr>
          <a:xfrm>
            <a:off x="479376" y="1348678"/>
            <a:ext cx="10729192" cy="1088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50000"/>
              </a:lnSpc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新增管理员用户管理功能，集中修复工单、页面、导出等多处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BUG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，优化界面与数据逻辑，改造存储方案以适配多账号测试。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025926-6E6D-9425-DFDC-4CFA08F909B4}"/>
              </a:ext>
            </a:extLst>
          </p:cNvPr>
          <p:cNvSpPr txBox="1"/>
          <p:nvPr/>
        </p:nvSpPr>
        <p:spPr>
          <a:xfrm>
            <a:off x="911424" y="5949360"/>
            <a:ext cx="9505056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测试修复阶段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95552C-C571-9642-0263-D98862C81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2852936"/>
            <a:ext cx="11650018" cy="265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54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24FF-2AA7-A8FA-9883-B274593F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4BCA5078-947E-8968-3F00-10ACB571BE88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15D0AE7-116E-C87A-D820-CB1457335D1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8D93D737-CFCF-EFDB-1012-E92432BCEFA5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软件过程管理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BC28C0F4-CBC1-2502-0442-7D4FFF02BC4C}"/>
              </a:ext>
            </a:extLst>
          </p:cNvPr>
          <p:cNvSpPr/>
          <p:nvPr/>
        </p:nvSpPr>
        <p:spPr>
          <a:xfrm>
            <a:off x="479376" y="1348678"/>
            <a:ext cx="10729192" cy="10880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50000"/>
              </a:lnSpc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rPr>
              <a:t>本阶段完善项目配套文档，提交系统演示文档并补充接单规则说明，优化软件工程设计报告，绘制配图，最终定稿提交完整设计报告。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E1EFE9-A086-AE04-8022-F82617531DFE}"/>
              </a:ext>
            </a:extLst>
          </p:cNvPr>
          <p:cNvSpPr txBox="1"/>
          <p:nvPr/>
        </p:nvSpPr>
        <p:spPr>
          <a:xfrm>
            <a:off x="767408" y="5220227"/>
            <a:ext cx="9505056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完成相关文档界面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F09931-8CB1-A1CF-0B5B-995A42FCD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19" y="2804658"/>
            <a:ext cx="11561905" cy="2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4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F61B-573E-71D7-520A-8C298F9AD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6182E5C0-DFC9-F319-4AF5-391CDCD788BC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C69231E-294B-8F78-F04E-223E356D19C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1DB0C435-3E54-9410-5A78-1C10300D820B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问题与措施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2F3D2ED-89F9-340D-C94C-E5F3C3C5D381}"/>
              </a:ext>
            </a:extLst>
          </p:cNvPr>
          <p:cNvSpPr/>
          <p:nvPr/>
        </p:nvSpPr>
        <p:spPr>
          <a:xfrm>
            <a:off x="695400" y="1268760"/>
            <a:ext cx="10009112" cy="202647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：评价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投诉页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表单替换后继续执行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文件：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evaluate.html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complaint.html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现象：工单状态不允许评价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投诉时报错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原因：页面加载时检查状态后用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innerHTML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替换了表单，但后续代码仍尝试给已删除的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textarea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绑定事件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修复：添加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canEvaluate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canComplain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标志，状态不允许时提前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return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4595564-3987-3953-5E7A-487A8052300A}"/>
              </a:ext>
            </a:extLst>
          </p:cNvPr>
          <p:cNvSpPr/>
          <p:nvPr/>
        </p:nvSpPr>
        <p:spPr>
          <a:xfrm>
            <a:off x="730404" y="3549863"/>
            <a:ext cx="10009112" cy="20264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：评价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投诉页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—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错误处理不完整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文件：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evaluate.html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现象：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返回错误时用户看不到提示，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loader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一直在转</a:t>
            </a: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原因：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API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返回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{'error': '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该工单状态不允许评价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'}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，但前端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catch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只检查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error.content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error.detail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，没检查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error.error</a:t>
            </a:r>
            <a:endParaRPr lang="en-US" altLang="zh-CN" sz="200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/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修复：添加 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else if (error &amp;&amp; </a:t>
            </a:r>
            <a:r>
              <a:rPr lang="en-US" altLang="zh-CN" sz="20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error.error</a:t>
            </a:r>
            <a:r>
              <a:rPr lang="en-US" altLang="zh-CN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200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分支</a:t>
            </a:r>
          </a:p>
        </p:txBody>
      </p:sp>
    </p:spTree>
    <p:extLst>
      <p:ext uri="{BB962C8B-B14F-4D97-AF65-F5344CB8AC3E}">
        <p14:creationId xmlns:p14="http://schemas.microsoft.com/office/powerpoint/2010/main" val="2278383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3FE98-1F4A-A465-6FA5-7B595B1A4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>
            <a:extLst>
              <a:ext uri="{FF2B5EF4-FFF2-40B4-BE49-F238E27FC236}">
                <a16:creationId xmlns:a16="http://schemas.microsoft.com/office/drawing/2014/main" id="{29A3DEC0-7756-1D93-5A78-E1607EFFE61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28060" b="17165"/>
          <a:stretch>
            <a:fillRect/>
          </a:stretch>
        </p:blipFill>
        <p:spPr>
          <a:xfrm>
            <a:off x="1270" y="-120650"/>
            <a:ext cx="12190730" cy="415353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ED19569-CB4F-5AB9-FB35-5614DBAA073F}"/>
              </a:ext>
            </a:extLst>
          </p:cNvPr>
          <p:cNvCxnSpPr/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AD13956-79CB-B476-EFB5-6A03867BB8BC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BDB5F5-28E0-9756-B94C-90C116DDE6A5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PART 03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506D07A-972E-D591-D3CB-25BF0BE71913}"/>
              </a:ext>
            </a:extLst>
          </p:cNvPr>
          <p:cNvCxnSpPr/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F17A3AD-751F-496A-E2E4-9EFB629D479C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项目功能演示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64BB33AA-BF2C-20D1-9090-E408A0869F09}"/>
              </a:ext>
            </a:extLst>
          </p:cNvPr>
          <p:cNvSpPr/>
          <p:nvPr/>
        </p:nvSpPr>
        <p:spPr>
          <a:xfrm>
            <a:off x="5922380" y="6558655"/>
            <a:ext cx="347240" cy="29934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094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ED4F-29C1-0C06-47FA-2233291A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BAE25388-BF72-BD65-D5ED-D6F2F02AE327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DDB90E7-E67D-2059-071D-5C70BA665AC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F3D76150-AD8D-11C6-9387-4AE31B79445E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核心功能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0CCE8FF-BFA2-F27F-8C64-8F86F6CADBA9}"/>
              </a:ext>
            </a:extLst>
          </p:cNvPr>
          <p:cNvSpPr/>
          <p:nvPr/>
        </p:nvSpPr>
        <p:spPr>
          <a:xfrm>
            <a:off x="191344" y="1196752"/>
            <a:ext cx="4007387" cy="518457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核心功能流程：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报修提交→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工单审核→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任务派单→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维修处置→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完工确认→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服务评价→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投诉处理→</a:t>
            </a:r>
            <a:endParaRPr lang="en-US" altLang="zh-CN" sz="2400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数据统计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3763F7-1963-A33D-0141-9010BD6FB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193" y="916628"/>
            <a:ext cx="7158705" cy="591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83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87AB9-7FD4-4D7A-895F-336CD6EA3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BCF424-7792-389A-3E95-1925C42432AF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96C27668-6B63-F444-869C-0C9DF735CD5E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4D27FD03-E126-73E1-0E84-01E7763DF7FE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系统架构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4F974BBF-4B5B-121F-DEF5-FBA5201D8619}"/>
              </a:ext>
            </a:extLst>
          </p:cNvPr>
          <p:cNvSpPr/>
          <p:nvPr/>
        </p:nvSpPr>
        <p:spPr>
          <a:xfrm>
            <a:off x="479376" y="1044827"/>
            <a:ext cx="11161240" cy="1670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30000"/>
              </a:lnSpc>
              <a:defRPr/>
            </a:pPr>
            <a:r>
              <a:rPr lang="zh-CN" altLang="en-US" sz="2000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本宿舍报修系统采用前后端分离架构：</a:t>
            </a:r>
            <a:endParaRPr lang="en-US" altLang="zh-CN" sz="2000" b="1" dirty="0">
              <a:solidFill>
                <a:schemeClr val="accent4">
                  <a:lumMod val="10000"/>
                </a:schemeClr>
              </a:solidFill>
              <a:ea typeface="微软雅黑 Light" panose="020B0502040204020203" pitchFamily="34" charset="-122"/>
            </a:endParaRPr>
          </a:p>
          <a:p>
            <a:pPr lvl="0" indent="457200">
              <a:lnSpc>
                <a:spcPct val="130000"/>
              </a:lnSpc>
              <a:defRPr/>
            </a:pP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前端由页面模板与静态资源组成，以 </a:t>
            </a:r>
            <a:r>
              <a:rPr lang="en-US" altLang="zh-CN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HTTP+JSON </a:t>
            </a: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通过 </a:t>
            </a:r>
            <a:r>
              <a:rPr lang="en-US" altLang="zh-CN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Fetch </a:t>
            </a: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请求后端接口；</a:t>
            </a:r>
            <a:endParaRPr lang="en-US" altLang="zh-CN" b="1" dirty="0">
              <a:solidFill>
                <a:srgbClr val="7030A0"/>
              </a:solidFill>
              <a:ea typeface="微软雅黑 Light" panose="020B0502040204020203" pitchFamily="34" charset="-122"/>
            </a:endParaRPr>
          </a:p>
          <a:p>
            <a:pPr lvl="0" indent="457200"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Django </a:t>
            </a: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后端分账户、报修、派单等六大 </a:t>
            </a:r>
            <a:r>
              <a:rPr lang="en-US" altLang="zh-CN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API </a:t>
            </a: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模块，依托 </a:t>
            </a:r>
            <a:r>
              <a:rPr lang="en-US" altLang="zh-CN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ORM </a:t>
            </a: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映射对接数据库；</a:t>
            </a:r>
            <a:endParaRPr lang="en-US" altLang="zh-CN" b="1" dirty="0">
              <a:solidFill>
                <a:srgbClr val="7030A0"/>
              </a:solidFill>
              <a:ea typeface="微软雅黑 Light" panose="020B0502040204020203" pitchFamily="34" charset="-122"/>
            </a:endParaRPr>
          </a:p>
          <a:p>
            <a:pPr lvl="0" indent="457200">
              <a:lnSpc>
                <a:spcPct val="130000"/>
              </a:lnSpc>
              <a:defRPr/>
            </a:pPr>
            <a:r>
              <a:rPr lang="zh-CN" altLang="en-US" b="1" dirty="0">
                <a:solidFill>
                  <a:srgbClr val="7030A0"/>
                </a:solidFill>
                <a:ea typeface="微软雅黑 Light" panose="020B0502040204020203" pitchFamily="34" charset="-122"/>
              </a:rPr>
              <a:t>数据库含用户、楼栋、工单等六张数据表，完成全流程数据存取。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7B803F-C40B-3365-5967-57C4AE669A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2852936"/>
            <a:ext cx="7272808" cy="392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88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28E30-3BD3-1956-49F2-60CF5746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D8285B77-1EFE-FE5B-6399-41BE0D389785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7B52BD-43B6-98FD-DCB7-E4171F1C223C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6CB67E39-7D4F-354A-E93A-C5D783CB2EE1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功能模块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FB55909-39AE-0251-25FC-C7597FA98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492151"/>
              </p:ext>
            </p:extLst>
          </p:nvPr>
        </p:nvGraphicFramePr>
        <p:xfrm>
          <a:off x="263352" y="1196752"/>
          <a:ext cx="11665296" cy="541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231">
                  <a:extLst>
                    <a:ext uri="{9D8B030D-6E8A-4147-A177-3AD203B41FA5}">
                      <a16:colId xmlns:a16="http://schemas.microsoft.com/office/drawing/2014/main" val="1400090769"/>
                    </a:ext>
                  </a:extLst>
                </a:gridCol>
                <a:gridCol w="3824577">
                  <a:extLst>
                    <a:ext uri="{9D8B030D-6E8A-4147-A177-3AD203B41FA5}">
                      <a16:colId xmlns:a16="http://schemas.microsoft.com/office/drawing/2014/main" val="196320368"/>
                    </a:ext>
                  </a:extLst>
                </a:gridCol>
                <a:gridCol w="4392488">
                  <a:extLst>
                    <a:ext uri="{9D8B030D-6E8A-4147-A177-3AD203B41FA5}">
                      <a16:colId xmlns:a16="http://schemas.microsoft.com/office/drawing/2014/main" val="730259216"/>
                    </a:ext>
                  </a:extLst>
                </a:gridCol>
              </a:tblGrid>
              <a:tr h="7253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模块 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核心模型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主要职责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446167438"/>
                  </a:ext>
                </a:extLst>
              </a:tr>
              <a:tr h="781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用户管理模块（</a:t>
                      </a: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accounts</a:t>
                      </a: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0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User、DormBuilding、DormRoom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用户认证权限、用户与楼栋房间信息管理维护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654832563"/>
                  </a:ext>
                </a:extLst>
              </a:tr>
              <a:tr h="781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报修模块（</a:t>
                      </a: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repairs</a:t>
                      </a: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0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WorkOrder、WorkOrderImage、WorkOrderLog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报修单创建、查询、撤销，全流程操作日志留存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182749236"/>
                  </a:ext>
                </a:extLst>
              </a:tr>
              <a:tr h="781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派单模块（</a:t>
                      </a: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dispatch</a:t>
                      </a: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0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复用 WorkOrder 相关模型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工单审核驳回、派单分配、维修工接单负载统计查询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788181907"/>
                  </a:ext>
                </a:extLst>
              </a:tr>
              <a:tr h="781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维修处理模块（</a:t>
                      </a:r>
                      <a:r>
                        <a:rPr lang="en-US" alt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</a:t>
                      </a: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aintenance</a:t>
                      </a: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0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复用 WorkOrder 相关模型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维修工接单完工、用户验收确认、异常返修处理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961507416"/>
                  </a:ext>
                </a:extLst>
              </a:tr>
              <a:tr h="781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评论投诉模块（</a:t>
                      </a: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feedback</a:t>
                      </a: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0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Evaluation、Complaint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工单评价录入、用户投诉提交与售后处置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05716562"/>
                  </a:ext>
                </a:extLst>
              </a:tr>
              <a:tr h="781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数据统计模块（</a:t>
                      </a: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dashboard</a:t>
                      </a:r>
                      <a:r>
                        <a:rPr lang="zh-CN" altLang="en-US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）</a:t>
                      </a:r>
                      <a:endParaRPr lang="zh-CN" sz="2000" dirty="0"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无独立数据表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000" dirty="0"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业务数据聚合统计、可视化图表生成、报表 Excel 导出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546418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771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7F90-13D8-6C7B-A593-05F3D0A9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C69B30FA-7D61-8D6F-62DB-27A10F8E3C23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2E67299E-17A0-B1C8-03DC-C6F9CE6E3830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3A5C2017-A8DB-D65F-615B-A5FD47D0345E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非功能性需求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11C5D67-5AF7-974B-BE47-F257D4AB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4" y="2276872"/>
            <a:ext cx="11784632" cy="377893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10706F-BF73-E523-D195-8ED6A3A79782}"/>
              </a:ext>
            </a:extLst>
          </p:cNvPr>
          <p:cNvSpPr txBox="1"/>
          <p:nvPr/>
        </p:nvSpPr>
        <p:spPr>
          <a:xfrm>
            <a:off x="623392" y="6011898"/>
            <a:ext cx="9505056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安全性需求与设计落实对照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CB04C5-1AEF-4DB7-E05B-672AE3CF3952}"/>
              </a:ext>
            </a:extLst>
          </p:cNvPr>
          <p:cNvSpPr/>
          <p:nvPr/>
        </p:nvSpPr>
        <p:spPr>
          <a:xfrm>
            <a:off x="479376" y="1044827"/>
            <a:ext cx="11161240" cy="11679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非功能需求上注重系统安全，通过 </a:t>
            </a: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Token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实现登录认证，采用 </a:t>
            </a: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RBAC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完成角色权限管控，搭配密码哈希、登录限流、操作日志审计保障数据安全；后续规划实现</a:t>
            </a: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HTTPS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加密传输与数据库定时备份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1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300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861B9-9334-6640-C9D4-39670EA5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2D0BE8A5-69C4-9816-A47E-0E93E54C985E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D587CEC-2437-A2E2-AD07-AFCA5B2AB813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F14E4841-AB98-DB71-95C6-B90C159DEFEA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非功能性需求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4C28B6F-641B-B137-68A7-32701B95F761}"/>
              </a:ext>
            </a:extLst>
          </p:cNvPr>
          <p:cNvSpPr txBox="1"/>
          <p:nvPr/>
        </p:nvSpPr>
        <p:spPr>
          <a:xfrm>
            <a:off x="623392" y="6011898"/>
            <a:ext cx="9505056" cy="597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性能优化措施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B6B2C2-1082-2603-5B81-83899B4C4EE1}"/>
              </a:ext>
            </a:extLst>
          </p:cNvPr>
          <p:cNvSpPr/>
          <p:nvPr/>
        </p:nvSpPr>
        <p:spPr>
          <a:xfrm>
            <a:off x="479376" y="1044827"/>
            <a:ext cx="11161240" cy="11679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indent="457200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同时已完成分页、数据库索引、图片校验、接口超时与统计聚合等性能优化，从查询、上传、接口多方面提升使用效率；</a:t>
            </a:r>
            <a:endParaRPr lang="en-US" altLang="zh-CN" b="1" dirty="0">
              <a:solidFill>
                <a:schemeClr val="accent4">
                  <a:lumMod val="10000"/>
                </a:schemeClr>
              </a:solidFill>
              <a:ea typeface="微软雅黑 Light" panose="020B0502040204020203" pitchFamily="34" charset="-122"/>
            </a:endParaRPr>
          </a:p>
          <a:p>
            <a:pPr lvl="0" indent="457200">
              <a:lnSpc>
                <a:spcPct val="130000"/>
              </a:lnSpc>
              <a:defRPr/>
            </a:pP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未来规划</a:t>
            </a: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Redis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热点缓存、</a:t>
            </a: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CDN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ea typeface="微软雅黑 Light" panose="020B0502040204020203" pitchFamily="34" charset="-122"/>
              </a:rPr>
              <a:t>静态资源加速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10000"/>
                </a:schemeClr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CCFA76-7701-6795-0BF2-B5E5A58A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333444"/>
            <a:ext cx="10441160" cy="370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25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3044-ED1F-4A28-53FE-0FEE7E18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5D43D785-73B2-4BCB-49C0-E2A038822B5F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7B47A27-50BD-EEF7-0919-F0DA523D7DBE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B5583ED2-930A-2E31-B5B6-47B419526497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关键流程演示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1E57E9-8A08-BE3B-46CD-AB3102E8E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6831"/>
            <a:ext cx="4248414" cy="43414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78561F-70AD-82C0-9D2F-46497CF34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414" y="1916831"/>
            <a:ext cx="4056340" cy="47971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533BD6B-6914-0821-91DD-0A1859692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754" y="1916831"/>
            <a:ext cx="3854376" cy="46146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6899214-A8C6-EC62-488D-67A1B6C63201}"/>
              </a:ext>
            </a:extLst>
          </p:cNvPr>
          <p:cNvSpPr txBox="1"/>
          <p:nvPr/>
        </p:nvSpPr>
        <p:spPr>
          <a:xfrm>
            <a:off x="612039" y="1209562"/>
            <a:ext cx="3024336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学生报修流程图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72327D-F70E-8D2E-AEAC-332B1C5886B7}"/>
              </a:ext>
            </a:extLst>
          </p:cNvPr>
          <p:cNvSpPr txBox="1"/>
          <p:nvPr/>
        </p:nvSpPr>
        <p:spPr>
          <a:xfrm>
            <a:off x="8326212" y="1208711"/>
            <a:ext cx="3653958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维修处理与学生确认流程图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05C694-4C3C-D4F8-2E17-BCA60E59BE41}"/>
              </a:ext>
            </a:extLst>
          </p:cNvPr>
          <p:cNvSpPr txBox="1"/>
          <p:nvPr/>
        </p:nvSpPr>
        <p:spPr>
          <a:xfrm>
            <a:off x="4434817" y="1208712"/>
            <a:ext cx="3350964" cy="4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 管理员审核派单流程图</a:t>
            </a:r>
          </a:p>
        </p:txBody>
      </p:sp>
    </p:spTree>
    <p:extLst>
      <p:ext uri="{BB962C8B-B14F-4D97-AF65-F5344CB8AC3E}">
        <p14:creationId xmlns:p14="http://schemas.microsoft.com/office/powerpoint/2010/main" val="2967587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B1E-E36A-EB0F-A2F5-705284D9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F9FED3-34C3-471C-EE8C-37AABCF331C4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70DFFDA8-819B-5D79-139F-2E4F05D7B630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49B49FAE-3D7D-51D8-24C3-FA80138F5997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演示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0A17C574-70C4-54A8-8EEC-41A8EC1849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772816"/>
            <a:ext cx="9587444" cy="46269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D038D2-1F59-A561-8726-FD8AEF919ED4}"/>
              </a:ext>
            </a:extLst>
          </p:cNvPr>
          <p:cNvSpPr/>
          <p:nvPr/>
        </p:nvSpPr>
        <p:spPr>
          <a:xfrm>
            <a:off x="3863752" y="958338"/>
            <a:ext cx="3600400" cy="75298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进行网页演示：</a:t>
            </a:r>
          </a:p>
        </p:txBody>
      </p:sp>
    </p:spTree>
    <p:extLst>
      <p:ext uri="{BB962C8B-B14F-4D97-AF65-F5344CB8AC3E}">
        <p14:creationId xmlns:p14="http://schemas.microsoft.com/office/powerpoint/2010/main" val="1891047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45832-9EE1-5408-5345-CC2B9DC3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>
            <a:extLst>
              <a:ext uri="{FF2B5EF4-FFF2-40B4-BE49-F238E27FC236}">
                <a16:creationId xmlns:a16="http://schemas.microsoft.com/office/drawing/2014/main" id="{5B1F50C1-4E7B-EBBD-F3BF-7290B7AEFEA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28060" b="17165"/>
          <a:stretch>
            <a:fillRect/>
          </a:stretch>
        </p:blipFill>
        <p:spPr>
          <a:xfrm>
            <a:off x="1270" y="-120650"/>
            <a:ext cx="12190730" cy="415353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10B6EDE-E952-B93F-713B-ED2E2DCFF997}"/>
              </a:ext>
            </a:extLst>
          </p:cNvPr>
          <p:cNvCxnSpPr/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2CEFF39-6FDB-431A-CA6B-9C8F8592AAED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C0240B-39E5-81FF-5968-F8DE4E52E8F1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PART 04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1E73013-FB5F-8C7A-9EEB-3D14527BAFEA}"/>
              </a:ext>
            </a:extLst>
          </p:cNvPr>
          <p:cNvCxnSpPr/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E05D6A1-A63A-EAB7-6A08-7A302F78D9F3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分工情况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A6305A6C-03E7-1CFF-0DF9-491D186170AF}"/>
              </a:ext>
            </a:extLst>
          </p:cNvPr>
          <p:cNvSpPr/>
          <p:nvPr/>
        </p:nvSpPr>
        <p:spPr>
          <a:xfrm>
            <a:off x="5922380" y="6558655"/>
            <a:ext cx="347240" cy="29934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998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CABD8-F8EE-5336-ADCD-967489E2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C82D2BB5-6F1A-6C14-F923-FDFA18172E9B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77CA8FED-564C-5BEF-63CE-8C7A39A49DAF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31" name="文本占位符 3">
              <a:extLst>
                <a:ext uri="{FF2B5EF4-FFF2-40B4-BE49-F238E27FC236}">
                  <a16:creationId xmlns:a16="http://schemas.microsoft.com/office/drawing/2014/main" id="{78DE08CB-7864-2C98-6ED6-341183A44F53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</a:rPr>
                <a:t>分工情况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AC30B6F-8B4D-E163-9084-3A4CD46E5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785426"/>
              </p:ext>
            </p:extLst>
          </p:nvPr>
        </p:nvGraphicFramePr>
        <p:xfrm>
          <a:off x="263352" y="1484783"/>
          <a:ext cx="11737304" cy="477148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1924">
                  <a:extLst>
                    <a:ext uri="{9D8B030D-6E8A-4147-A177-3AD203B41FA5}">
                      <a16:colId xmlns:a16="http://schemas.microsoft.com/office/drawing/2014/main" val="1419759770"/>
                    </a:ext>
                  </a:extLst>
                </a:gridCol>
                <a:gridCol w="2092492">
                  <a:extLst>
                    <a:ext uri="{9D8B030D-6E8A-4147-A177-3AD203B41FA5}">
                      <a16:colId xmlns:a16="http://schemas.microsoft.com/office/drawing/2014/main" val="3565521129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146924173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15715857"/>
                    </a:ext>
                  </a:extLst>
                </a:gridCol>
              </a:tblGrid>
              <a:tr h="79208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7030A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小组成员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7030A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rgbClr val="7030A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zh-CN" sz="2800" b="1" kern="1200" dirty="0">
                          <a:solidFill>
                            <a:srgbClr val="7030A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贡献度</a:t>
                      </a:r>
                      <a:endParaRPr lang="zh-CN" altLang="en-US" sz="2800" b="1" kern="1200" dirty="0">
                        <a:solidFill>
                          <a:srgbClr val="7030A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714935"/>
                  </a:ext>
                </a:extLst>
              </a:tr>
              <a:tr h="994848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王怡博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2310425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设计报告、需求报告、系统架构图绘制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091225"/>
                  </a:ext>
                </a:extLst>
              </a:tr>
              <a:tr h="994848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孙佳乐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2310417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后端代码、需求报告、</a:t>
                      </a: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调试与修复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599813"/>
                  </a:ext>
                </a:extLst>
              </a:tr>
              <a:tr h="994848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何叶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2313487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汇报、</a:t>
                      </a: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、项目演示文档、</a:t>
                      </a: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UML</a:t>
                      </a:r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图绘制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318518"/>
                  </a:ext>
                </a:extLst>
              </a:tr>
              <a:tr h="994848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王羿淼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800" b="1" dirty="0">
                          <a:solidFill>
                            <a:schemeClr val="tx1"/>
                          </a:solidFill>
                        </a:rPr>
                        <a:t>2310419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前端代码、</a:t>
                      </a: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</a:t>
                      </a:r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图绘制、</a:t>
                      </a: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zh-CN" alt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调试与修复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66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215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8E262-E36A-0B97-93BB-CBC2DAE7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D:\360MoveData\Users\xiaoxiao\Desktop\1004150863.jpg1004150863">
            <a:extLst>
              <a:ext uri="{FF2B5EF4-FFF2-40B4-BE49-F238E27FC236}">
                <a16:creationId xmlns:a16="http://schemas.microsoft.com/office/drawing/2014/main" id="{9582EB0A-9EBE-1314-5D46-A6781FD99BA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28060" b="17165"/>
          <a:stretch>
            <a:fillRect/>
          </a:stretch>
        </p:blipFill>
        <p:spPr>
          <a:xfrm>
            <a:off x="1270" y="-120650"/>
            <a:ext cx="12190730" cy="4153535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5CFC46A-BAEC-F07D-06DA-7FF7D3A59E43}"/>
              </a:ext>
            </a:extLst>
          </p:cNvPr>
          <p:cNvCxnSpPr/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CD5B92D-18D7-092D-BE7F-DCEBD73A1B33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37CE54-89A2-29ED-5CF5-A143B05FD54F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PART 04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812F77-9817-203E-65B4-EC5A97548901}"/>
              </a:ext>
            </a:extLst>
          </p:cNvPr>
          <p:cNvCxnSpPr/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C3ECD120-9B0E-6209-BD71-17B86145EA8E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总结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42161C28-7F8C-4ACE-DD6B-5EF21D3B6B9F}"/>
              </a:ext>
            </a:extLst>
          </p:cNvPr>
          <p:cNvSpPr/>
          <p:nvPr/>
        </p:nvSpPr>
        <p:spPr>
          <a:xfrm>
            <a:off x="5922380" y="6558655"/>
            <a:ext cx="347240" cy="29934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1463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C1BE-5520-428E-AEA8-5E64674D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C27D587-8DF5-F749-1BBA-429BA2A5CE8D}"/>
              </a:ext>
            </a:extLst>
          </p:cNvPr>
          <p:cNvSpPr/>
          <p:nvPr/>
        </p:nvSpPr>
        <p:spPr>
          <a:xfrm>
            <a:off x="624255" y="2420888"/>
            <a:ext cx="3504823" cy="4320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EB1257-24F6-5CF5-35E6-5B07C90CA7DF}"/>
              </a:ext>
            </a:extLst>
          </p:cNvPr>
          <p:cNvSpPr/>
          <p:nvPr/>
        </p:nvSpPr>
        <p:spPr>
          <a:xfrm>
            <a:off x="4296275" y="2420888"/>
            <a:ext cx="3489668" cy="4320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BBC5B4-AA47-A6BF-A9DC-B22A9EEB82DC}"/>
              </a:ext>
            </a:extLst>
          </p:cNvPr>
          <p:cNvSpPr/>
          <p:nvPr/>
        </p:nvSpPr>
        <p:spPr>
          <a:xfrm>
            <a:off x="7968295" y="2420888"/>
            <a:ext cx="3416462" cy="43204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0C10649-D8B2-76C1-99B0-C352AA11F383}"/>
              </a:ext>
            </a:extLst>
          </p:cNvPr>
          <p:cNvCxnSpPr>
            <a:cxnSpLocks/>
          </p:cNvCxnSpPr>
          <p:nvPr/>
        </p:nvCxnSpPr>
        <p:spPr>
          <a:xfrm>
            <a:off x="623392" y="674136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84B5468-9EB0-FB95-4CB0-129BA13A69C8}"/>
              </a:ext>
            </a:extLst>
          </p:cNvPr>
          <p:cNvCxnSpPr>
            <a:cxnSpLocks/>
          </p:cNvCxnSpPr>
          <p:nvPr/>
        </p:nvCxnSpPr>
        <p:spPr>
          <a:xfrm>
            <a:off x="7955595" y="6741368"/>
            <a:ext cx="3526297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B39F607-0A25-9CF0-E401-90349B031CA4}"/>
              </a:ext>
            </a:extLst>
          </p:cNvPr>
          <p:cNvCxnSpPr>
            <a:cxnSpLocks/>
          </p:cNvCxnSpPr>
          <p:nvPr/>
        </p:nvCxnSpPr>
        <p:spPr>
          <a:xfrm>
            <a:off x="4296274" y="6741368"/>
            <a:ext cx="3526297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F9A1BB2B-C116-8BFD-C018-C8BB04D8E359}"/>
              </a:ext>
            </a:extLst>
          </p:cNvPr>
          <p:cNvSpPr/>
          <p:nvPr/>
        </p:nvSpPr>
        <p:spPr>
          <a:xfrm flipV="1">
            <a:off x="623393" y="243346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F53EAE19-6D64-97F0-4A05-E7A19C4CCB5F}"/>
              </a:ext>
            </a:extLst>
          </p:cNvPr>
          <p:cNvSpPr/>
          <p:nvPr/>
        </p:nvSpPr>
        <p:spPr>
          <a:xfrm flipV="1">
            <a:off x="4295412" y="2433465"/>
            <a:ext cx="801950" cy="8019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30588680-0F27-99BF-8757-14442ECD35EE}"/>
              </a:ext>
            </a:extLst>
          </p:cNvPr>
          <p:cNvSpPr/>
          <p:nvPr/>
        </p:nvSpPr>
        <p:spPr>
          <a:xfrm flipV="1">
            <a:off x="7967432" y="2433465"/>
            <a:ext cx="801950" cy="801950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0B3DAE-03F7-4757-415E-E2FEBAC10488}"/>
              </a:ext>
            </a:extLst>
          </p:cNvPr>
          <p:cNvSpPr txBox="1"/>
          <p:nvPr/>
        </p:nvSpPr>
        <p:spPr>
          <a:xfrm>
            <a:off x="1027586" y="2837940"/>
            <a:ext cx="276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800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项目完成情况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1576E8-5970-881B-58AC-D24DC11C78EC}"/>
              </a:ext>
            </a:extLst>
          </p:cNvPr>
          <p:cNvSpPr txBox="1"/>
          <p:nvPr/>
        </p:nvSpPr>
        <p:spPr>
          <a:xfrm>
            <a:off x="4809466" y="2750937"/>
            <a:ext cx="276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项目优点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CEB112-4155-D800-029B-51818056AACD}"/>
              </a:ext>
            </a:extLst>
          </p:cNvPr>
          <p:cNvSpPr txBox="1"/>
          <p:nvPr/>
        </p:nvSpPr>
        <p:spPr>
          <a:xfrm>
            <a:off x="8514130" y="2750937"/>
            <a:ext cx="2762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28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后续优化方向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26BBFD-13E4-8867-44CF-9EADB3DFA92F}"/>
              </a:ext>
            </a:extLst>
          </p:cNvPr>
          <p:cNvSpPr/>
          <p:nvPr/>
        </p:nvSpPr>
        <p:spPr>
          <a:xfrm>
            <a:off x="807244" y="3645024"/>
            <a:ext cx="3139482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已依照前期需求文档完成整套报修系统开发，实现三类用户操作页面，</a:t>
            </a:r>
            <a:r>
              <a:rPr lang="zh-CN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核心业务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（报修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派单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维修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确认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投诉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统计）</a:t>
            </a:r>
            <a:r>
              <a:rPr lang="zh-CN" altLang="zh-CN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可正常运行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98F476C-9BE2-24ED-C225-FED3D5BF94B3}"/>
              </a:ext>
            </a:extLst>
          </p:cNvPr>
          <p:cNvCxnSpPr>
            <a:cxnSpLocks/>
          </p:cNvCxnSpPr>
          <p:nvPr/>
        </p:nvCxnSpPr>
        <p:spPr>
          <a:xfrm>
            <a:off x="2203657" y="351894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6CBD903-C622-B7C6-6A58-EB0D6DF3B5D6}"/>
              </a:ext>
            </a:extLst>
          </p:cNvPr>
          <p:cNvCxnSpPr>
            <a:cxnSpLocks/>
          </p:cNvCxnSpPr>
          <p:nvPr/>
        </p:nvCxnSpPr>
        <p:spPr>
          <a:xfrm>
            <a:off x="5850371" y="3518943"/>
            <a:ext cx="37369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8A676C8-F058-962C-3105-A6328F097E21}"/>
              </a:ext>
            </a:extLst>
          </p:cNvPr>
          <p:cNvCxnSpPr>
            <a:cxnSpLocks/>
          </p:cNvCxnSpPr>
          <p:nvPr/>
        </p:nvCxnSpPr>
        <p:spPr>
          <a:xfrm>
            <a:off x="9595056" y="3518943"/>
            <a:ext cx="3736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80EFB6A-0BEF-BB7B-F552-97C21CF6D59C}"/>
              </a:ext>
            </a:extLst>
          </p:cNvPr>
          <p:cNvSpPr/>
          <p:nvPr/>
        </p:nvSpPr>
        <p:spPr>
          <a:xfrm>
            <a:off x="4432030" y="3645024"/>
            <a:ext cx="3139482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系统贴合高校宿舍报修实际场景，线上报修、派单、评价，进度透明，统计报表方便后勤管理，有效替代低效人工登记，实用性强。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14CBB3-A7C2-35C6-CEC3-BA75D06F392A}"/>
              </a:ext>
            </a:extLst>
          </p:cNvPr>
          <p:cNvSpPr/>
          <p:nvPr/>
        </p:nvSpPr>
        <p:spPr>
          <a:xfrm>
            <a:off x="8136694" y="3645024"/>
            <a:ext cx="3139482" cy="2346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后续计划引入缓存优化数据库查询效率，开发智能派单功能，深化多维度报修数据分析与报表导出能力。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ebook_274884">
            <a:extLst>
              <a:ext uri="{FF2B5EF4-FFF2-40B4-BE49-F238E27FC236}">
                <a16:creationId xmlns:a16="http://schemas.microsoft.com/office/drawing/2014/main" id="{7A337B51-2FC8-1A3C-4EC7-AE711BA73257}"/>
              </a:ext>
            </a:extLst>
          </p:cNvPr>
          <p:cNvSpPr>
            <a:spLocks noChangeAspect="1"/>
          </p:cNvSpPr>
          <p:nvPr/>
        </p:nvSpPr>
        <p:spPr bwMode="auto">
          <a:xfrm>
            <a:off x="4386945" y="2513597"/>
            <a:ext cx="317089" cy="237339"/>
          </a:xfrm>
          <a:custGeom>
            <a:avLst/>
            <a:gdLst>
              <a:gd name="connsiteX0" fmla="*/ 446710 w 607639"/>
              <a:gd name="connsiteY0" fmla="*/ 256866 h 420993"/>
              <a:gd name="connsiteX1" fmla="*/ 364838 w 607639"/>
              <a:gd name="connsiteY1" fmla="*/ 267065 h 420993"/>
              <a:gd name="connsiteX2" fmla="*/ 373738 w 607639"/>
              <a:gd name="connsiteY2" fmla="*/ 301992 h 420993"/>
              <a:gd name="connsiteX3" fmla="*/ 519615 w 607639"/>
              <a:gd name="connsiteY3" fmla="*/ 301992 h 420993"/>
              <a:gd name="connsiteX4" fmla="*/ 528515 w 607639"/>
              <a:gd name="connsiteY4" fmla="*/ 267065 h 420993"/>
              <a:gd name="connsiteX5" fmla="*/ 446710 w 607639"/>
              <a:gd name="connsiteY5" fmla="*/ 256866 h 420993"/>
              <a:gd name="connsiteX6" fmla="*/ 160918 w 607639"/>
              <a:gd name="connsiteY6" fmla="*/ 256866 h 420993"/>
              <a:gd name="connsiteX7" fmla="*/ 79035 w 607639"/>
              <a:gd name="connsiteY7" fmla="*/ 267065 h 420993"/>
              <a:gd name="connsiteX8" fmla="*/ 87936 w 607639"/>
              <a:gd name="connsiteY8" fmla="*/ 301992 h 420993"/>
              <a:gd name="connsiteX9" fmla="*/ 233901 w 607639"/>
              <a:gd name="connsiteY9" fmla="*/ 301992 h 420993"/>
              <a:gd name="connsiteX10" fmla="*/ 242801 w 607639"/>
              <a:gd name="connsiteY10" fmla="*/ 267065 h 420993"/>
              <a:gd name="connsiteX11" fmla="*/ 160918 w 607639"/>
              <a:gd name="connsiteY11" fmla="*/ 256866 h 420993"/>
              <a:gd name="connsiteX12" fmla="*/ 446710 w 607639"/>
              <a:gd name="connsiteY12" fmla="*/ 194922 h 420993"/>
              <a:gd name="connsiteX13" fmla="*/ 364838 w 607639"/>
              <a:gd name="connsiteY13" fmla="*/ 205120 h 420993"/>
              <a:gd name="connsiteX14" fmla="*/ 373738 w 607639"/>
              <a:gd name="connsiteY14" fmla="*/ 240047 h 420993"/>
              <a:gd name="connsiteX15" fmla="*/ 519615 w 607639"/>
              <a:gd name="connsiteY15" fmla="*/ 240047 h 420993"/>
              <a:gd name="connsiteX16" fmla="*/ 528515 w 607639"/>
              <a:gd name="connsiteY16" fmla="*/ 205120 h 420993"/>
              <a:gd name="connsiteX17" fmla="*/ 446710 w 607639"/>
              <a:gd name="connsiteY17" fmla="*/ 194922 h 420993"/>
              <a:gd name="connsiteX18" fmla="*/ 160918 w 607639"/>
              <a:gd name="connsiteY18" fmla="*/ 194922 h 420993"/>
              <a:gd name="connsiteX19" fmla="*/ 79035 w 607639"/>
              <a:gd name="connsiteY19" fmla="*/ 205120 h 420993"/>
              <a:gd name="connsiteX20" fmla="*/ 87936 w 607639"/>
              <a:gd name="connsiteY20" fmla="*/ 240047 h 420993"/>
              <a:gd name="connsiteX21" fmla="*/ 233901 w 607639"/>
              <a:gd name="connsiteY21" fmla="*/ 240047 h 420993"/>
              <a:gd name="connsiteX22" fmla="*/ 242801 w 607639"/>
              <a:gd name="connsiteY22" fmla="*/ 205120 h 420993"/>
              <a:gd name="connsiteX23" fmla="*/ 160918 w 607639"/>
              <a:gd name="connsiteY23" fmla="*/ 194922 h 420993"/>
              <a:gd name="connsiteX24" fmla="*/ 446710 w 607639"/>
              <a:gd name="connsiteY24" fmla="*/ 132888 h 420993"/>
              <a:gd name="connsiteX25" fmla="*/ 364838 w 607639"/>
              <a:gd name="connsiteY25" fmla="*/ 143086 h 420993"/>
              <a:gd name="connsiteX26" fmla="*/ 373738 w 607639"/>
              <a:gd name="connsiteY26" fmla="*/ 178013 h 420993"/>
              <a:gd name="connsiteX27" fmla="*/ 519615 w 607639"/>
              <a:gd name="connsiteY27" fmla="*/ 178013 h 420993"/>
              <a:gd name="connsiteX28" fmla="*/ 528515 w 607639"/>
              <a:gd name="connsiteY28" fmla="*/ 143086 h 420993"/>
              <a:gd name="connsiteX29" fmla="*/ 446710 w 607639"/>
              <a:gd name="connsiteY29" fmla="*/ 132888 h 420993"/>
              <a:gd name="connsiteX30" fmla="*/ 160918 w 607639"/>
              <a:gd name="connsiteY30" fmla="*/ 132888 h 420993"/>
              <a:gd name="connsiteX31" fmla="*/ 79035 w 607639"/>
              <a:gd name="connsiteY31" fmla="*/ 143086 h 420993"/>
              <a:gd name="connsiteX32" fmla="*/ 87936 w 607639"/>
              <a:gd name="connsiteY32" fmla="*/ 178013 h 420993"/>
              <a:gd name="connsiteX33" fmla="*/ 233901 w 607639"/>
              <a:gd name="connsiteY33" fmla="*/ 178013 h 420993"/>
              <a:gd name="connsiteX34" fmla="*/ 242801 w 607639"/>
              <a:gd name="connsiteY34" fmla="*/ 143086 h 420993"/>
              <a:gd name="connsiteX35" fmla="*/ 160918 w 607639"/>
              <a:gd name="connsiteY35" fmla="*/ 132888 h 420993"/>
              <a:gd name="connsiteX36" fmla="*/ 446710 w 607639"/>
              <a:gd name="connsiteY36" fmla="*/ 70854 h 420993"/>
              <a:gd name="connsiteX37" fmla="*/ 364838 w 607639"/>
              <a:gd name="connsiteY37" fmla="*/ 81053 h 420993"/>
              <a:gd name="connsiteX38" fmla="*/ 373738 w 607639"/>
              <a:gd name="connsiteY38" fmla="*/ 115980 h 420993"/>
              <a:gd name="connsiteX39" fmla="*/ 519615 w 607639"/>
              <a:gd name="connsiteY39" fmla="*/ 115980 h 420993"/>
              <a:gd name="connsiteX40" fmla="*/ 528515 w 607639"/>
              <a:gd name="connsiteY40" fmla="*/ 81053 h 420993"/>
              <a:gd name="connsiteX41" fmla="*/ 446710 w 607639"/>
              <a:gd name="connsiteY41" fmla="*/ 70854 h 420993"/>
              <a:gd name="connsiteX42" fmla="*/ 160918 w 607639"/>
              <a:gd name="connsiteY42" fmla="*/ 70854 h 420993"/>
              <a:gd name="connsiteX43" fmla="*/ 79035 w 607639"/>
              <a:gd name="connsiteY43" fmla="*/ 81053 h 420993"/>
              <a:gd name="connsiteX44" fmla="*/ 87936 w 607639"/>
              <a:gd name="connsiteY44" fmla="*/ 115980 h 420993"/>
              <a:gd name="connsiteX45" fmla="*/ 233901 w 607639"/>
              <a:gd name="connsiteY45" fmla="*/ 115980 h 420993"/>
              <a:gd name="connsiteX46" fmla="*/ 242801 w 607639"/>
              <a:gd name="connsiteY46" fmla="*/ 81053 h 420993"/>
              <a:gd name="connsiteX47" fmla="*/ 160918 w 607639"/>
              <a:gd name="connsiteY47" fmla="*/ 70854 h 420993"/>
              <a:gd name="connsiteX48" fmla="*/ 446721 w 607639"/>
              <a:gd name="connsiteY48" fmla="*/ 0 h 420993"/>
              <a:gd name="connsiteX49" fmla="*/ 597760 w 607639"/>
              <a:gd name="connsiteY49" fmla="*/ 36349 h 420993"/>
              <a:gd name="connsiteX50" fmla="*/ 607639 w 607639"/>
              <a:gd name="connsiteY50" fmla="*/ 41415 h 420993"/>
              <a:gd name="connsiteX51" fmla="*/ 607639 w 607639"/>
              <a:gd name="connsiteY51" fmla="*/ 420993 h 420993"/>
              <a:gd name="connsiteX52" fmla="*/ 581294 w 607639"/>
              <a:gd name="connsiteY52" fmla="*/ 407484 h 420993"/>
              <a:gd name="connsiteX53" fmla="*/ 446721 w 607639"/>
              <a:gd name="connsiteY53" fmla="*/ 375134 h 420993"/>
              <a:gd name="connsiteX54" fmla="*/ 321849 w 607639"/>
              <a:gd name="connsiteY54" fmla="*/ 402774 h 420993"/>
              <a:gd name="connsiteX55" fmla="*/ 321849 w 607639"/>
              <a:gd name="connsiteY55" fmla="*/ 24351 h 420993"/>
              <a:gd name="connsiteX56" fmla="*/ 446721 w 607639"/>
              <a:gd name="connsiteY56" fmla="*/ 0 h 420993"/>
              <a:gd name="connsiteX57" fmla="*/ 160918 w 607639"/>
              <a:gd name="connsiteY57" fmla="*/ 0 h 420993"/>
              <a:gd name="connsiteX58" fmla="*/ 285790 w 607639"/>
              <a:gd name="connsiteY58" fmla="*/ 24351 h 420993"/>
              <a:gd name="connsiteX59" fmla="*/ 285790 w 607639"/>
              <a:gd name="connsiteY59" fmla="*/ 402774 h 420993"/>
              <a:gd name="connsiteX60" fmla="*/ 160918 w 607639"/>
              <a:gd name="connsiteY60" fmla="*/ 375134 h 420993"/>
              <a:gd name="connsiteX61" fmla="*/ 26256 w 607639"/>
              <a:gd name="connsiteY61" fmla="*/ 407484 h 420993"/>
              <a:gd name="connsiteX62" fmla="*/ 0 w 607639"/>
              <a:gd name="connsiteY62" fmla="*/ 420993 h 420993"/>
              <a:gd name="connsiteX63" fmla="*/ 0 w 607639"/>
              <a:gd name="connsiteY63" fmla="*/ 41415 h 420993"/>
              <a:gd name="connsiteX64" fmla="*/ 9791 w 607639"/>
              <a:gd name="connsiteY64" fmla="*/ 36349 h 420993"/>
              <a:gd name="connsiteX65" fmla="*/ 160918 w 607639"/>
              <a:gd name="connsiteY65" fmla="*/ 0 h 42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420993">
                <a:moveTo>
                  <a:pt x="446710" y="256866"/>
                </a:moveTo>
                <a:cubicBezTo>
                  <a:pt x="419174" y="256866"/>
                  <a:pt x="391628" y="260266"/>
                  <a:pt x="364838" y="267065"/>
                </a:cubicBezTo>
                <a:lnTo>
                  <a:pt x="373738" y="301992"/>
                </a:lnTo>
                <a:cubicBezTo>
                  <a:pt x="421444" y="289905"/>
                  <a:pt x="471909" y="289905"/>
                  <a:pt x="519615" y="301992"/>
                </a:cubicBezTo>
                <a:lnTo>
                  <a:pt x="528515" y="267065"/>
                </a:lnTo>
                <a:cubicBezTo>
                  <a:pt x="501770" y="260266"/>
                  <a:pt x="474245" y="256866"/>
                  <a:pt x="446710" y="256866"/>
                </a:cubicBezTo>
                <a:close/>
                <a:moveTo>
                  <a:pt x="160918" y="256866"/>
                </a:moveTo>
                <a:cubicBezTo>
                  <a:pt x="133372" y="256866"/>
                  <a:pt x="105825" y="260266"/>
                  <a:pt x="79035" y="267065"/>
                </a:cubicBezTo>
                <a:lnTo>
                  <a:pt x="87936" y="301992"/>
                </a:lnTo>
                <a:cubicBezTo>
                  <a:pt x="135730" y="289905"/>
                  <a:pt x="186106" y="289905"/>
                  <a:pt x="233901" y="301992"/>
                </a:cubicBezTo>
                <a:lnTo>
                  <a:pt x="242801" y="267065"/>
                </a:lnTo>
                <a:cubicBezTo>
                  <a:pt x="216011" y="260266"/>
                  <a:pt x="188465" y="256866"/>
                  <a:pt x="160918" y="256866"/>
                </a:cubicBezTo>
                <a:close/>
                <a:moveTo>
                  <a:pt x="446710" y="194922"/>
                </a:moveTo>
                <a:cubicBezTo>
                  <a:pt x="419174" y="194922"/>
                  <a:pt x="391628" y="198321"/>
                  <a:pt x="364838" y="205120"/>
                </a:cubicBezTo>
                <a:lnTo>
                  <a:pt x="373738" y="240047"/>
                </a:lnTo>
                <a:cubicBezTo>
                  <a:pt x="421444" y="227871"/>
                  <a:pt x="471909" y="227871"/>
                  <a:pt x="519615" y="240047"/>
                </a:cubicBezTo>
                <a:lnTo>
                  <a:pt x="528515" y="205120"/>
                </a:lnTo>
                <a:cubicBezTo>
                  <a:pt x="501770" y="198321"/>
                  <a:pt x="474245" y="194922"/>
                  <a:pt x="446710" y="194922"/>
                </a:cubicBezTo>
                <a:close/>
                <a:moveTo>
                  <a:pt x="160918" y="194922"/>
                </a:moveTo>
                <a:cubicBezTo>
                  <a:pt x="133372" y="194922"/>
                  <a:pt x="105825" y="198321"/>
                  <a:pt x="79035" y="205120"/>
                </a:cubicBezTo>
                <a:lnTo>
                  <a:pt x="87936" y="240047"/>
                </a:lnTo>
                <a:cubicBezTo>
                  <a:pt x="135730" y="227871"/>
                  <a:pt x="186106" y="227871"/>
                  <a:pt x="233901" y="240047"/>
                </a:cubicBezTo>
                <a:lnTo>
                  <a:pt x="242801" y="205120"/>
                </a:lnTo>
                <a:cubicBezTo>
                  <a:pt x="216011" y="198321"/>
                  <a:pt x="188465" y="194922"/>
                  <a:pt x="160918" y="194922"/>
                </a:cubicBezTo>
                <a:close/>
                <a:moveTo>
                  <a:pt x="446710" y="132888"/>
                </a:moveTo>
                <a:cubicBezTo>
                  <a:pt x="419174" y="132888"/>
                  <a:pt x="391628" y="136287"/>
                  <a:pt x="364838" y="143086"/>
                </a:cubicBezTo>
                <a:lnTo>
                  <a:pt x="373738" y="178013"/>
                </a:lnTo>
                <a:cubicBezTo>
                  <a:pt x="421444" y="165927"/>
                  <a:pt x="471909" y="165927"/>
                  <a:pt x="519615" y="178013"/>
                </a:cubicBezTo>
                <a:lnTo>
                  <a:pt x="528515" y="143086"/>
                </a:lnTo>
                <a:cubicBezTo>
                  <a:pt x="501770" y="136287"/>
                  <a:pt x="474245" y="132888"/>
                  <a:pt x="446710" y="132888"/>
                </a:cubicBezTo>
                <a:close/>
                <a:moveTo>
                  <a:pt x="160918" y="132888"/>
                </a:moveTo>
                <a:cubicBezTo>
                  <a:pt x="133372" y="132888"/>
                  <a:pt x="105825" y="136287"/>
                  <a:pt x="79035" y="143086"/>
                </a:cubicBezTo>
                <a:lnTo>
                  <a:pt x="87936" y="178013"/>
                </a:lnTo>
                <a:cubicBezTo>
                  <a:pt x="135730" y="165927"/>
                  <a:pt x="186106" y="165927"/>
                  <a:pt x="233901" y="178013"/>
                </a:cubicBezTo>
                <a:lnTo>
                  <a:pt x="242801" y="143086"/>
                </a:lnTo>
                <a:cubicBezTo>
                  <a:pt x="216011" y="136287"/>
                  <a:pt x="188465" y="132888"/>
                  <a:pt x="160918" y="132888"/>
                </a:cubicBezTo>
                <a:close/>
                <a:moveTo>
                  <a:pt x="446710" y="70854"/>
                </a:moveTo>
                <a:cubicBezTo>
                  <a:pt x="419174" y="70854"/>
                  <a:pt x="391628" y="74254"/>
                  <a:pt x="364838" y="81053"/>
                </a:cubicBezTo>
                <a:lnTo>
                  <a:pt x="373738" y="115980"/>
                </a:lnTo>
                <a:cubicBezTo>
                  <a:pt x="421444" y="103893"/>
                  <a:pt x="471909" y="103893"/>
                  <a:pt x="519615" y="115980"/>
                </a:cubicBezTo>
                <a:lnTo>
                  <a:pt x="528515" y="81053"/>
                </a:lnTo>
                <a:cubicBezTo>
                  <a:pt x="501770" y="74254"/>
                  <a:pt x="474245" y="70854"/>
                  <a:pt x="446710" y="70854"/>
                </a:cubicBezTo>
                <a:close/>
                <a:moveTo>
                  <a:pt x="160918" y="70854"/>
                </a:moveTo>
                <a:cubicBezTo>
                  <a:pt x="133372" y="70854"/>
                  <a:pt x="105825" y="74254"/>
                  <a:pt x="79035" y="81053"/>
                </a:cubicBezTo>
                <a:lnTo>
                  <a:pt x="87936" y="115980"/>
                </a:lnTo>
                <a:cubicBezTo>
                  <a:pt x="135730" y="103893"/>
                  <a:pt x="186106" y="103893"/>
                  <a:pt x="233901" y="115980"/>
                </a:cubicBezTo>
                <a:lnTo>
                  <a:pt x="242801" y="81053"/>
                </a:lnTo>
                <a:cubicBezTo>
                  <a:pt x="216011" y="74254"/>
                  <a:pt x="188465" y="70854"/>
                  <a:pt x="160918" y="70854"/>
                </a:cubicBezTo>
                <a:close/>
                <a:moveTo>
                  <a:pt x="446721" y="0"/>
                </a:moveTo>
                <a:cubicBezTo>
                  <a:pt x="498966" y="0"/>
                  <a:pt x="551211" y="12620"/>
                  <a:pt x="597760" y="36349"/>
                </a:cubicBezTo>
                <a:lnTo>
                  <a:pt x="607639" y="41415"/>
                </a:lnTo>
                <a:lnTo>
                  <a:pt x="607639" y="420993"/>
                </a:lnTo>
                <a:lnTo>
                  <a:pt x="581294" y="407484"/>
                </a:lnTo>
                <a:cubicBezTo>
                  <a:pt x="539908" y="386333"/>
                  <a:pt x="493270" y="375134"/>
                  <a:pt x="446721" y="375134"/>
                </a:cubicBezTo>
                <a:cubicBezTo>
                  <a:pt x="403732" y="375134"/>
                  <a:pt x="360833" y="384644"/>
                  <a:pt x="321849" y="402774"/>
                </a:cubicBezTo>
                <a:lnTo>
                  <a:pt x="321849" y="24351"/>
                </a:lnTo>
                <a:cubicBezTo>
                  <a:pt x="361367" y="8354"/>
                  <a:pt x="403999" y="0"/>
                  <a:pt x="446721" y="0"/>
                </a:cubicBezTo>
                <a:close/>
                <a:moveTo>
                  <a:pt x="160918" y="0"/>
                </a:moveTo>
                <a:cubicBezTo>
                  <a:pt x="203640" y="0"/>
                  <a:pt x="246273" y="8354"/>
                  <a:pt x="285790" y="24351"/>
                </a:cubicBezTo>
                <a:lnTo>
                  <a:pt x="285790" y="402774"/>
                </a:lnTo>
                <a:cubicBezTo>
                  <a:pt x="246807" y="384644"/>
                  <a:pt x="203907" y="375134"/>
                  <a:pt x="160918" y="375134"/>
                </a:cubicBezTo>
                <a:cubicBezTo>
                  <a:pt x="114281" y="375134"/>
                  <a:pt x="67732" y="386333"/>
                  <a:pt x="26256" y="407484"/>
                </a:cubicBezTo>
                <a:lnTo>
                  <a:pt x="0" y="420993"/>
                </a:lnTo>
                <a:lnTo>
                  <a:pt x="0" y="41415"/>
                </a:lnTo>
                <a:lnTo>
                  <a:pt x="9791" y="36349"/>
                </a:lnTo>
                <a:cubicBezTo>
                  <a:pt x="56339" y="12620"/>
                  <a:pt x="108584" y="0"/>
                  <a:pt x="1609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pic>
        <p:nvPicPr>
          <p:cNvPr id="25" name="图形 24" descr="握手">
            <a:extLst>
              <a:ext uri="{FF2B5EF4-FFF2-40B4-BE49-F238E27FC236}">
                <a16:creationId xmlns:a16="http://schemas.microsoft.com/office/drawing/2014/main" id="{1B93114E-090A-985D-41B2-E99EC3292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5994" y="2445593"/>
            <a:ext cx="450436" cy="450436"/>
          </a:xfrm>
          <a:prstGeom prst="rect">
            <a:avLst/>
          </a:prstGeom>
        </p:spPr>
      </p:pic>
      <p:pic>
        <p:nvPicPr>
          <p:cNvPr id="26" name="图形 25" descr="黑板">
            <a:extLst>
              <a:ext uri="{FF2B5EF4-FFF2-40B4-BE49-F238E27FC236}">
                <a16:creationId xmlns:a16="http://schemas.microsoft.com/office/drawing/2014/main" id="{068DF89B-D5D9-4B32-23F4-D3948BC0175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561" y="2457532"/>
            <a:ext cx="369392" cy="369392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2EA411D-727E-1075-AAEF-54DA4DABCF30}"/>
              </a:ext>
            </a:extLst>
          </p:cNvPr>
          <p:cNvGrpSpPr/>
          <p:nvPr/>
        </p:nvGrpSpPr>
        <p:grpSpPr>
          <a:xfrm>
            <a:off x="-240704" y="246620"/>
            <a:ext cx="3672408" cy="806116"/>
            <a:chOff x="-240704" y="246620"/>
            <a:chExt cx="3456384" cy="734108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1F612FDE-3CB0-08EC-533C-A889DCD0BE7F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4C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 Light" panose="020B0502040204020203" pitchFamily="34" charset="-122"/>
                <a:cs typeface="+mn-cs"/>
              </a:endParaRPr>
            </a:p>
          </p:txBody>
        </p:sp>
        <p:sp>
          <p:nvSpPr>
            <p:cNvPr id="28" name="文本占位符 3">
              <a:extLst>
                <a:ext uri="{FF2B5EF4-FFF2-40B4-BE49-F238E27FC236}">
                  <a16:creationId xmlns:a16="http://schemas.microsoft.com/office/drawing/2014/main" id="{55F80FD6-8B27-7F2A-3551-3E76A1380326}"/>
                </a:ext>
              </a:extLst>
            </p:cNvPr>
            <p:cNvSpPr txBox="1"/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总结</a:t>
              </a:r>
            </a:p>
          </p:txBody>
        </p:sp>
      </p:grp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90F1C30-3F1C-4AC9-A1EC-84678163925A}"/>
              </a:ext>
            </a:extLst>
          </p:cNvPr>
          <p:cNvSpPr/>
          <p:nvPr/>
        </p:nvSpPr>
        <p:spPr>
          <a:xfrm>
            <a:off x="579348" y="1089985"/>
            <a:ext cx="11222282" cy="11856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err="1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DormFix</a:t>
            </a: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宿舍报修系统实现报修提交、审核派单、维修处理、评价反馈等核心功能，注重安全性、可追溯性与用户体验，有效解决了传统报修方式效率低、信息不透明等问题。</a:t>
            </a:r>
          </a:p>
        </p:txBody>
      </p:sp>
    </p:spTree>
    <p:extLst>
      <p:ext uri="{BB962C8B-B14F-4D97-AF65-F5344CB8AC3E}">
        <p14:creationId xmlns:p14="http://schemas.microsoft.com/office/powerpoint/2010/main" val="194971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2EEA-0DFF-FB2F-5EAB-FECD00C7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360MoveData\Users\xiaoxiao\Desktop\微信图片_20230609200901.png微信图片_20230609200901">
            <a:extLst>
              <a:ext uri="{FF2B5EF4-FFF2-40B4-BE49-F238E27FC236}">
                <a16:creationId xmlns:a16="http://schemas.microsoft.com/office/drawing/2014/main" id="{E085CE72-A739-EDC4-7466-8B0F74A87C4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t="25402" b="15531"/>
          <a:stretch>
            <a:fillRect/>
          </a:stretch>
        </p:blipFill>
        <p:spPr>
          <a:xfrm>
            <a:off x="0" y="0"/>
            <a:ext cx="12178030" cy="3604895"/>
          </a:xfrm>
          <a:custGeom>
            <a:avLst/>
            <a:gdLst>
              <a:gd name="connsiteX0" fmla="*/ 0 w 12192000"/>
              <a:gd name="connsiteY0" fmla="*/ 0 h 3573014"/>
              <a:gd name="connsiteX1" fmla="*/ 12192000 w 12192000"/>
              <a:gd name="connsiteY1" fmla="*/ 0 h 3573014"/>
              <a:gd name="connsiteX2" fmla="*/ 12192000 w 12192000"/>
              <a:gd name="connsiteY2" fmla="*/ 1792365 h 3573014"/>
              <a:gd name="connsiteX3" fmla="*/ 12053358 w 12192000"/>
              <a:gd name="connsiteY3" fmla="*/ 1912035 h 3573014"/>
              <a:gd name="connsiteX4" fmla="*/ 6096000 w 12192000"/>
              <a:gd name="connsiteY4" fmla="*/ 3573014 h 3573014"/>
              <a:gd name="connsiteX5" fmla="*/ 138643 w 12192000"/>
              <a:gd name="connsiteY5" fmla="*/ 1912035 h 3573014"/>
              <a:gd name="connsiteX6" fmla="*/ 0 w 12192000"/>
              <a:gd name="connsiteY6" fmla="*/ 1792365 h 357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573014">
                <a:moveTo>
                  <a:pt x="0" y="0"/>
                </a:moveTo>
                <a:lnTo>
                  <a:pt x="12192000" y="0"/>
                </a:lnTo>
                <a:lnTo>
                  <a:pt x="12192000" y="1792365"/>
                </a:lnTo>
                <a:lnTo>
                  <a:pt x="12053358" y="1912035"/>
                </a:lnTo>
                <a:cubicBezTo>
                  <a:pt x="10762282" y="2914151"/>
                  <a:pt x="8575872" y="3573014"/>
                  <a:pt x="6096000" y="3573014"/>
                </a:cubicBezTo>
                <a:cubicBezTo>
                  <a:pt x="3616128" y="3573014"/>
                  <a:pt x="1429718" y="2914151"/>
                  <a:pt x="138643" y="1912035"/>
                </a:cubicBezTo>
                <a:lnTo>
                  <a:pt x="0" y="1792365"/>
                </a:lnTo>
                <a:close/>
              </a:path>
            </a:pathLst>
          </a:custGeom>
        </p:spPr>
      </p:pic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192B0FA0-3ABB-CFEE-FCBD-72E03FE8E27B}"/>
              </a:ext>
            </a:extLst>
          </p:cNvPr>
          <p:cNvSpPr/>
          <p:nvPr/>
        </p:nvSpPr>
        <p:spPr>
          <a:xfrm>
            <a:off x="19050" y="635"/>
            <a:ext cx="12176760" cy="3702685"/>
          </a:xfrm>
          <a:custGeom>
            <a:avLst/>
            <a:gdLst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104640">
                <a:moveTo>
                  <a:pt x="0" y="0"/>
                </a:moveTo>
                <a:lnTo>
                  <a:pt x="12192000" y="0"/>
                </a:lnTo>
                <a:lnTo>
                  <a:pt x="12192000" y="2059049"/>
                </a:lnTo>
                <a:lnTo>
                  <a:pt x="12053358" y="2196525"/>
                </a:lnTo>
                <a:cubicBezTo>
                  <a:pt x="10762282" y="3347745"/>
                  <a:pt x="8575872" y="4104640"/>
                  <a:pt x="6096000" y="4104640"/>
                </a:cubicBezTo>
                <a:cubicBezTo>
                  <a:pt x="3616128" y="4104640"/>
                  <a:pt x="1429718" y="3347745"/>
                  <a:pt x="138643" y="2196525"/>
                </a:cubicBezTo>
                <a:lnTo>
                  <a:pt x="0" y="205904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2EE63BCF-7AD5-93F1-D031-4C6F1CB52BC5}"/>
              </a:ext>
            </a:extLst>
          </p:cNvPr>
          <p:cNvSpPr/>
          <p:nvPr/>
        </p:nvSpPr>
        <p:spPr>
          <a:xfrm>
            <a:off x="0" y="1533191"/>
            <a:ext cx="12192000" cy="1869044"/>
          </a:xfrm>
          <a:custGeom>
            <a:avLst/>
            <a:gdLst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0-1" fmla="*/ 0 w 12192000"/>
              <a:gd name="connsiteY0-2" fmla="*/ 0 h 4104640"/>
              <a:gd name="connsiteX1-3" fmla="*/ 12192000 w 12192000"/>
              <a:gd name="connsiteY1-4" fmla="*/ 0 h 4104640"/>
              <a:gd name="connsiteX2-5" fmla="*/ 12192000 w 12192000"/>
              <a:gd name="connsiteY2-6" fmla="*/ 2059049 h 4104640"/>
              <a:gd name="connsiteX3-7" fmla="*/ 12053358 w 12192000"/>
              <a:gd name="connsiteY3-8" fmla="*/ 2196525 h 4104640"/>
              <a:gd name="connsiteX4-9" fmla="*/ 6096000 w 12192000"/>
              <a:gd name="connsiteY4-10" fmla="*/ 4104640 h 4104640"/>
              <a:gd name="connsiteX5-11" fmla="*/ 138643 w 12192000"/>
              <a:gd name="connsiteY5-12" fmla="*/ 2196525 h 4104640"/>
              <a:gd name="connsiteX6-13" fmla="*/ 0 w 12192000"/>
              <a:gd name="connsiteY6-14" fmla="*/ 2059049 h 4104640"/>
              <a:gd name="connsiteX7" fmla="*/ 91440 w 12192000"/>
              <a:gd name="connsiteY7" fmla="*/ 87904 h 4104640"/>
              <a:gd name="connsiteX0-15" fmla="*/ 0 w 12192000"/>
              <a:gd name="connsiteY0-16" fmla="*/ 0 h 4104640"/>
              <a:gd name="connsiteX1-17" fmla="*/ 12192000 w 12192000"/>
              <a:gd name="connsiteY1-18" fmla="*/ 0 h 4104640"/>
              <a:gd name="connsiteX2-19" fmla="*/ 12192000 w 12192000"/>
              <a:gd name="connsiteY2-20" fmla="*/ 2059049 h 4104640"/>
              <a:gd name="connsiteX3-21" fmla="*/ 12053358 w 12192000"/>
              <a:gd name="connsiteY3-22" fmla="*/ 2196525 h 4104640"/>
              <a:gd name="connsiteX4-23" fmla="*/ 6096000 w 12192000"/>
              <a:gd name="connsiteY4-24" fmla="*/ 4104640 h 4104640"/>
              <a:gd name="connsiteX5-25" fmla="*/ 138643 w 12192000"/>
              <a:gd name="connsiteY5-26" fmla="*/ 2196525 h 4104640"/>
              <a:gd name="connsiteX6-27" fmla="*/ 0 w 12192000"/>
              <a:gd name="connsiteY6-28" fmla="*/ 2059049 h 4104640"/>
              <a:gd name="connsiteX0-29" fmla="*/ 0 w 12192000"/>
              <a:gd name="connsiteY0-30" fmla="*/ 0 h 4104640"/>
              <a:gd name="connsiteX1-31" fmla="*/ 12192000 w 12192000"/>
              <a:gd name="connsiteY1-32" fmla="*/ 2059049 h 4104640"/>
              <a:gd name="connsiteX2-33" fmla="*/ 12053358 w 12192000"/>
              <a:gd name="connsiteY2-34" fmla="*/ 2196525 h 4104640"/>
              <a:gd name="connsiteX3-35" fmla="*/ 6096000 w 12192000"/>
              <a:gd name="connsiteY3-36" fmla="*/ 4104640 h 4104640"/>
              <a:gd name="connsiteX4-37" fmla="*/ 138643 w 12192000"/>
              <a:gd name="connsiteY4-38" fmla="*/ 2196525 h 4104640"/>
              <a:gd name="connsiteX5-39" fmla="*/ 0 w 12192000"/>
              <a:gd name="connsiteY5-40" fmla="*/ 2059049 h 4104640"/>
              <a:gd name="connsiteX0-41" fmla="*/ 12192000 w 12192000"/>
              <a:gd name="connsiteY0-42" fmla="*/ 0 h 2045591"/>
              <a:gd name="connsiteX1-43" fmla="*/ 12053358 w 12192000"/>
              <a:gd name="connsiteY1-44" fmla="*/ 137476 h 2045591"/>
              <a:gd name="connsiteX2-45" fmla="*/ 6096000 w 12192000"/>
              <a:gd name="connsiteY2-46" fmla="*/ 2045591 h 2045591"/>
              <a:gd name="connsiteX3-47" fmla="*/ 138643 w 12192000"/>
              <a:gd name="connsiteY3-48" fmla="*/ 137476 h 2045591"/>
              <a:gd name="connsiteX4-49" fmla="*/ 0 w 12192000"/>
              <a:gd name="connsiteY4-50" fmla="*/ 0 h 2045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2045591">
                <a:moveTo>
                  <a:pt x="12192000" y="0"/>
                </a:moveTo>
                <a:lnTo>
                  <a:pt x="12053358" y="137476"/>
                </a:lnTo>
                <a:cubicBezTo>
                  <a:pt x="10762282" y="1288696"/>
                  <a:pt x="8575872" y="2045591"/>
                  <a:pt x="6096000" y="2045591"/>
                </a:cubicBezTo>
                <a:cubicBezTo>
                  <a:pt x="3616128" y="2045591"/>
                  <a:pt x="1429718" y="1288696"/>
                  <a:pt x="138643" y="137476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ECF3FE-2BF4-C97C-4104-66098BD34325}"/>
              </a:ext>
            </a:extLst>
          </p:cNvPr>
          <p:cNvSpPr txBox="1"/>
          <p:nvPr/>
        </p:nvSpPr>
        <p:spPr>
          <a:xfrm>
            <a:off x="676280" y="3866738"/>
            <a:ext cx="11008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8000" b="1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汇报结束 感谢垂听</a:t>
            </a:r>
            <a:r>
              <a:rPr lang="zh-CN" altLang="en-US" sz="8000" b="1" i="1" dirty="0">
                <a:solidFill>
                  <a:srgbClr val="034C9C"/>
                </a:solidFill>
                <a:latin typeface="微软雅黑" panose="020B0503020204020204" charset="-122"/>
                <a:ea typeface="微软雅黑" panose="020B0503020204020204" charset="-122"/>
              </a:rPr>
              <a:t>！</a:t>
            </a:r>
          </a:p>
        </p:txBody>
      </p:sp>
      <p:pic>
        <p:nvPicPr>
          <p:cNvPr id="6" name="图片 5" descr="D:\360MoveData\Users\xiaoxiao\Desktop\图片1.png图片1">
            <a:extLst>
              <a:ext uri="{FF2B5EF4-FFF2-40B4-BE49-F238E27FC236}">
                <a16:creationId xmlns:a16="http://schemas.microsoft.com/office/drawing/2014/main" id="{97B0FCEA-0F58-074D-5BB0-2288193AC06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/>
          <a:stretch>
            <a:fillRect/>
          </a:stretch>
        </p:blipFill>
        <p:spPr>
          <a:xfrm>
            <a:off x="3892868" y="1737995"/>
            <a:ext cx="4112260" cy="151257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675ECA0-6954-9C8C-CE79-601D92F0DF1E}"/>
              </a:ext>
            </a:extLst>
          </p:cNvPr>
          <p:cNvSpPr txBox="1"/>
          <p:nvPr/>
        </p:nvSpPr>
        <p:spPr>
          <a:xfrm>
            <a:off x="6816080" y="5358112"/>
            <a:ext cx="3672408" cy="91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48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</a:t>
            </a:r>
            <a:r>
              <a:rPr lang="zh-CN" altLang="en-US" sz="48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48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4800" b="1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小组</a:t>
            </a:r>
          </a:p>
        </p:txBody>
      </p:sp>
    </p:spTree>
    <p:extLst>
      <p:ext uri="{BB962C8B-B14F-4D97-AF65-F5344CB8AC3E}">
        <p14:creationId xmlns:p14="http://schemas.microsoft.com/office/powerpoint/2010/main" val="1202507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677a410-e558-42a0-bab5-7d1b81048dee"/>
  <p:tag name="COMMONDATA" val="eyJoZGlkIjoiZDk3OGIwOWUzZDQzMTYzNzEyZWFmZjBjYmIxOTViY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1329</Words>
  <Application>Microsoft Office PowerPoint</Application>
  <PresentationFormat>宽屏</PresentationFormat>
  <Paragraphs>154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等线</vt:lpstr>
      <vt:lpstr>管峻楷书简体</vt:lpstr>
      <vt:lpstr>黑体</vt:lpstr>
      <vt:lpstr>微软雅黑</vt:lpstr>
      <vt:lpstr>微软雅黑 Light</vt:lpstr>
      <vt:lpstr>Arial</vt:lpstr>
      <vt:lpstr>Calibri</vt:lpstr>
      <vt:lpstr>Segoe UI</vt:lpstr>
      <vt:lpstr>Segoe UI Black</vt:lpstr>
      <vt:lpstr>Segoe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锅炉爷爷</dc:creator>
  <cp:lastModifiedBy>ye he</cp:lastModifiedBy>
  <cp:revision>97</cp:revision>
  <dcterms:created xsi:type="dcterms:W3CDTF">2020-05-09T22:50:00Z</dcterms:created>
  <dcterms:modified xsi:type="dcterms:W3CDTF">2026-06-06T11:00:46Z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C0FCC16EC1284348B4C24E69053586C1_13</vt:lpwstr>
  </property>
  <property fmtid="{D5CDD505-2E9C-101B-9397-08002B2CF9AE}" pid="3" name="KSOProductBuildVer">
    <vt:lpwstr>2052-11.1.0.14309</vt:lpwstr>
  </property>
</Properties>
</file>