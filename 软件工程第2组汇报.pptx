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363" r:id="rId2"/>
    <p:sldId id="338" r:id="rId3"/>
    <p:sldId id="277" r:id="rId4"/>
    <p:sldId id="370" r:id="rId5"/>
    <p:sldId id="368" r:id="rId6"/>
    <p:sldId id="387" r:id="rId7"/>
    <p:sldId id="371" r:id="rId8"/>
    <p:sldId id="373" r:id="rId9"/>
    <p:sldId id="388" r:id="rId10"/>
    <p:sldId id="389" r:id="rId11"/>
    <p:sldId id="390" r:id="rId12"/>
    <p:sldId id="391" r:id="rId13"/>
    <p:sldId id="392" r:id="rId14"/>
    <p:sldId id="393" r:id="rId15"/>
    <p:sldId id="394" r:id="rId16"/>
    <p:sldId id="397" r:id="rId17"/>
    <p:sldId id="395" r:id="rId18"/>
    <p:sldId id="406" r:id="rId19"/>
    <p:sldId id="407" r:id="rId20"/>
    <p:sldId id="396" r:id="rId21"/>
    <p:sldId id="398" r:id="rId22"/>
    <p:sldId id="399" r:id="rId23"/>
    <p:sldId id="402" r:id="rId24"/>
    <p:sldId id="401" r:id="rId25"/>
    <p:sldId id="400" r:id="rId26"/>
    <p:sldId id="404" r:id="rId27"/>
    <p:sldId id="403" r:id="rId28"/>
    <p:sldId id="405" r:id="rId29"/>
  </p:sldIdLst>
  <p:sldSz cx="12192000" cy="6858000"/>
  <p:notesSz cx="6858000" cy="9144000"/>
  <p:custDataLst>
    <p:tags r:id="rId3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7" userDrawn="1">
          <p15:clr>
            <a:srgbClr val="A4A3A4"/>
          </p15:clr>
        </p15:guide>
        <p15:guide id="2" pos="389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付 庆娇" initials="付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浅色样式 1 - 强调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浅色样式 1 - 强调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26" autoAdjust="0"/>
  </p:normalViewPr>
  <p:slideViewPr>
    <p:cSldViewPr showGuides="1">
      <p:cViewPr varScale="1">
        <p:scale>
          <a:sx n="82" d="100"/>
          <a:sy n="82" d="100"/>
        </p:scale>
        <p:origin x="494" y="72"/>
      </p:cViewPr>
      <p:guideLst>
        <p:guide orient="horz" pos="2227"/>
        <p:guide pos="389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618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gs" Target="tags/tag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6A4318-65E8-4EBB-B31A-905932719CA3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1F6AFF-0606-4CAC-A8B7-B616D5DE6DC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1F6AFF-0606-4CAC-A8B7-B616D5DE6DCD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6" name="组合 5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7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8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9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0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2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3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4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3" name="矩形: 圆角 22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文本占位符 65"/>
          <p:cNvSpPr>
            <a:spLocks noGrp="1"/>
          </p:cNvSpPr>
          <p:nvPr userDrawn="1"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4" name="图片 23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图片占位符 13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97285" cy="6858000"/>
          </a:xfrm>
        </p:spPr>
        <p:txBody>
          <a:bodyPr/>
          <a:lstStyle/>
          <a:p>
            <a:endParaRPr lang="zh-CN" altLang="en-US"/>
          </a:p>
        </p:txBody>
      </p:sp>
      <p:grpSp>
        <p:nvGrpSpPr>
          <p:cNvPr id="19" name="组合 18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4056063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长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5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6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3" name="图片占位符 22"/>
          <p:cNvSpPr>
            <a:spLocks noGrp="1"/>
          </p:cNvSpPr>
          <p:nvPr>
            <p:ph type="pic" sz="quarter" idx="13"/>
          </p:nvPr>
        </p:nvSpPr>
        <p:spPr>
          <a:xfrm>
            <a:off x="660400" y="1130300"/>
            <a:ext cx="10858500" cy="2817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7" name="矩形: 圆角 66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7"/>
          <p:cNvSpPr>
            <a:spLocks noGrp="1"/>
          </p:cNvSpPr>
          <p:nvPr>
            <p:ph type="pic" sz="quarter" idx="13"/>
          </p:nvPr>
        </p:nvSpPr>
        <p:spPr>
          <a:xfrm>
            <a:off x="838200" y="1301750"/>
            <a:ext cx="5243513" cy="46704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23" name="组合 22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4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5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6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85" name="矩形: 圆角 84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36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8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9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0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1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2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3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4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5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6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7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8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9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18" name="图片占位符 16"/>
          <p:cNvSpPr>
            <a:spLocks noGrp="1"/>
          </p:cNvSpPr>
          <p:nvPr>
            <p:ph type="pic" sz="quarter" idx="14"/>
          </p:nvPr>
        </p:nvSpPr>
        <p:spPr>
          <a:xfrm>
            <a:off x="4698494" y="3681942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668338" y="1123950"/>
            <a:ext cx="6819900" cy="24415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5" name="矩形: 圆角 84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文本占位符 65"/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4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图片占位符 9"/>
          <p:cNvSpPr>
            <a:spLocks noGrp="1"/>
          </p:cNvSpPr>
          <p:nvPr>
            <p:ph type="pic" sz="quarter" idx="13"/>
          </p:nvPr>
        </p:nvSpPr>
        <p:spPr>
          <a:xfrm>
            <a:off x="661988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9"/>
          <p:cNvSpPr>
            <a:spLocks noGrp="1"/>
          </p:cNvSpPr>
          <p:nvPr>
            <p:ph type="pic" sz="quarter" idx="14"/>
          </p:nvPr>
        </p:nvSpPr>
        <p:spPr>
          <a:xfrm>
            <a:off x="4330561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9"/>
          <p:cNvSpPr>
            <a:spLocks noGrp="1"/>
          </p:cNvSpPr>
          <p:nvPr>
            <p:ph type="pic" sz="quarter" idx="15"/>
          </p:nvPr>
        </p:nvSpPr>
        <p:spPr>
          <a:xfrm>
            <a:off x="7999134" y="1139750"/>
            <a:ext cx="3517900" cy="27258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0" name="矩形: 圆角 119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文本占位符 65"/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四张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5"/>
          <p:cNvSpPr/>
          <p:nvPr userDrawn="1"/>
        </p:nvSpPr>
        <p:spPr>
          <a:xfrm>
            <a:off x="66040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66040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6151880" y="1130300"/>
            <a:ext cx="5367020" cy="24358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6151880" y="3734122"/>
            <a:ext cx="5367020" cy="239997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图片占位符 14"/>
          <p:cNvSpPr>
            <a:spLocks noGrp="1"/>
          </p:cNvSpPr>
          <p:nvPr>
            <p:ph type="pic" sz="quarter" idx="13"/>
          </p:nvPr>
        </p:nvSpPr>
        <p:spPr>
          <a:xfrm>
            <a:off x="952392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4"/>
          <p:cNvSpPr>
            <a:spLocks noGrp="1"/>
          </p:cNvSpPr>
          <p:nvPr>
            <p:ph type="pic" sz="quarter" idx="14"/>
          </p:nvPr>
        </p:nvSpPr>
        <p:spPr>
          <a:xfrm>
            <a:off x="6422971" y="1412875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4"/>
          <p:cNvSpPr>
            <a:spLocks noGrp="1"/>
          </p:cNvSpPr>
          <p:nvPr>
            <p:ph type="pic" sz="quarter" idx="15"/>
          </p:nvPr>
        </p:nvSpPr>
        <p:spPr>
          <a:xfrm>
            <a:off x="6422971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4"/>
          <p:cNvSpPr>
            <a:spLocks noGrp="1"/>
          </p:cNvSpPr>
          <p:nvPr>
            <p:ph type="pic" sz="quarter" idx="16"/>
          </p:nvPr>
        </p:nvSpPr>
        <p:spPr>
          <a:xfrm>
            <a:off x="952392" y="4000607"/>
            <a:ext cx="1867008" cy="186624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1" name="矩形: 圆角 80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占位符 65"/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单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6" name="组合 5"/>
          <p:cNvGrpSpPr/>
          <p:nvPr userDrawn="1"/>
        </p:nvGrpSpPr>
        <p:grpSpPr>
          <a:xfrm>
            <a:off x="399002" y="1086761"/>
            <a:ext cx="4957524" cy="4606485"/>
            <a:chOff x="703035" y="1086761"/>
            <a:chExt cx="4957524" cy="4606485"/>
          </a:xfrm>
        </p:grpSpPr>
        <p:sp>
          <p:nvSpPr>
            <p:cNvPr id="7" name="任意多边形: 形状 6"/>
            <p:cNvSpPr/>
            <p:nvPr/>
          </p:nvSpPr>
          <p:spPr>
            <a:xfrm rot="10015880">
              <a:off x="3385211" y="1086761"/>
              <a:ext cx="2275348" cy="4564647"/>
            </a:xfrm>
            <a:custGeom>
              <a:avLst/>
              <a:gdLst>
                <a:gd name="connsiteX0" fmla="*/ 2209501 w 2209501"/>
                <a:gd name="connsiteY0" fmla="*/ 0 h 4432548"/>
                <a:gd name="connsiteX1" fmla="*/ 2209501 w 2209501"/>
                <a:gd name="connsiteY1" fmla="*/ 4432548 h 4432548"/>
                <a:gd name="connsiteX2" fmla="*/ 1989997 w 2209501"/>
                <a:gd name="connsiteY2" fmla="*/ 4421464 h 4432548"/>
                <a:gd name="connsiteX3" fmla="*/ 0 w 2209501"/>
                <a:gd name="connsiteY3" fmla="*/ 2216274 h 4432548"/>
                <a:gd name="connsiteX4" fmla="*/ 1989997 w 2209501"/>
                <a:gd name="connsiteY4" fmla="*/ 11085 h 4432548"/>
                <a:gd name="connsiteX0-1" fmla="*/ 2209501 w 2211099"/>
                <a:gd name="connsiteY0-2" fmla="*/ 0 h 4432548"/>
                <a:gd name="connsiteX1-3" fmla="*/ 2211099 w 2211099"/>
                <a:gd name="connsiteY1-4" fmla="*/ 2248887 h 4432548"/>
                <a:gd name="connsiteX2-5" fmla="*/ 2209501 w 2211099"/>
                <a:gd name="connsiteY2-6" fmla="*/ 4432548 h 4432548"/>
                <a:gd name="connsiteX3-7" fmla="*/ 1989997 w 2211099"/>
                <a:gd name="connsiteY3-8" fmla="*/ 4421464 h 4432548"/>
                <a:gd name="connsiteX4-9" fmla="*/ 0 w 2211099"/>
                <a:gd name="connsiteY4-10" fmla="*/ 2216274 h 4432548"/>
                <a:gd name="connsiteX5" fmla="*/ 1989997 w 2211099"/>
                <a:gd name="connsiteY5" fmla="*/ 11085 h 4432548"/>
                <a:gd name="connsiteX6" fmla="*/ 2209501 w 2211099"/>
                <a:gd name="connsiteY6" fmla="*/ 0 h 4432548"/>
                <a:gd name="connsiteX0-11" fmla="*/ 2211099 w 2302539"/>
                <a:gd name="connsiteY0-12" fmla="*/ 2248887 h 4432548"/>
                <a:gd name="connsiteX1-13" fmla="*/ 2209501 w 2302539"/>
                <a:gd name="connsiteY1-14" fmla="*/ 4432548 h 4432548"/>
                <a:gd name="connsiteX2-15" fmla="*/ 1989997 w 2302539"/>
                <a:gd name="connsiteY2-16" fmla="*/ 4421464 h 4432548"/>
                <a:gd name="connsiteX3-17" fmla="*/ 0 w 2302539"/>
                <a:gd name="connsiteY3-18" fmla="*/ 2216274 h 4432548"/>
                <a:gd name="connsiteX4-19" fmla="*/ 1989997 w 2302539"/>
                <a:gd name="connsiteY4-20" fmla="*/ 11085 h 4432548"/>
                <a:gd name="connsiteX5-21" fmla="*/ 2209501 w 2302539"/>
                <a:gd name="connsiteY5-22" fmla="*/ 0 h 4432548"/>
                <a:gd name="connsiteX6-23" fmla="*/ 2302539 w 2302539"/>
                <a:gd name="connsiteY6-24" fmla="*/ 2340327 h 4432548"/>
                <a:gd name="connsiteX0-25" fmla="*/ 2211099 w 2211099"/>
                <a:gd name="connsiteY0-26" fmla="*/ 2248887 h 4432548"/>
                <a:gd name="connsiteX1-27" fmla="*/ 2209501 w 2211099"/>
                <a:gd name="connsiteY1-28" fmla="*/ 4432548 h 4432548"/>
                <a:gd name="connsiteX2-29" fmla="*/ 1989997 w 2211099"/>
                <a:gd name="connsiteY2-30" fmla="*/ 4421464 h 4432548"/>
                <a:gd name="connsiteX3-31" fmla="*/ 0 w 2211099"/>
                <a:gd name="connsiteY3-32" fmla="*/ 2216274 h 4432548"/>
                <a:gd name="connsiteX4-33" fmla="*/ 1989997 w 2211099"/>
                <a:gd name="connsiteY4-34" fmla="*/ 11085 h 4432548"/>
                <a:gd name="connsiteX5-35" fmla="*/ 2209501 w 2211099"/>
                <a:gd name="connsiteY5-36" fmla="*/ 0 h 4432548"/>
                <a:gd name="connsiteX0-37" fmla="*/ 2209501 w 2209501"/>
                <a:gd name="connsiteY0-38" fmla="*/ 4432548 h 4432548"/>
                <a:gd name="connsiteX1-39" fmla="*/ 1989997 w 2209501"/>
                <a:gd name="connsiteY1-40" fmla="*/ 4421464 h 4432548"/>
                <a:gd name="connsiteX2-41" fmla="*/ 0 w 2209501"/>
                <a:gd name="connsiteY2-42" fmla="*/ 2216274 h 4432548"/>
                <a:gd name="connsiteX3-43" fmla="*/ 1989997 w 2209501"/>
                <a:gd name="connsiteY3-44" fmla="*/ 11085 h 4432548"/>
                <a:gd name="connsiteX4-45" fmla="*/ 2209501 w 2209501"/>
                <a:gd name="connsiteY4-46" fmla="*/ 0 h 4432548"/>
              </a:gdLst>
              <a:ahLst/>
              <a:cxnLst>
                <a:cxn ang="0">
                  <a:pos x="connsiteX0-1" y="connsiteY0-2"/>
                </a:cxn>
                <a:cxn ang="0">
                  <a:pos x="connsiteX1-3" y="connsiteY1-4"/>
                </a:cxn>
                <a:cxn ang="0">
                  <a:pos x="connsiteX2-5" y="connsiteY2-6"/>
                </a:cxn>
                <a:cxn ang="0">
                  <a:pos x="connsiteX3-7" y="connsiteY3-8"/>
                </a:cxn>
                <a:cxn ang="0">
                  <a:pos x="connsiteX4-9" y="connsiteY4-10"/>
                </a:cxn>
              </a:cxnLst>
              <a:rect l="l" t="t" r="r" b="b"/>
              <a:pathLst>
                <a:path w="2209501" h="4432548">
                  <a:moveTo>
                    <a:pt x="2209501" y="4432548"/>
                  </a:moveTo>
                  <a:lnTo>
                    <a:pt x="1989997" y="4421464"/>
                  </a:lnTo>
                  <a:cubicBezTo>
                    <a:pt x="872246" y="4307950"/>
                    <a:pt x="0" y="3363974"/>
                    <a:pt x="0" y="2216274"/>
                  </a:cubicBezTo>
                  <a:cubicBezTo>
                    <a:pt x="0" y="1068575"/>
                    <a:pt x="872246" y="124599"/>
                    <a:pt x="1989997" y="11085"/>
                  </a:cubicBezTo>
                  <a:lnTo>
                    <a:pt x="2209501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703035" y="1374365"/>
              <a:ext cx="4837299" cy="4318881"/>
              <a:chOff x="703035" y="1374365"/>
              <a:chExt cx="4837299" cy="4318881"/>
            </a:xfrm>
          </p:grpSpPr>
          <p:sp>
            <p:nvSpPr>
              <p:cNvPr id="10" name="任意多边形: 形状 9"/>
              <p:cNvSpPr/>
              <p:nvPr/>
            </p:nvSpPr>
            <p:spPr>
              <a:xfrm>
                <a:off x="1336624" y="1528777"/>
                <a:ext cx="4164314" cy="4164469"/>
              </a:xfrm>
              <a:custGeom>
                <a:avLst/>
                <a:gdLst>
                  <a:gd name="connsiteX0" fmla="*/ 1310015 w 2619936"/>
                  <a:gd name="connsiteY0" fmla="*/ 0 h 2620034"/>
                  <a:gd name="connsiteX1" fmla="*/ 1310015 w 2619936"/>
                  <a:gd name="connsiteY1" fmla="*/ 1311964 h 2620034"/>
                  <a:gd name="connsiteX2" fmla="*/ 2619936 w 2619936"/>
                  <a:gd name="connsiteY2" fmla="*/ 1311964 h 2620034"/>
                  <a:gd name="connsiteX3" fmla="*/ 2613271 w 2619936"/>
                  <a:gd name="connsiteY3" fmla="*/ 1443959 h 2620034"/>
                  <a:gd name="connsiteX4" fmla="*/ 1310017 w 2619936"/>
                  <a:gd name="connsiteY4" fmla="*/ 2620034 h 2620034"/>
                  <a:gd name="connsiteX5" fmla="*/ 0 w 2619936"/>
                  <a:gd name="connsiteY5" fmla="*/ 1310017 h 2620034"/>
                  <a:gd name="connsiteX6" fmla="*/ 1176076 w 2619936"/>
                  <a:gd name="connsiteY6" fmla="*/ 6764 h 2620034"/>
                  <a:gd name="connsiteX0-1" fmla="*/ 1310015 w 2619936"/>
                  <a:gd name="connsiteY0-2" fmla="*/ 1311964 h 2620034"/>
                  <a:gd name="connsiteX1-3" fmla="*/ 2619936 w 2619936"/>
                  <a:gd name="connsiteY1-4" fmla="*/ 1311964 h 2620034"/>
                  <a:gd name="connsiteX2-5" fmla="*/ 2613271 w 2619936"/>
                  <a:gd name="connsiteY2-6" fmla="*/ 1443959 h 2620034"/>
                  <a:gd name="connsiteX3-7" fmla="*/ 1310017 w 2619936"/>
                  <a:gd name="connsiteY3-8" fmla="*/ 2620034 h 2620034"/>
                  <a:gd name="connsiteX4-9" fmla="*/ 0 w 2619936"/>
                  <a:gd name="connsiteY4-10" fmla="*/ 1310017 h 2620034"/>
                  <a:gd name="connsiteX5-11" fmla="*/ 1176076 w 2619936"/>
                  <a:gd name="connsiteY5-12" fmla="*/ 6764 h 2620034"/>
                  <a:gd name="connsiteX6-13" fmla="*/ 1310015 w 2619936"/>
                  <a:gd name="connsiteY6-14" fmla="*/ 0 h 2620034"/>
                  <a:gd name="connsiteX7" fmla="*/ 1401455 w 2619936"/>
                  <a:gd name="connsiteY7" fmla="*/ 1403404 h 2620034"/>
                  <a:gd name="connsiteX0-15" fmla="*/ 1310015 w 2619936"/>
                  <a:gd name="connsiteY0-16" fmla="*/ 1311964 h 2620034"/>
                  <a:gd name="connsiteX1-17" fmla="*/ 2619936 w 2619936"/>
                  <a:gd name="connsiteY1-18" fmla="*/ 1311964 h 2620034"/>
                  <a:gd name="connsiteX2-19" fmla="*/ 2613271 w 2619936"/>
                  <a:gd name="connsiteY2-20" fmla="*/ 1443959 h 2620034"/>
                  <a:gd name="connsiteX3-21" fmla="*/ 1310017 w 2619936"/>
                  <a:gd name="connsiteY3-22" fmla="*/ 2620034 h 2620034"/>
                  <a:gd name="connsiteX4-23" fmla="*/ 0 w 2619936"/>
                  <a:gd name="connsiteY4-24" fmla="*/ 1310017 h 2620034"/>
                  <a:gd name="connsiteX5-25" fmla="*/ 1176076 w 2619936"/>
                  <a:gd name="connsiteY5-26" fmla="*/ 6764 h 2620034"/>
                  <a:gd name="connsiteX6-27" fmla="*/ 1310015 w 2619936"/>
                  <a:gd name="connsiteY6-28" fmla="*/ 0 h 2620034"/>
                  <a:gd name="connsiteX0-29" fmla="*/ 2619936 w 2619936"/>
                  <a:gd name="connsiteY0-30" fmla="*/ 1311964 h 2620034"/>
                  <a:gd name="connsiteX1-31" fmla="*/ 2613271 w 2619936"/>
                  <a:gd name="connsiteY1-32" fmla="*/ 1443959 h 2620034"/>
                  <a:gd name="connsiteX2-33" fmla="*/ 1310017 w 2619936"/>
                  <a:gd name="connsiteY2-34" fmla="*/ 2620034 h 2620034"/>
                  <a:gd name="connsiteX3-35" fmla="*/ 0 w 2619936"/>
                  <a:gd name="connsiteY3-36" fmla="*/ 1310017 h 2620034"/>
                  <a:gd name="connsiteX4-37" fmla="*/ 1176076 w 2619936"/>
                  <a:gd name="connsiteY4-38" fmla="*/ 6764 h 2620034"/>
                  <a:gd name="connsiteX5-39" fmla="*/ 1310015 w 2619936"/>
                  <a:gd name="connsiteY5-40" fmla="*/ 0 h 2620034"/>
                </a:gdLst>
                <a:ahLst/>
                <a:cxnLst>
                  <a:cxn ang="0">
                    <a:pos x="connsiteX0-1" y="connsiteY0-2"/>
                  </a:cxn>
                  <a:cxn ang="0">
                    <a:pos x="connsiteX1-3" y="connsiteY1-4"/>
                  </a:cxn>
                  <a:cxn ang="0">
                    <a:pos x="connsiteX2-5" y="connsiteY2-6"/>
                  </a:cxn>
                  <a:cxn ang="0">
                    <a:pos x="connsiteX3-7" y="connsiteY3-8"/>
                  </a:cxn>
                  <a:cxn ang="0">
                    <a:pos x="connsiteX4-9" y="connsiteY4-10"/>
                  </a:cxn>
                  <a:cxn ang="0">
                    <a:pos x="connsiteX5-11" y="connsiteY5-12"/>
                  </a:cxn>
                </a:cxnLst>
                <a:rect l="l" t="t" r="r" b="b"/>
                <a:pathLst>
                  <a:path w="2619936" h="2620034">
                    <a:moveTo>
                      <a:pt x="2619936" y="1311964"/>
                    </a:moveTo>
                    <a:lnTo>
                      <a:pt x="2613271" y="1443959"/>
                    </a:lnTo>
                    <a:cubicBezTo>
                      <a:pt x="2546185" y="2104542"/>
                      <a:pt x="1988300" y="2620034"/>
                      <a:pt x="1310017" y="2620034"/>
                    </a:cubicBezTo>
                    <a:cubicBezTo>
                      <a:pt x="586515" y="2620034"/>
                      <a:pt x="0" y="2033519"/>
                      <a:pt x="0" y="1310017"/>
                    </a:cubicBezTo>
                    <a:cubicBezTo>
                      <a:pt x="0" y="631734"/>
                      <a:pt x="515492" y="73850"/>
                      <a:pt x="1176076" y="6764"/>
                    </a:cubicBezTo>
                    <a:lnTo>
                      <a:pt x="1310015" y="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2801074" y="1374365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2" name="组合 11"/>
              <p:cNvGrpSpPr/>
              <p:nvPr/>
            </p:nvGrpSpPr>
            <p:grpSpPr>
              <a:xfrm>
                <a:off x="703035" y="2791613"/>
                <a:ext cx="2303860" cy="2763395"/>
                <a:chOff x="667909" y="2831346"/>
                <a:chExt cx="2303860" cy="2763395"/>
              </a:xfrm>
            </p:grpSpPr>
            <p:sp>
              <p:nvSpPr>
                <p:cNvPr id="14" name="任意多边形: 形状 13"/>
                <p:cNvSpPr/>
                <p:nvPr/>
              </p:nvSpPr>
              <p:spPr>
                <a:xfrm rot="18225743">
                  <a:off x="682165" y="2817090"/>
                  <a:ext cx="2275348" cy="2303860"/>
                </a:xfrm>
                <a:custGeom>
                  <a:avLst/>
                  <a:gdLst>
                    <a:gd name="connsiteX0" fmla="*/ 2422212 w 2422212"/>
                    <a:gd name="connsiteY0" fmla="*/ 2452564 h 2452564"/>
                    <a:gd name="connsiteX1" fmla="*/ 1086 w 2422212"/>
                    <a:gd name="connsiteY1" fmla="*/ 2452564 h 2452564"/>
                    <a:gd name="connsiteX2" fmla="*/ 0 w 2422212"/>
                    <a:gd name="connsiteY2" fmla="*/ 2429638 h 2452564"/>
                    <a:gd name="connsiteX3" fmla="*/ 2181576 w 2422212"/>
                    <a:gd name="connsiteY3" fmla="*/ 12152 h 2452564"/>
                    <a:gd name="connsiteX4" fmla="*/ 2422212 w 2422212"/>
                    <a:gd name="connsiteY4" fmla="*/ 0 h 2452564"/>
                    <a:gd name="connsiteX0-1" fmla="*/ 2422212 w 2513652"/>
                    <a:gd name="connsiteY0-2" fmla="*/ 2452564 h 2544004"/>
                    <a:gd name="connsiteX1-3" fmla="*/ 1086 w 2513652"/>
                    <a:gd name="connsiteY1-4" fmla="*/ 2452564 h 2544004"/>
                    <a:gd name="connsiteX2-5" fmla="*/ 0 w 2513652"/>
                    <a:gd name="connsiteY2-6" fmla="*/ 2429638 h 2544004"/>
                    <a:gd name="connsiteX3-7" fmla="*/ 2181576 w 2513652"/>
                    <a:gd name="connsiteY3-8" fmla="*/ 12152 h 2544004"/>
                    <a:gd name="connsiteX4-9" fmla="*/ 2422212 w 2513652"/>
                    <a:gd name="connsiteY4-10" fmla="*/ 0 h 2544004"/>
                    <a:gd name="connsiteX5" fmla="*/ 2513652 w 2513652"/>
                    <a:gd name="connsiteY5" fmla="*/ 2544004 h 2544004"/>
                    <a:gd name="connsiteX0-11" fmla="*/ 1086 w 2513652"/>
                    <a:gd name="connsiteY0-12" fmla="*/ 2452564 h 2544004"/>
                    <a:gd name="connsiteX1-13" fmla="*/ 0 w 2513652"/>
                    <a:gd name="connsiteY1-14" fmla="*/ 2429638 h 2544004"/>
                    <a:gd name="connsiteX2-15" fmla="*/ 2181576 w 2513652"/>
                    <a:gd name="connsiteY2-16" fmla="*/ 12152 h 2544004"/>
                    <a:gd name="connsiteX3-17" fmla="*/ 2422212 w 2513652"/>
                    <a:gd name="connsiteY3-18" fmla="*/ 0 h 2544004"/>
                    <a:gd name="connsiteX4-19" fmla="*/ 2513652 w 2513652"/>
                    <a:gd name="connsiteY4-20" fmla="*/ 2544004 h 2544004"/>
                    <a:gd name="connsiteX0-21" fmla="*/ 1086 w 2422212"/>
                    <a:gd name="connsiteY0-22" fmla="*/ 2452564 h 2452564"/>
                    <a:gd name="connsiteX1-23" fmla="*/ 0 w 2422212"/>
                    <a:gd name="connsiteY1-24" fmla="*/ 2429638 h 2452564"/>
                    <a:gd name="connsiteX2-25" fmla="*/ 2181576 w 2422212"/>
                    <a:gd name="connsiteY2-26" fmla="*/ 12152 h 2452564"/>
                    <a:gd name="connsiteX3-27" fmla="*/ 2422212 w 2422212"/>
                    <a:gd name="connsiteY3-28" fmla="*/ 0 h 2452564"/>
                  </a:gdLst>
                  <a:ahLst/>
                  <a:cxnLst>
                    <a:cxn ang="0">
                      <a:pos x="connsiteX0-1" y="connsiteY0-2"/>
                    </a:cxn>
                    <a:cxn ang="0">
                      <a:pos x="connsiteX1-3" y="connsiteY1-4"/>
                    </a:cxn>
                    <a:cxn ang="0">
                      <a:pos x="connsiteX2-5" y="connsiteY2-6"/>
                    </a:cxn>
                    <a:cxn ang="0">
                      <a:pos x="connsiteX3-7" y="connsiteY3-8"/>
                    </a:cxn>
                  </a:cxnLst>
                  <a:rect l="l" t="t" r="r" b="b"/>
                  <a:pathLst>
                    <a:path w="2422212" h="2452564">
                      <a:moveTo>
                        <a:pt x="1086" y="2452564"/>
                      </a:moveTo>
                      <a:lnTo>
                        <a:pt x="0" y="2429638"/>
                      </a:lnTo>
                      <a:cubicBezTo>
                        <a:pt x="0" y="1171448"/>
                        <a:pt x="956218" y="136595"/>
                        <a:pt x="2181576" y="12152"/>
                      </a:cubicBezTo>
                      <a:lnTo>
                        <a:pt x="2422212" y="0"/>
                      </a:ln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079475" y="5497213"/>
                  <a:ext cx="97528" cy="9752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3" name="椭圆 12"/>
              <p:cNvSpPr/>
              <p:nvPr/>
            </p:nvSpPr>
            <p:spPr>
              <a:xfrm>
                <a:off x="5442806" y="3611011"/>
                <a:ext cx="97528" cy="97528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1239984" y="1740365"/>
            <a:ext cx="3731695" cy="373169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8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79" name="矩形: 圆角 78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9" name="文本框 8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双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0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: 圆角 5"/>
          <p:cNvSpPr/>
          <p:nvPr userDrawn="1"/>
        </p:nvSpPr>
        <p:spPr>
          <a:xfrm>
            <a:off x="689270" y="1262131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/>
          <p:cNvSpPr/>
          <p:nvPr userDrawn="1"/>
        </p:nvSpPr>
        <p:spPr>
          <a:xfrm>
            <a:off x="689270" y="3726269"/>
            <a:ext cx="10842684" cy="2286000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819151" y="1376166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8" name="图片占位符 16"/>
          <p:cNvSpPr>
            <a:spLocks noGrp="1"/>
          </p:cNvSpPr>
          <p:nvPr>
            <p:ph type="pic" sz="quarter" idx="14"/>
          </p:nvPr>
        </p:nvSpPr>
        <p:spPr>
          <a:xfrm flipH="1">
            <a:off x="9344050" y="3851644"/>
            <a:ext cx="2052066" cy="2052834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81" name="矩形: 圆角 80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占位符 65"/>
          <p:cNvSpPr>
            <a:spLocks noGrp="1"/>
          </p:cNvSpPr>
          <p:nvPr>
            <p:ph type="body" idx="15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9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任意多边形: 形状 8"/>
          <p:cNvSpPr/>
          <p:nvPr userDrawn="1"/>
        </p:nvSpPr>
        <p:spPr>
          <a:xfrm>
            <a:off x="1175646" y="1134201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-1" fmla="*/ 1310015 w 2619936"/>
              <a:gd name="connsiteY0-2" fmla="*/ 1311964 h 2620034"/>
              <a:gd name="connsiteX1-3" fmla="*/ 2619936 w 2619936"/>
              <a:gd name="connsiteY1-4" fmla="*/ 1311964 h 2620034"/>
              <a:gd name="connsiteX2-5" fmla="*/ 2613271 w 2619936"/>
              <a:gd name="connsiteY2-6" fmla="*/ 1443959 h 2620034"/>
              <a:gd name="connsiteX3-7" fmla="*/ 1310017 w 2619936"/>
              <a:gd name="connsiteY3-8" fmla="*/ 2620034 h 2620034"/>
              <a:gd name="connsiteX4-9" fmla="*/ 0 w 2619936"/>
              <a:gd name="connsiteY4-10" fmla="*/ 1310017 h 2620034"/>
              <a:gd name="connsiteX5-11" fmla="*/ 1176076 w 2619936"/>
              <a:gd name="connsiteY5-12" fmla="*/ 6764 h 2620034"/>
              <a:gd name="connsiteX6-13" fmla="*/ 1310015 w 2619936"/>
              <a:gd name="connsiteY6-14" fmla="*/ 0 h 2620034"/>
              <a:gd name="connsiteX7" fmla="*/ 1401455 w 2619936"/>
              <a:gd name="connsiteY7" fmla="*/ 1403404 h 2620034"/>
              <a:gd name="connsiteX0-15" fmla="*/ 1310015 w 2619936"/>
              <a:gd name="connsiteY0-16" fmla="*/ 1311964 h 2620034"/>
              <a:gd name="connsiteX1-17" fmla="*/ 2619936 w 2619936"/>
              <a:gd name="connsiteY1-18" fmla="*/ 1311964 h 2620034"/>
              <a:gd name="connsiteX2-19" fmla="*/ 2613271 w 2619936"/>
              <a:gd name="connsiteY2-20" fmla="*/ 1443959 h 2620034"/>
              <a:gd name="connsiteX3-21" fmla="*/ 1310017 w 2619936"/>
              <a:gd name="connsiteY3-22" fmla="*/ 2620034 h 2620034"/>
              <a:gd name="connsiteX4-23" fmla="*/ 0 w 2619936"/>
              <a:gd name="connsiteY4-24" fmla="*/ 1310017 h 2620034"/>
              <a:gd name="connsiteX5-25" fmla="*/ 1176076 w 2619936"/>
              <a:gd name="connsiteY5-26" fmla="*/ 6764 h 2620034"/>
              <a:gd name="connsiteX6-27" fmla="*/ 1310015 w 2619936"/>
              <a:gd name="connsiteY6-28" fmla="*/ 0 h 2620034"/>
              <a:gd name="connsiteX0-29" fmla="*/ 2619936 w 2619936"/>
              <a:gd name="connsiteY0-30" fmla="*/ 1311964 h 2620034"/>
              <a:gd name="connsiteX1-31" fmla="*/ 2613271 w 2619936"/>
              <a:gd name="connsiteY1-32" fmla="*/ 1443959 h 2620034"/>
              <a:gd name="connsiteX2-33" fmla="*/ 1310017 w 2619936"/>
              <a:gd name="connsiteY2-34" fmla="*/ 2620034 h 2620034"/>
              <a:gd name="connsiteX3-35" fmla="*/ 0 w 2619936"/>
              <a:gd name="connsiteY3-36" fmla="*/ 1310017 h 2620034"/>
              <a:gd name="connsiteX4-37" fmla="*/ 1176076 w 2619936"/>
              <a:gd name="connsiteY4-38" fmla="*/ 6764 h 2620034"/>
              <a:gd name="connsiteX5-39" fmla="*/ 1310015 w 2619936"/>
              <a:gd name="connsiteY5-40" fmla="*/ 0 h 262003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任意多边形: 形状 9"/>
          <p:cNvSpPr/>
          <p:nvPr userDrawn="1"/>
        </p:nvSpPr>
        <p:spPr>
          <a:xfrm>
            <a:off x="4601109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-1" fmla="*/ 1310015 w 2619936"/>
              <a:gd name="connsiteY0-2" fmla="*/ 1311964 h 2620034"/>
              <a:gd name="connsiteX1-3" fmla="*/ 2619936 w 2619936"/>
              <a:gd name="connsiteY1-4" fmla="*/ 1311964 h 2620034"/>
              <a:gd name="connsiteX2-5" fmla="*/ 2613271 w 2619936"/>
              <a:gd name="connsiteY2-6" fmla="*/ 1443959 h 2620034"/>
              <a:gd name="connsiteX3-7" fmla="*/ 1310017 w 2619936"/>
              <a:gd name="connsiteY3-8" fmla="*/ 2620034 h 2620034"/>
              <a:gd name="connsiteX4-9" fmla="*/ 0 w 2619936"/>
              <a:gd name="connsiteY4-10" fmla="*/ 1310017 h 2620034"/>
              <a:gd name="connsiteX5-11" fmla="*/ 1176076 w 2619936"/>
              <a:gd name="connsiteY5-12" fmla="*/ 6764 h 2620034"/>
              <a:gd name="connsiteX6-13" fmla="*/ 1310015 w 2619936"/>
              <a:gd name="connsiteY6-14" fmla="*/ 0 h 2620034"/>
              <a:gd name="connsiteX7" fmla="*/ 1401455 w 2619936"/>
              <a:gd name="connsiteY7" fmla="*/ 1403404 h 2620034"/>
              <a:gd name="connsiteX0-15" fmla="*/ 1310015 w 2619936"/>
              <a:gd name="connsiteY0-16" fmla="*/ 1311964 h 2620034"/>
              <a:gd name="connsiteX1-17" fmla="*/ 2619936 w 2619936"/>
              <a:gd name="connsiteY1-18" fmla="*/ 1311964 h 2620034"/>
              <a:gd name="connsiteX2-19" fmla="*/ 2613271 w 2619936"/>
              <a:gd name="connsiteY2-20" fmla="*/ 1443959 h 2620034"/>
              <a:gd name="connsiteX3-21" fmla="*/ 1310017 w 2619936"/>
              <a:gd name="connsiteY3-22" fmla="*/ 2620034 h 2620034"/>
              <a:gd name="connsiteX4-23" fmla="*/ 0 w 2619936"/>
              <a:gd name="connsiteY4-24" fmla="*/ 1310017 h 2620034"/>
              <a:gd name="connsiteX5-25" fmla="*/ 1176076 w 2619936"/>
              <a:gd name="connsiteY5-26" fmla="*/ 6764 h 2620034"/>
              <a:gd name="connsiteX6-27" fmla="*/ 1310015 w 2619936"/>
              <a:gd name="connsiteY6-28" fmla="*/ 0 h 2620034"/>
              <a:gd name="connsiteX0-29" fmla="*/ 2619936 w 2619936"/>
              <a:gd name="connsiteY0-30" fmla="*/ 1311964 h 2620034"/>
              <a:gd name="connsiteX1-31" fmla="*/ 2613271 w 2619936"/>
              <a:gd name="connsiteY1-32" fmla="*/ 1443959 h 2620034"/>
              <a:gd name="connsiteX2-33" fmla="*/ 1310017 w 2619936"/>
              <a:gd name="connsiteY2-34" fmla="*/ 2620034 h 2620034"/>
              <a:gd name="connsiteX3-35" fmla="*/ 0 w 2619936"/>
              <a:gd name="connsiteY3-36" fmla="*/ 1310017 h 2620034"/>
              <a:gd name="connsiteX4-37" fmla="*/ 1176076 w 2619936"/>
              <a:gd name="connsiteY4-38" fmla="*/ 6764 h 2620034"/>
              <a:gd name="connsiteX5-39" fmla="*/ 1310015 w 2619936"/>
              <a:gd name="connsiteY5-40" fmla="*/ 0 h 262003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任意多边形: 形状 10"/>
          <p:cNvSpPr/>
          <p:nvPr userDrawn="1"/>
        </p:nvSpPr>
        <p:spPr>
          <a:xfrm>
            <a:off x="8026573" y="1129189"/>
            <a:ext cx="2619936" cy="2620034"/>
          </a:xfrm>
          <a:custGeom>
            <a:avLst/>
            <a:gdLst>
              <a:gd name="connsiteX0" fmla="*/ 1310015 w 2619936"/>
              <a:gd name="connsiteY0" fmla="*/ 0 h 2620034"/>
              <a:gd name="connsiteX1" fmla="*/ 1310015 w 2619936"/>
              <a:gd name="connsiteY1" fmla="*/ 1311964 h 2620034"/>
              <a:gd name="connsiteX2" fmla="*/ 2619936 w 2619936"/>
              <a:gd name="connsiteY2" fmla="*/ 1311964 h 2620034"/>
              <a:gd name="connsiteX3" fmla="*/ 2613271 w 2619936"/>
              <a:gd name="connsiteY3" fmla="*/ 1443959 h 2620034"/>
              <a:gd name="connsiteX4" fmla="*/ 1310017 w 2619936"/>
              <a:gd name="connsiteY4" fmla="*/ 2620034 h 2620034"/>
              <a:gd name="connsiteX5" fmla="*/ 0 w 2619936"/>
              <a:gd name="connsiteY5" fmla="*/ 1310017 h 2620034"/>
              <a:gd name="connsiteX6" fmla="*/ 1176076 w 2619936"/>
              <a:gd name="connsiteY6" fmla="*/ 6764 h 2620034"/>
              <a:gd name="connsiteX0-1" fmla="*/ 1310015 w 2619936"/>
              <a:gd name="connsiteY0-2" fmla="*/ 1311964 h 2620034"/>
              <a:gd name="connsiteX1-3" fmla="*/ 2619936 w 2619936"/>
              <a:gd name="connsiteY1-4" fmla="*/ 1311964 h 2620034"/>
              <a:gd name="connsiteX2-5" fmla="*/ 2613271 w 2619936"/>
              <a:gd name="connsiteY2-6" fmla="*/ 1443959 h 2620034"/>
              <a:gd name="connsiteX3-7" fmla="*/ 1310017 w 2619936"/>
              <a:gd name="connsiteY3-8" fmla="*/ 2620034 h 2620034"/>
              <a:gd name="connsiteX4-9" fmla="*/ 0 w 2619936"/>
              <a:gd name="connsiteY4-10" fmla="*/ 1310017 h 2620034"/>
              <a:gd name="connsiteX5-11" fmla="*/ 1176076 w 2619936"/>
              <a:gd name="connsiteY5-12" fmla="*/ 6764 h 2620034"/>
              <a:gd name="connsiteX6-13" fmla="*/ 1310015 w 2619936"/>
              <a:gd name="connsiteY6-14" fmla="*/ 0 h 2620034"/>
              <a:gd name="connsiteX7" fmla="*/ 1401455 w 2619936"/>
              <a:gd name="connsiteY7" fmla="*/ 1403404 h 2620034"/>
              <a:gd name="connsiteX0-15" fmla="*/ 1310015 w 2619936"/>
              <a:gd name="connsiteY0-16" fmla="*/ 1311964 h 2620034"/>
              <a:gd name="connsiteX1-17" fmla="*/ 2619936 w 2619936"/>
              <a:gd name="connsiteY1-18" fmla="*/ 1311964 h 2620034"/>
              <a:gd name="connsiteX2-19" fmla="*/ 2613271 w 2619936"/>
              <a:gd name="connsiteY2-20" fmla="*/ 1443959 h 2620034"/>
              <a:gd name="connsiteX3-21" fmla="*/ 1310017 w 2619936"/>
              <a:gd name="connsiteY3-22" fmla="*/ 2620034 h 2620034"/>
              <a:gd name="connsiteX4-23" fmla="*/ 0 w 2619936"/>
              <a:gd name="connsiteY4-24" fmla="*/ 1310017 h 2620034"/>
              <a:gd name="connsiteX5-25" fmla="*/ 1176076 w 2619936"/>
              <a:gd name="connsiteY5-26" fmla="*/ 6764 h 2620034"/>
              <a:gd name="connsiteX6-27" fmla="*/ 1310015 w 2619936"/>
              <a:gd name="connsiteY6-28" fmla="*/ 0 h 2620034"/>
              <a:gd name="connsiteX0-29" fmla="*/ 2619936 w 2619936"/>
              <a:gd name="connsiteY0-30" fmla="*/ 1311964 h 2620034"/>
              <a:gd name="connsiteX1-31" fmla="*/ 2613271 w 2619936"/>
              <a:gd name="connsiteY1-32" fmla="*/ 1443959 h 2620034"/>
              <a:gd name="connsiteX2-33" fmla="*/ 1310017 w 2619936"/>
              <a:gd name="connsiteY2-34" fmla="*/ 2620034 h 2620034"/>
              <a:gd name="connsiteX3-35" fmla="*/ 0 w 2619936"/>
              <a:gd name="connsiteY3-36" fmla="*/ 1310017 h 2620034"/>
              <a:gd name="connsiteX4-37" fmla="*/ 1176076 w 2619936"/>
              <a:gd name="connsiteY4-38" fmla="*/ 6764 h 2620034"/>
              <a:gd name="connsiteX5-39" fmla="*/ 1310015 w 2619936"/>
              <a:gd name="connsiteY5-40" fmla="*/ 0 h 262003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2619936" h="2620034">
                <a:moveTo>
                  <a:pt x="2619936" y="1311964"/>
                </a:moveTo>
                <a:lnTo>
                  <a:pt x="2613271" y="1443959"/>
                </a:lnTo>
                <a:cubicBezTo>
                  <a:pt x="2546185" y="2104542"/>
                  <a:pt x="1988300" y="2620034"/>
                  <a:pt x="1310017" y="2620034"/>
                </a:cubicBezTo>
                <a:cubicBezTo>
                  <a:pt x="586515" y="2620034"/>
                  <a:pt x="0" y="2033519"/>
                  <a:pt x="0" y="1310017"/>
                </a:cubicBezTo>
                <a:cubicBezTo>
                  <a:pt x="0" y="631734"/>
                  <a:pt x="515492" y="73850"/>
                  <a:pt x="1176076" y="6764"/>
                </a:cubicBezTo>
                <a:lnTo>
                  <a:pt x="1310015" y="0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 userDrawn="1"/>
        </p:nvSpPr>
        <p:spPr>
          <a:xfrm>
            <a:off x="3746818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椭圆 12"/>
          <p:cNvSpPr/>
          <p:nvPr userDrawn="1"/>
        </p:nvSpPr>
        <p:spPr>
          <a:xfrm>
            <a:off x="7241893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椭圆 13"/>
          <p:cNvSpPr/>
          <p:nvPr userDrawn="1"/>
        </p:nvSpPr>
        <p:spPr>
          <a:xfrm>
            <a:off x="10597745" y="2390442"/>
            <a:ext cx="97528" cy="9752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图片占位符 16"/>
          <p:cNvSpPr>
            <a:spLocks noGrp="1"/>
          </p:cNvSpPr>
          <p:nvPr>
            <p:ph type="pic" sz="quarter" idx="13"/>
          </p:nvPr>
        </p:nvSpPr>
        <p:spPr>
          <a:xfrm>
            <a:off x="1315435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16"/>
          <p:cNvSpPr>
            <a:spLocks noGrp="1"/>
          </p:cNvSpPr>
          <p:nvPr>
            <p:ph type="pic" sz="quarter" idx="14"/>
          </p:nvPr>
        </p:nvSpPr>
        <p:spPr>
          <a:xfrm>
            <a:off x="4745356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16"/>
          <p:cNvSpPr>
            <a:spLocks noGrp="1"/>
          </p:cNvSpPr>
          <p:nvPr>
            <p:ph type="pic" sz="quarter" idx="15"/>
          </p:nvPr>
        </p:nvSpPr>
        <p:spPr>
          <a:xfrm>
            <a:off x="8175278" y="1283230"/>
            <a:ext cx="2318937" cy="2319805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80" name="矩形: 圆角 79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文本占位符 65"/>
          <p:cNvSpPr>
            <a:spLocks noGrp="1"/>
          </p:cNvSpPr>
          <p:nvPr>
            <p:ph type="body" idx="16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人介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28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9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0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1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2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3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4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5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6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7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8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39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0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41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3" name="泪滴形 22"/>
          <p:cNvSpPr/>
          <p:nvPr userDrawn="1"/>
        </p:nvSpPr>
        <p:spPr>
          <a:xfrm flipH="1" flipV="1">
            <a:off x="6231956" y="1325419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泪滴形 23"/>
          <p:cNvSpPr/>
          <p:nvPr userDrawn="1"/>
        </p:nvSpPr>
        <p:spPr>
          <a:xfrm flipV="1">
            <a:off x="3836026" y="1325419"/>
            <a:ext cx="2284691" cy="2284691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泪滴形 20"/>
          <p:cNvSpPr/>
          <p:nvPr userDrawn="1"/>
        </p:nvSpPr>
        <p:spPr>
          <a:xfrm flipH="1">
            <a:off x="6231956" y="3712424"/>
            <a:ext cx="2284692" cy="2284692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泪滴形 18"/>
          <p:cNvSpPr/>
          <p:nvPr userDrawn="1"/>
        </p:nvSpPr>
        <p:spPr>
          <a:xfrm>
            <a:off x="3836024" y="3712424"/>
            <a:ext cx="2284693" cy="2284693"/>
          </a:xfrm>
          <a:prstGeom prst="teardrop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0" name="图片占位符 16"/>
          <p:cNvSpPr>
            <a:spLocks noGrp="1"/>
          </p:cNvSpPr>
          <p:nvPr>
            <p:ph type="pic" sz="quarter" idx="13"/>
          </p:nvPr>
        </p:nvSpPr>
        <p:spPr>
          <a:xfrm flipH="1">
            <a:off x="3921679" y="3817073"/>
            <a:ext cx="2082882" cy="208366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2" name="图片占位符 16"/>
          <p:cNvSpPr>
            <a:spLocks noGrp="1"/>
          </p:cNvSpPr>
          <p:nvPr>
            <p:ph type="pic" sz="quarter" idx="14"/>
          </p:nvPr>
        </p:nvSpPr>
        <p:spPr>
          <a:xfrm>
            <a:off x="6337011" y="38170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5" name="图片占位符 16"/>
          <p:cNvSpPr>
            <a:spLocks noGrp="1"/>
          </p:cNvSpPr>
          <p:nvPr>
            <p:ph type="pic" sz="quarter" idx="15"/>
          </p:nvPr>
        </p:nvSpPr>
        <p:spPr>
          <a:xfrm flipH="1">
            <a:off x="3921681" y="1428875"/>
            <a:ext cx="2082880" cy="2083660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26" name="图片占位符 16"/>
          <p:cNvSpPr>
            <a:spLocks noGrp="1"/>
          </p:cNvSpPr>
          <p:nvPr>
            <p:ph type="pic" sz="quarter" idx="16"/>
          </p:nvPr>
        </p:nvSpPr>
        <p:spPr>
          <a:xfrm>
            <a:off x="6337011" y="1428873"/>
            <a:ext cx="2082881" cy="2083661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89" name="矩形: 圆角 88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文本占位符 65"/>
          <p:cNvSpPr>
            <a:spLocks noGrp="1"/>
          </p:cNvSpPr>
          <p:nvPr>
            <p:ph type="body" idx="17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手机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/>
          <p:cNvSpPr>
            <a:spLocks noGrp="1"/>
          </p:cNvSpPr>
          <p:nvPr>
            <p:ph type="pic" sz="quarter" idx="10"/>
          </p:nvPr>
        </p:nvSpPr>
        <p:spPr>
          <a:xfrm>
            <a:off x="4712208" y="1425576"/>
            <a:ext cx="2761487" cy="5432425"/>
          </a:xfrm>
          <a:custGeom>
            <a:avLst/>
            <a:gdLst>
              <a:gd name="connsiteX0" fmla="*/ 226557 w 2727960"/>
              <a:gd name="connsiteY0" fmla="*/ 0 h 5432425"/>
              <a:gd name="connsiteX1" fmla="*/ 2501403 w 2727960"/>
              <a:gd name="connsiteY1" fmla="*/ 0 h 5432425"/>
              <a:gd name="connsiteX2" fmla="*/ 2727960 w 2727960"/>
              <a:gd name="connsiteY2" fmla="*/ 226557 h 5432425"/>
              <a:gd name="connsiteX3" fmla="*/ 2727960 w 2727960"/>
              <a:gd name="connsiteY3" fmla="*/ 5432425 h 5432425"/>
              <a:gd name="connsiteX4" fmla="*/ 0 w 2727960"/>
              <a:gd name="connsiteY4" fmla="*/ 5432425 h 5432425"/>
              <a:gd name="connsiteX5" fmla="*/ 0 w 2727960"/>
              <a:gd name="connsiteY5" fmla="*/ 226557 h 5432425"/>
              <a:gd name="connsiteX6" fmla="*/ 226557 w 2727960"/>
              <a:gd name="connsiteY6" fmla="*/ 0 h 5432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27960" h="5432425">
                <a:moveTo>
                  <a:pt x="226557" y="0"/>
                </a:moveTo>
                <a:lnTo>
                  <a:pt x="2501403" y="0"/>
                </a:lnTo>
                <a:cubicBezTo>
                  <a:pt x="2626527" y="0"/>
                  <a:pt x="2727960" y="101433"/>
                  <a:pt x="2727960" y="226557"/>
                </a:cubicBezTo>
                <a:lnTo>
                  <a:pt x="2727960" y="5432425"/>
                </a:lnTo>
                <a:lnTo>
                  <a:pt x="0" y="5432425"/>
                </a:lnTo>
                <a:lnTo>
                  <a:pt x="0" y="226557"/>
                </a:lnTo>
                <a:cubicBezTo>
                  <a:pt x="0" y="101433"/>
                  <a:pt x="101433" y="0"/>
                  <a:pt x="22655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157"/>
          <a:stretch>
            <a:fillRect/>
          </a:stretch>
        </p:blipFill>
        <p:spPr>
          <a:xfrm>
            <a:off x="4023982" y="970876"/>
            <a:ext cx="4144035" cy="5887124"/>
          </a:xfrm>
          <a:prstGeom prst="rect">
            <a:avLst/>
          </a:prstGeom>
        </p:spPr>
      </p:pic>
      <p:grpSp>
        <p:nvGrpSpPr>
          <p:cNvPr id="14" name="组合 13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15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2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3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4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5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6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7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8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75" name="矩形: 圆角 74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文本占位符 65"/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3" name="文本框 2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电脑样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8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9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0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1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2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3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4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5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6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7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8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19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0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21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65" name="椭圆 64"/>
          <p:cNvSpPr/>
          <p:nvPr userDrawn="1"/>
        </p:nvSpPr>
        <p:spPr>
          <a:xfrm>
            <a:off x="6958403" y="5702153"/>
            <a:ext cx="2640760" cy="529481"/>
          </a:xfrm>
          <a:prstGeom prst="ellipse">
            <a:avLst/>
          </a:prstGeom>
          <a:solidFill>
            <a:schemeClr val="bg2">
              <a:lumMod val="50000"/>
              <a:alpha val="32000"/>
            </a:schemeClr>
          </a:solid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5469" y="1494982"/>
            <a:ext cx="5799137" cy="4525085"/>
          </a:xfrm>
          <a:prstGeom prst="rect">
            <a:avLst/>
          </a:prstGeom>
        </p:spPr>
      </p:pic>
      <p:sp>
        <p:nvSpPr>
          <p:cNvPr id="23" name="图片占位符 22"/>
          <p:cNvSpPr>
            <a:spLocks noGrp="1"/>
          </p:cNvSpPr>
          <p:nvPr>
            <p:ph type="pic" sz="quarter" idx="10"/>
          </p:nvPr>
        </p:nvSpPr>
        <p:spPr>
          <a:xfrm>
            <a:off x="5575656" y="1711325"/>
            <a:ext cx="5324475" cy="301466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0" name="矩形: 圆角 69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文本占位符 65"/>
          <p:cNvSpPr>
            <a:spLocks noGrp="1"/>
          </p:cNvSpPr>
          <p:nvPr>
            <p:ph type="body" idx="13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3" name="文本框 2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音乐播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图片占位符 7"/>
          <p:cNvSpPr>
            <a:spLocks noGrp="1"/>
          </p:cNvSpPr>
          <p:nvPr>
            <p:ph type="pic" sz="quarter" idx="13"/>
          </p:nvPr>
        </p:nvSpPr>
        <p:spPr>
          <a:xfrm>
            <a:off x="7989570" y="2431013"/>
            <a:ext cx="2595932" cy="2595932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/>
          <p:cNvSpPr/>
          <p:nvPr userDrawn="1"/>
        </p:nvSpPr>
        <p:spPr>
          <a:xfrm>
            <a:off x="-431984" y="253874"/>
            <a:ext cx="2400992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占位符 65"/>
          <p:cNvSpPr>
            <a:spLocks noGrp="1"/>
          </p:cNvSpPr>
          <p:nvPr>
            <p:ph type="body" idx="14" hasCustomPrompt="1"/>
          </p:nvPr>
        </p:nvSpPr>
        <p:spPr>
          <a:xfrm>
            <a:off x="1097899" y="253874"/>
            <a:ext cx="2649600" cy="60590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vert="horz" wrap="none" lIns="72000" tIns="0" rIns="252000" bIns="0" anchor="ctr" anchorCtr="0">
            <a:spAutoFit/>
          </a:bodyPr>
          <a:lstStyle>
            <a:lvl1pPr mar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800" spc="0">
                <a:solidFill>
                  <a:srgbClr val="FFFFFF"/>
                </a:solidFill>
                <a:latin typeface="+mj-ea"/>
                <a:ea typeface="+mj-ea"/>
                <a:sym typeface="思源宋体 CN Heavy" panose="02020900000000000000" pitchFamily="18" charset="-122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2pPr>
            <a:lvl3pPr marL="9144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3pPr>
            <a:lvl4pPr marL="13716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4pPr>
            <a:lvl5pPr marL="1828800" indent="-22860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zh-CN" altLang="en-US" dirty="0"/>
              <a:t>标题文字输入</a:t>
            </a:r>
          </a:p>
        </p:txBody>
      </p:sp>
      <p:grpSp>
        <p:nvGrpSpPr>
          <p:cNvPr id="55" name="组合 54"/>
          <p:cNvGrpSpPr/>
          <p:nvPr userDrawn="1"/>
        </p:nvGrpSpPr>
        <p:grpSpPr>
          <a:xfrm rot="169789">
            <a:off x="7333468" y="1757113"/>
            <a:ext cx="5694860" cy="5835138"/>
            <a:chOff x="377825" y="6983413"/>
            <a:chExt cx="5284788" cy="5414962"/>
          </a:xfrm>
          <a:solidFill>
            <a:schemeClr val="accent1">
              <a:alpha val="4000"/>
            </a:schemeClr>
          </a:solidFill>
        </p:grpSpPr>
        <p:sp>
          <p:nvSpPr>
            <p:cNvPr id="56" name="Freeform 19"/>
            <p:cNvSpPr>
              <a:spLocks noEditPoints="1"/>
            </p:cNvSpPr>
            <p:nvPr/>
          </p:nvSpPr>
          <p:spPr bwMode="auto">
            <a:xfrm>
              <a:off x="2787650" y="9477375"/>
              <a:ext cx="2874963" cy="1692275"/>
            </a:xfrm>
            <a:custGeom>
              <a:avLst/>
              <a:gdLst>
                <a:gd name="T0" fmla="*/ 209 w 888"/>
                <a:gd name="T1" fmla="*/ 128 h 522"/>
                <a:gd name="T2" fmla="*/ 324 w 888"/>
                <a:gd name="T3" fmla="*/ 64 h 522"/>
                <a:gd name="T4" fmla="*/ 539 w 888"/>
                <a:gd name="T5" fmla="*/ 2 h 522"/>
                <a:gd name="T6" fmla="*/ 641 w 888"/>
                <a:gd name="T7" fmla="*/ 7 h 522"/>
                <a:gd name="T8" fmla="*/ 760 w 888"/>
                <a:gd name="T9" fmla="*/ 108 h 522"/>
                <a:gd name="T10" fmla="*/ 786 w 888"/>
                <a:gd name="T11" fmla="*/ 130 h 522"/>
                <a:gd name="T12" fmla="*/ 852 w 888"/>
                <a:gd name="T13" fmla="*/ 159 h 522"/>
                <a:gd name="T14" fmla="*/ 854 w 888"/>
                <a:gd name="T15" fmla="*/ 230 h 522"/>
                <a:gd name="T16" fmla="*/ 745 w 888"/>
                <a:gd name="T17" fmla="*/ 274 h 522"/>
                <a:gd name="T18" fmla="*/ 513 w 888"/>
                <a:gd name="T19" fmla="*/ 252 h 522"/>
                <a:gd name="T20" fmla="*/ 439 w 888"/>
                <a:gd name="T21" fmla="*/ 217 h 522"/>
                <a:gd name="T22" fmla="*/ 398 w 888"/>
                <a:gd name="T23" fmla="*/ 208 h 522"/>
                <a:gd name="T24" fmla="*/ 358 w 888"/>
                <a:gd name="T25" fmla="*/ 230 h 522"/>
                <a:gd name="T26" fmla="*/ 331 w 888"/>
                <a:gd name="T27" fmla="*/ 305 h 522"/>
                <a:gd name="T28" fmla="*/ 304 w 888"/>
                <a:gd name="T29" fmla="*/ 395 h 522"/>
                <a:gd name="T30" fmla="*/ 171 w 888"/>
                <a:gd name="T31" fmla="*/ 512 h 522"/>
                <a:gd name="T32" fmla="*/ 85 w 888"/>
                <a:gd name="T33" fmla="*/ 521 h 522"/>
                <a:gd name="T34" fmla="*/ 5 w 888"/>
                <a:gd name="T35" fmla="*/ 426 h 522"/>
                <a:gd name="T36" fmla="*/ 234 w 888"/>
                <a:gd name="T37" fmla="*/ 161 h 522"/>
                <a:gd name="T38" fmla="*/ 427 w 888"/>
                <a:gd name="T39" fmla="*/ 187 h 522"/>
                <a:gd name="T40" fmla="*/ 531 w 888"/>
                <a:gd name="T41" fmla="*/ 233 h 522"/>
                <a:gd name="T42" fmla="*/ 720 w 888"/>
                <a:gd name="T43" fmla="*/ 247 h 522"/>
                <a:gd name="T44" fmla="*/ 809 w 888"/>
                <a:gd name="T45" fmla="*/ 222 h 522"/>
                <a:gd name="T46" fmla="*/ 837 w 888"/>
                <a:gd name="T47" fmla="*/ 207 h 522"/>
                <a:gd name="T48" fmla="*/ 838 w 888"/>
                <a:gd name="T49" fmla="*/ 174 h 522"/>
                <a:gd name="T50" fmla="*/ 786 w 888"/>
                <a:gd name="T51" fmla="*/ 142 h 522"/>
                <a:gd name="T52" fmla="*/ 756 w 888"/>
                <a:gd name="T53" fmla="*/ 115 h 522"/>
                <a:gd name="T54" fmla="*/ 631 w 888"/>
                <a:gd name="T55" fmla="*/ 32 h 522"/>
                <a:gd name="T56" fmla="*/ 411 w 888"/>
                <a:gd name="T57" fmla="*/ 46 h 522"/>
                <a:gd name="T58" fmla="*/ 224 w 888"/>
                <a:gd name="T59" fmla="*/ 126 h 522"/>
                <a:gd name="T60" fmla="*/ 211 w 888"/>
                <a:gd name="T61" fmla="*/ 131 h 522"/>
                <a:gd name="T62" fmla="*/ 209 w 888"/>
                <a:gd name="T63" fmla="*/ 128 h 522"/>
                <a:gd name="T64" fmla="*/ 403 w 888"/>
                <a:gd name="T65" fmla="*/ 196 h 522"/>
                <a:gd name="T66" fmla="*/ 395 w 888"/>
                <a:gd name="T67" fmla="*/ 190 h 522"/>
                <a:gd name="T68" fmla="*/ 220 w 888"/>
                <a:gd name="T69" fmla="*/ 178 h 522"/>
                <a:gd name="T70" fmla="*/ 70 w 888"/>
                <a:gd name="T71" fmla="*/ 294 h 522"/>
                <a:gd name="T72" fmla="*/ 17 w 888"/>
                <a:gd name="T73" fmla="*/ 400 h 522"/>
                <a:gd name="T74" fmla="*/ 104 w 888"/>
                <a:gd name="T75" fmla="*/ 503 h 522"/>
                <a:gd name="T76" fmla="*/ 201 w 888"/>
                <a:gd name="T77" fmla="*/ 478 h 522"/>
                <a:gd name="T78" fmla="*/ 292 w 888"/>
                <a:gd name="T79" fmla="*/ 364 h 522"/>
                <a:gd name="T80" fmla="*/ 313 w 888"/>
                <a:gd name="T81" fmla="*/ 279 h 522"/>
                <a:gd name="T82" fmla="*/ 403 w 888"/>
                <a:gd name="T83" fmla="*/ 196 h 5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88" h="522">
                  <a:moveTo>
                    <a:pt x="209" y="128"/>
                  </a:moveTo>
                  <a:cubicBezTo>
                    <a:pt x="247" y="107"/>
                    <a:pt x="285" y="84"/>
                    <a:pt x="324" y="64"/>
                  </a:cubicBezTo>
                  <a:cubicBezTo>
                    <a:pt x="392" y="31"/>
                    <a:pt x="463" y="7"/>
                    <a:pt x="539" y="2"/>
                  </a:cubicBezTo>
                  <a:cubicBezTo>
                    <a:pt x="573" y="0"/>
                    <a:pt x="608" y="1"/>
                    <a:pt x="641" y="7"/>
                  </a:cubicBezTo>
                  <a:cubicBezTo>
                    <a:pt x="698" y="19"/>
                    <a:pt x="735" y="58"/>
                    <a:pt x="760" y="108"/>
                  </a:cubicBezTo>
                  <a:cubicBezTo>
                    <a:pt x="766" y="120"/>
                    <a:pt x="774" y="126"/>
                    <a:pt x="786" y="130"/>
                  </a:cubicBezTo>
                  <a:cubicBezTo>
                    <a:pt x="809" y="139"/>
                    <a:pt x="831" y="147"/>
                    <a:pt x="852" y="159"/>
                  </a:cubicBezTo>
                  <a:cubicBezTo>
                    <a:pt x="887" y="180"/>
                    <a:pt x="888" y="206"/>
                    <a:pt x="854" y="230"/>
                  </a:cubicBezTo>
                  <a:cubicBezTo>
                    <a:pt x="821" y="253"/>
                    <a:pt x="784" y="267"/>
                    <a:pt x="745" y="274"/>
                  </a:cubicBezTo>
                  <a:cubicBezTo>
                    <a:pt x="665" y="288"/>
                    <a:pt x="588" y="281"/>
                    <a:pt x="513" y="252"/>
                  </a:cubicBezTo>
                  <a:cubicBezTo>
                    <a:pt x="488" y="242"/>
                    <a:pt x="464" y="227"/>
                    <a:pt x="439" y="217"/>
                  </a:cubicBezTo>
                  <a:cubicBezTo>
                    <a:pt x="426" y="212"/>
                    <a:pt x="412" y="210"/>
                    <a:pt x="398" y="208"/>
                  </a:cubicBezTo>
                  <a:cubicBezTo>
                    <a:pt x="381" y="206"/>
                    <a:pt x="365" y="214"/>
                    <a:pt x="358" y="230"/>
                  </a:cubicBezTo>
                  <a:cubicBezTo>
                    <a:pt x="347" y="254"/>
                    <a:pt x="339" y="280"/>
                    <a:pt x="331" y="305"/>
                  </a:cubicBezTo>
                  <a:cubicBezTo>
                    <a:pt x="321" y="335"/>
                    <a:pt x="313" y="365"/>
                    <a:pt x="304" y="395"/>
                  </a:cubicBezTo>
                  <a:cubicBezTo>
                    <a:pt x="283" y="460"/>
                    <a:pt x="234" y="495"/>
                    <a:pt x="171" y="512"/>
                  </a:cubicBezTo>
                  <a:cubicBezTo>
                    <a:pt x="144" y="519"/>
                    <a:pt x="114" y="522"/>
                    <a:pt x="85" y="521"/>
                  </a:cubicBezTo>
                  <a:cubicBezTo>
                    <a:pt x="33" y="519"/>
                    <a:pt x="0" y="479"/>
                    <a:pt x="5" y="426"/>
                  </a:cubicBezTo>
                  <a:cubicBezTo>
                    <a:pt x="15" y="320"/>
                    <a:pt x="94" y="194"/>
                    <a:pt x="234" y="161"/>
                  </a:cubicBezTo>
                  <a:cubicBezTo>
                    <a:pt x="303" y="145"/>
                    <a:pt x="365" y="161"/>
                    <a:pt x="427" y="187"/>
                  </a:cubicBezTo>
                  <a:cubicBezTo>
                    <a:pt x="462" y="202"/>
                    <a:pt x="496" y="217"/>
                    <a:pt x="531" y="233"/>
                  </a:cubicBezTo>
                  <a:cubicBezTo>
                    <a:pt x="592" y="260"/>
                    <a:pt x="656" y="261"/>
                    <a:pt x="720" y="247"/>
                  </a:cubicBezTo>
                  <a:cubicBezTo>
                    <a:pt x="750" y="241"/>
                    <a:pt x="780" y="231"/>
                    <a:pt x="809" y="222"/>
                  </a:cubicBezTo>
                  <a:cubicBezTo>
                    <a:pt x="819" y="218"/>
                    <a:pt x="829" y="213"/>
                    <a:pt x="837" y="207"/>
                  </a:cubicBezTo>
                  <a:cubicBezTo>
                    <a:pt x="851" y="197"/>
                    <a:pt x="852" y="184"/>
                    <a:pt x="838" y="174"/>
                  </a:cubicBezTo>
                  <a:cubicBezTo>
                    <a:pt x="822" y="161"/>
                    <a:pt x="804" y="151"/>
                    <a:pt x="786" y="142"/>
                  </a:cubicBezTo>
                  <a:cubicBezTo>
                    <a:pt x="774" y="135"/>
                    <a:pt x="763" y="128"/>
                    <a:pt x="756" y="115"/>
                  </a:cubicBezTo>
                  <a:cubicBezTo>
                    <a:pt x="728" y="67"/>
                    <a:pt x="682" y="45"/>
                    <a:pt x="631" y="32"/>
                  </a:cubicBezTo>
                  <a:cubicBezTo>
                    <a:pt x="556" y="13"/>
                    <a:pt x="483" y="25"/>
                    <a:pt x="411" y="46"/>
                  </a:cubicBezTo>
                  <a:cubicBezTo>
                    <a:pt x="345" y="65"/>
                    <a:pt x="285" y="97"/>
                    <a:pt x="224" y="126"/>
                  </a:cubicBezTo>
                  <a:cubicBezTo>
                    <a:pt x="220" y="128"/>
                    <a:pt x="215" y="130"/>
                    <a:pt x="211" y="131"/>
                  </a:cubicBezTo>
                  <a:cubicBezTo>
                    <a:pt x="210" y="130"/>
                    <a:pt x="210" y="129"/>
                    <a:pt x="209" y="128"/>
                  </a:cubicBezTo>
                  <a:close/>
                  <a:moveTo>
                    <a:pt x="403" y="196"/>
                  </a:moveTo>
                  <a:cubicBezTo>
                    <a:pt x="400" y="193"/>
                    <a:pt x="398" y="192"/>
                    <a:pt x="395" y="190"/>
                  </a:cubicBezTo>
                  <a:cubicBezTo>
                    <a:pt x="339" y="160"/>
                    <a:pt x="279" y="157"/>
                    <a:pt x="220" y="178"/>
                  </a:cubicBezTo>
                  <a:cubicBezTo>
                    <a:pt x="158" y="200"/>
                    <a:pt x="111" y="244"/>
                    <a:pt x="70" y="294"/>
                  </a:cubicBezTo>
                  <a:cubicBezTo>
                    <a:pt x="45" y="325"/>
                    <a:pt x="24" y="360"/>
                    <a:pt x="17" y="400"/>
                  </a:cubicBezTo>
                  <a:cubicBezTo>
                    <a:pt x="6" y="460"/>
                    <a:pt x="43" y="504"/>
                    <a:pt x="104" y="503"/>
                  </a:cubicBezTo>
                  <a:cubicBezTo>
                    <a:pt x="138" y="503"/>
                    <a:pt x="170" y="492"/>
                    <a:pt x="201" y="478"/>
                  </a:cubicBezTo>
                  <a:cubicBezTo>
                    <a:pt x="252" y="456"/>
                    <a:pt x="280" y="417"/>
                    <a:pt x="292" y="364"/>
                  </a:cubicBezTo>
                  <a:cubicBezTo>
                    <a:pt x="299" y="336"/>
                    <a:pt x="306" y="308"/>
                    <a:pt x="313" y="279"/>
                  </a:cubicBezTo>
                  <a:cubicBezTo>
                    <a:pt x="327" y="222"/>
                    <a:pt x="347" y="203"/>
                    <a:pt x="403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7" name="Freeform 20"/>
            <p:cNvSpPr/>
            <p:nvPr/>
          </p:nvSpPr>
          <p:spPr bwMode="auto">
            <a:xfrm>
              <a:off x="2765425" y="7048500"/>
              <a:ext cx="1139825" cy="3148013"/>
            </a:xfrm>
            <a:custGeom>
              <a:avLst/>
              <a:gdLst>
                <a:gd name="T0" fmla="*/ 167 w 352"/>
                <a:gd name="T1" fmla="*/ 889 h 971"/>
                <a:gd name="T2" fmla="*/ 231 w 352"/>
                <a:gd name="T3" fmla="*/ 720 h 971"/>
                <a:gd name="T4" fmla="*/ 303 w 352"/>
                <a:gd name="T5" fmla="*/ 421 h 971"/>
                <a:gd name="T6" fmla="*/ 298 w 352"/>
                <a:gd name="T7" fmla="*/ 228 h 971"/>
                <a:gd name="T8" fmla="*/ 266 w 352"/>
                <a:gd name="T9" fmla="*/ 165 h 971"/>
                <a:gd name="T10" fmla="*/ 217 w 352"/>
                <a:gd name="T11" fmla="*/ 50 h 971"/>
                <a:gd name="T12" fmla="*/ 197 w 352"/>
                <a:gd name="T13" fmla="*/ 43 h 971"/>
                <a:gd name="T14" fmla="*/ 51 w 352"/>
                <a:gd name="T15" fmla="*/ 264 h 971"/>
                <a:gd name="T16" fmla="*/ 39 w 352"/>
                <a:gd name="T17" fmla="*/ 437 h 971"/>
                <a:gd name="T18" fmla="*/ 59 w 352"/>
                <a:gd name="T19" fmla="*/ 682 h 971"/>
                <a:gd name="T20" fmla="*/ 71 w 352"/>
                <a:gd name="T21" fmla="*/ 905 h 971"/>
                <a:gd name="T22" fmla="*/ 79 w 352"/>
                <a:gd name="T23" fmla="*/ 955 h 971"/>
                <a:gd name="T24" fmla="*/ 79 w 352"/>
                <a:gd name="T25" fmla="*/ 970 h 971"/>
                <a:gd name="T26" fmla="*/ 73 w 352"/>
                <a:gd name="T27" fmla="*/ 971 h 971"/>
                <a:gd name="T28" fmla="*/ 59 w 352"/>
                <a:gd name="T29" fmla="*/ 914 h 971"/>
                <a:gd name="T30" fmla="*/ 41 w 352"/>
                <a:gd name="T31" fmla="*/ 696 h 971"/>
                <a:gd name="T32" fmla="*/ 22 w 352"/>
                <a:gd name="T33" fmla="*/ 461 h 971"/>
                <a:gd name="T34" fmla="*/ 8 w 352"/>
                <a:gd name="T35" fmla="*/ 389 h 971"/>
                <a:gd name="T36" fmla="*/ 39 w 352"/>
                <a:gd name="T37" fmla="*/ 228 h 971"/>
                <a:gd name="T38" fmla="*/ 193 w 352"/>
                <a:gd name="T39" fmla="*/ 14 h 971"/>
                <a:gd name="T40" fmla="*/ 218 w 352"/>
                <a:gd name="T41" fmla="*/ 0 h 971"/>
                <a:gd name="T42" fmla="*/ 224 w 352"/>
                <a:gd name="T43" fmla="*/ 25 h 971"/>
                <a:gd name="T44" fmla="*/ 262 w 352"/>
                <a:gd name="T45" fmla="*/ 110 h 971"/>
                <a:gd name="T46" fmla="*/ 316 w 352"/>
                <a:gd name="T47" fmla="*/ 193 h 971"/>
                <a:gd name="T48" fmla="*/ 333 w 352"/>
                <a:gd name="T49" fmla="*/ 406 h 971"/>
                <a:gd name="T50" fmla="*/ 287 w 352"/>
                <a:gd name="T51" fmla="*/ 567 h 971"/>
                <a:gd name="T52" fmla="*/ 237 w 352"/>
                <a:gd name="T53" fmla="*/ 757 h 971"/>
                <a:gd name="T54" fmla="*/ 187 w 352"/>
                <a:gd name="T55" fmla="*/ 873 h 971"/>
                <a:gd name="T56" fmla="*/ 170 w 352"/>
                <a:gd name="T57" fmla="*/ 892 h 971"/>
                <a:gd name="T58" fmla="*/ 167 w 352"/>
                <a:gd name="T59" fmla="*/ 889 h 9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52" h="971">
                  <a:moveTo>
                    <a:pt x="167" y="889"/>
                  </a:moveTo>
                  <a:cubicBezTo>
                    <a:pt x="203" y="838"/>
                    <a:pt x="218" y="779"/>
                    <a:pt x="231" y="720"/>
                  </a:cubicBezTo>
                  <a:cubicBezTo>
                    <a:pt x="254" y="620"/>
                    <a:pt x="280" y="521"/>
                    <a:pt x="303" y="421"/>
                  </a:cubicBezTo>
                  <a:cubicBezTo>
                    <a:pt x="318" y="357"/>
                    <a:pt x="322" y="291"/>
                    <a:pt x="298" y="228"/>
                  </a:cubicBezTo>
                  <a:cubicBezTo>
                    <a:pt x="290" y="206"/>
                    <a:pt x="279" y="185"/>
                    <a:pt x="266" y="165"/>
                  </a:cubicBezTo>
                  <a:cubicBezTo>
                    <a:pt x="244" y="129"/>
                    <a:pt x="226" y="92"/>
                    <a:pt x="217" y="50"/>
                  </a:cubicBezTo>
                  <a:cubicBezTo>
                    <a:pt x="214" y="34"/>
                    <a:pt x="208" y="32"/>
                    <a:pt x="197" y="43"/>
                  </a:cubicBezTo>
                  <a:cubicBezTo>
                    <a:pt x="135" y="108"/>
                    <a:pt x="79" y="176"/>
                    <a:pt x="51" y="264"/>
                  </a:cubicBezTo>
                  <a:cubicBezTo>
                    <a:pt x="33" y="321"/>
                    <a:pt x="30" y="379"/>
                    <a:pt x="39" y="437"/>
                  </a:cubicBezTo>
                  <a:cubicBezTo>
                    <a:pt x="52" y="518"/>
                    <a:pt x="56" y="600"/>
                    <a:pt x="59" y="682"/>
                  </a:cubicBezTo>
                  <a:cubicBezTo>
                    <a:pt x="62" y="756"/>
                    <a:pt x="66" y="831"/>
                    <a:pt x="71" y="905"/>
                  </a:cubicBezTo>
                  <a:cubicBezTo>
                    <a:pt x="72" y="922"/>
                    <a:pt x="76" y="939"/>
                    <a:pt x="79" y="955"/>
                  </a:cubicBezTo>
                  <a:cubicBezTo>
                    <a:pt x="79" y="960"/>
                    <a:pt x="79" y="965"/>
                    <a:pt x="79" y="970"/>
                  </a:cubicBezTo>
                  <a:cubicBezTo>
                    <a:pt x="77" y="970"/>
                    <a:pt x="75" y="971"/>
                    <a:pt x="73" y="971"/>
                  </a:cubicBezTo>
                  <a:cubicBezTo>
                    <a:pt x="68" y="952"/>
                    <a:pt x="61" y="934"/>
                    <a:pt x="59" y="914"/>
                  </a:cubicBezTo>
                  <a:cubicBezTo>
                    <a:pt x="52" y="842"/>
                    <a:pt x="46" y="769"/>
                    <a:pt x="41" y="696"/>
                  </a:cubicBezTo>
                  <a:cubicBezTo>
                    <a:pt x="35" y="618"/>
                    <a:pt x="29" y="539"/>
                    <a:pt x="22" y="461"/>
                  </a:cubicBezTo>
                  <a:cubicBezTo>
                    <a:pt x="20" y="436"/>
                    <a:pt x="12" y="413"/>
                    <a:pt x="8" y="389"/>
                  </a:cubicBezTo>
                  <a:cubicBezTo>
                    <a:pt x="0" y="332"/>
                    <a:pt x="16" y="279"/>
                    <a:pt x="39" y="228"/>
                  </a:cubicBezTo>
                  <a:cubicBezTo>
                    <a:pt x="75" y="145"/>
                    <a:pt x="126" y="74"/>
                    <a:pt x="193" y="14"/>
                  </a:cubicBezTo>
                  <a:cubicBezTo>
                    <a:pt x="200" y="8"/>
                    <a:pt x="210" y="5"/>
                    <a:pt x="218" y="0"/>
                  </a:cubicBezTo>
                  <a:cubicBezTo>
                    <a:pt x="220" y="8"/>
                    <a:pt x="224" y="17"/>
                    <a:pt x="224" y="25"/>
                  </a:cubicBezTo>
                  <a:cubicBezTo>
                    <a:pt x="227" y="58"/>
                    <a:pt x="244" y="84"/>
                    <a:pt x="262" y="110"/>
                  </a:cubicBezTo>
                  <a:cubicBezTo>
                    <a:pt x="280" y="138"/>
                    <a:pt x="300" y="164"/>
                    <a:pt x="316" y="193"/>
                  </a:cubicBezTo>
                  <a:cubicBezTo>
                    <a:pt x="352" y="261"/>
                    <a:pt x="351" y="334"/>
                    <a:pt x="333" y="406"/>
                  </a:cubicBezTo>
                  <a:cubicBezTo>
                    <a:pt x="319" y="460"/>
                    <a:pt x="301" y="513"/>
                    <a:pt x="287" y="567"/>
                  </a:cubicBezTo>
                  <a:cubicBezTo>
                    <a:pt x="269" y="630"/>
                    <a:pt x="255" y="694"/>
                    <a:pt x="237" y="757"/>
                  </a:cubicBezTo>
                  <a:cubicBezTo>
                    <a:pt x="226" y="798"/>
                    <a:pt x="212" y="838"/>
                    <a:pt x="187" y="873"/>
                  </a:cubicBezTo>
                  <a:cubicBezTo>
                    <a:pt x="182" y="880"/>
                    <a:pt x="176" y="886"/>
                    <a:pt x="170" y="892"/>
                  </a:cubicBezTo>
                  <a:cubicBezTo>
                    <a:pt x="169" y="891"/>
                    <a:pt x="168" y="890"/>
                    <a:pt x="167" y="88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8" name="Freeform 22"/>
            <p:cNvSpPr/>
            <p:nvPr/>
          </p:nvSpPr>
          <p:spPr bwMode="auto">
            <a:xfrm>
              <a:off x="968375" y="7385050"/>
              <a:ext cx="1520825" cy="3641725"/>
            </a:xfrm>
            <a:custGeom>
              <a:avLst/>
              <a:gdLst>
                <a:gd name="T0" fmla="*/ 141 w 470"/>
                <a:gd name="T1" fmla="*/ 62 h 1123"/>
                <a:gd name="T2" fmla="*/ 39 w 470"/>
                <a:gd name="T3" fmla="*/ 15 h 1123"/>
                <a:gd name="T4" fmla="*/ 42 w 470"/>
                <a:gd name="T5" fmla="*/ 29 h 1123"/>
                <a:gd name="T6" fmla="*/ 54 w 470"/>
                <a:gd name="T7" fmla="*/ 209 h 1123"/>
                <a:gd name="T8" fmla="*/ 31 w 470"/>
                <a:gd name="T9" fmla="*/ 372 h 1123"/>
                <a:gd name="T10" fmla="*/ 132 w 470"/>
                <a:gd name="T11" fmla="*/ 675 h 1123"/>
                <a:gd name="T12" fmla="*/ 243 w 470"/>
                <a:gd name="T13" fmla="*/ 786 h 1123"/>
                <a:gd name="T14" fmla="*/ 331 w 470"/>
                <a:gd name="T15" fmla="*/ 928 h 1123"/>
                <a:gd name="T16" fmla="*/ 470 w 470"/>
                <a:gd name="T17" fmla="*/ 1119 h 1123"/>
                <a:gd name="T18" fmla="*/ 466 w 470"/>
                <a:gd name="T19" fmla="*/ 1123 h 1123"/>
                <a:gd name="T20" fmla="*/ 420 w 470"/>
                <a:gd name="T21" fmla="*/ 1090 h 1123"/>
                <a:gd name="T22" fmla="*/ 333 w 470"/>
                <a:gd name="T23" fmla="*/ 970 h 1123"/>
                <a:gd name="T24" fmla="*/ 187 w 470"/>
                <a:gd name="T25" fmla="*/ 767 h 1123"/>
                <a:gd name="T26" fmla="*/ 86 w 470"/>
                <a:gd name="T27" fmla="*/ 662 h 1123"/>
                <a:gd name="T28" fmla="*/ 1 w 470"/>
                <a:gd name="T29" fmla="*/ 410 h 1123"/>
                <a:gd name="T30" fmla="*/ 27 w 470"/>
                <a:gd name="T31" fmla="*/ 204 h 1123"/>
                <a:gd name="T32" fmla="*/ 41 w 470"/>
                <a:gd name="T33" fmla="*/ 126 h 1123"/>
                <a:gd name="T34" fmla="*/ 25 w 470"/>
                <a:gd name="T35" fmla="*/ 26 h 1123"/>
                <a:gd name="T36" fmla="*/ 36 w 470"/>
                <a:gd name="T37" fmla="*/ 1 h 1123"/>
                <a:gd name="T38" fmla="*/ 46 w 470"/>
                <a:gd name="T39" fmla="*/ 1 h 1123"/>
                <a:gd name="T40" fmla="*/ 141 w 470"/>
                <a:gd name="T41" fmla="*/ 62 h 1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70" h="1123">
                  <a:moveTo>
                    <a:pt x="141" y="62"/>
                  </a:moveTo>
                  <a:cubicBezTo>
                    <a:pt x="111" y="39"/>
                    <a:pt x="79" y="22"/>
                    <a:pt x="39" y="15"/>
                  </a:cubicBezTo>
                  <a:cubicBezTo>
                    <a:pt x="40" y="21"/>
                    <a:pt x="40" y="25"/>
                    <a:pt x="42" y="29"/>
                  </a:cubicBezTo>
                  <a:cubicBezTo>
                    <a:pt x="66" y="88"/>
                    <a:pt x="63" y="148"/>
                    <a:pt x="54" y="209"/>
                  </a:cubicBezTo>
                  <a:cubicBezTo>
                    <a:pt x="47" y="264"/>
                    <a:pt x="38" y="318"/>
                    <a:pt x="31" y="372"/>
                  </a:cubicBezTo>
                  <a:cubicBezTo>
                    <a:pt x="18" y="489"/>
                    <a:pt x="53" y="590"/>
                    <a:pt x="132" y="675"/>
                  </a:cubicBezTo>
                  <a:cubicBezTo>
                    <a:pt x="168" y="713"/>
                    <a:pt x="206" y="749"/>
                    <a:pt x="243" y="786"/>
                  </a:cubicBezTo>
                  <a:cubicBezTo>
                    <a:pt x="283" y="827"/>
                    <a:pt x="314" y="873"/>
                    <a:pt x="331" y="928"/>
                  </a:cubicBezTo>
                  <a:cubicBezTo>
                    <a:pt x="356" y="1006"/>
                    <a:pt x="396" y="1075"/>
                    <a:pt x="470" y="1119"/>
                  </a:cubicBezTo>
                  <a:cubicBezTo>
                    <a:pt x="468" y="1120"/>
                    <a:pt x="467" y="1121"/>
                    <a:pt x="466" y="1123"/>
                  </a:cubicBezTo>
                  <a:cubicBezTo>
                    <a:pt x="451" y="1112"/>
                    <a:pt x="435" y="1101"/>
                    <a:pt x="420" y="1090"/>
                  </a:cubicBezTo>
                  <a:cubicBezTo>
                    <a:pt x="380" y="1057"/>
                    <a:pt x="351" y="1016"/>
                    <a:pt x="333" y="970"/>
                  </a:cubicBezTo>
                  <a:cubicBezTo>
                    <a:pt x="301" y="889"/>
                    <a:pt x="246" y="827"/>
                    <a:pt x="187" y="767"/>
                  </a:cubicBezTo>
                  <a:cubicBezTo>
                    <a:pt x="153" y="733"/>
                    <a:pt x="118" y="699"/>
                    <a:pt x="86" y="662"/>
                  </a:cubicBezTo>
                  <a:cubicBezTo>
                    <a:pt x="22" y="591"/>
                    <a:pt x="0" y="505"/>
                    <a:pt x="1" y="410"/>
                  </a:cubicBezTo>
                  <a:cubicBezTo>
                    <a:pt x="2" y="340"/>
                    <a:pt x="16" y="272"/>
                    <a:pt x="27" y="204"/>
                  </a:cubicBezTo>
                  <a:cubicBezTo>
                    <a:pt x="31" y="178"/>
                    <a:pt x="36" y="152"/>
                    <a:pt x="41" y="126"/>
                  </a:cubicBezTo>
                  <a:cubicBezTo>
                    <a:pt x="48" y="90"/>
                    <a:pt x="43" y="57"/>
                    <a:pt x="25" y="26"/>
                  </a:cubicBezTo>
                  <a:cubicBezTo>
                    <a:pt x="17" y="13"/>
                    <a:pt x="21" y="5"/>
                    <a:pt x="36" y="1"/>
                  </a:cubicBezTo>
                  <a:cubicBezTo>
                    <a:pt x="39" y="1"/>
                    <a:pt x="43" y="0"/>
                    <a:pt x="46" y="1"/>
                  </a:cubicBezTo>
                  <a:cubicBezTo>
                    <a:pt x="87" y="6"/>
                    <a:pt x="118" y="28"/>
                    <a:pt x="141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59" name="Freeform 23"/>
            <p:cNvSpPr/>
            <p:nvPr/>
          </p:nvSpPr>
          <p:spPr bwMode="auto">
            <a:xfrm>
              <a:off x="377825" y="9642475"/>
              <a:ext cx="2266950" cy="1509713"/>
            </a:xfrm>
            <a:custGeom>
              <a:avLst/>
              <a:gdLst>
                <a:gd name="T0" fmla="*/ 700 w 700"/>
                <a:gd name="T1" fmla="*/ 457 h 466"/>
                <a:gd name="T2" fmla="*/ 570 w 700"/>
                <a:gd name="T3" fmla="*/ 449 h 466"/>
                <a:gd name="T4" fmla="*/ 367 w 700"/>
                <a:gd name="T5" fmla="*/ 408 h 466"/>
                <a:gd name="T6" fmla="*/ 251 w 700"/>
                <a:gd name="T7" fmla="*/ 363 h 466"/>
                <a:gd name="T8" fmla="*/ 194 w 700"/>
                <a:gd name="T9" fmla="*/ 291 h 466"/>
                <a:gd name="T10" fmla="*/ 104 w 700"/>
                <a:gd name="T11" fmla="*/ 167 h 466"/>
                <a:gd name="T12" fmla="*/ 19 w 700"/>
                <a:gd name="T13" fmla="*/ 79 h 466"/>
                <a:gd name="T14" fmla="*/ 27 w 700"/>
                <a:gd name="T15" fmla="*/ 33 h 466"/>
                <a:gd name="T16" fmla="*/ 196 w 700"/>
                <a:gd name="T17" fmla="*/ 16 h 466"/>
                <a:gd name="T18" fmla="*/ 402 w 700"/>
                <a:gd name="T19" fmla="*/ 189 h 466"/>
                <a:gd name="T20" fmla="*/ 494 w 700"/>
                <a:gd name="T21" fmla="*/ 306 h 466"/>
                <a:gd name="T22" fmla="*/ 527 w 700"/>
                <a:gd name="T23" fmla="*/ 332 h 466"/>
                <a:gd name="T24" fmla="*/ 476 w 700"/>
                <a:gd name="T25" fmla="*/ 306 h 466"/>
                <a:gd name="T26" fmla="*/ 373 w 700"/>
                <a:gd name="T27" fmla="*/ 184 h 466"/>
                <a:gd name="T28" fmla="*/ 288 w 700"/>
                <a:gd name="T29" fmla="*/ 79 h 466"/>
                <a:gd name="T30" fmla="*/ 171 w 700"/>
                <a:gd name="T31" fmla="*/ 27 h 466"/>
                <a:gd name="T32" fmla="*/ 30 w 700"/>
                <a:gd name="T33" fmla="*/ 44 h 466"/>
                <a:gd name="T34" fmla="*/ 12 w 700"/>
                <a:gd name="T35" fmla="*/ 55 h 466"/>
                <a:gd name="T36" fmla="*/ 23 w 700"/>
                <a:gd name="T37" fmla="*/ 72 h 466"/>
                <a:gd name="T38" fmla="*/ 211 w 700"/>
                <a:gd name="T39" fmla="*/ 273 h 466"/>
                <a:gd name="T40" fmla="*/ 383 w 700"/>
                <a:gd name="T41" fmla="*/ 389 h 466"/>
                <a:gd name="T42" fmla="*/ 651 w 700"/>
                <a:gd name="T43" fmla="*/ 448 h 466"/>
                <a:gd name="T44" fmla="*/ 685 w 700"/>
                <a:gd name="T45" fmla="*/ 452 h 466"/>
                <a:gd name="T46" fmla="*/ 700 w 700"/>
                <a:gd name="T47" fmla="*/ 457 h 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00" h="466">
                  <a:moveTo>
                    <a:pt x="700" y="457"/>
                  </a:moveTo>
                  <a:cubicBezTo>
                    <a:pt x="655" y="466"/>
                    <a:pt x="612" y="458"/>
                    <a:pt x="570" y="449"/>
                  </a:cubicBezTo>
                  <a:cubicBezTo>
                    <a:pt x="502" y="435"/>
                    <a:pt x="435" y="422"/>
                    <a:pt x="367" y="408"/>
                  </a:cubicBezTo>
                  <a:cubicBezTo>
                    <a:pt x="326" y="399"/>
                    <a:pt x="286" y="388"/>
                    <a:pt x="251" y="363"/>
                  </a:cubicBezTo>
                  <a:cubicBezTo>
                    <a:pt x="225" y="344"/>
                    <a:pt x="206" y="320"/>
                    <a:pt x="194" y="291"/>
                  </a:cubicBezTo>
                  <a:cubicBezTo>
                    <a:pt x="174" y="242"/>
                    <a:pt x="144" y="202"/>
                    <a:pt x="104" y="167"/>
                  </a:cubicBezTo>
                  <a:cubicBezTo>
                    <a:pt x="73" y="141"/>
                    <a:pt x="46" y="109"/>
                    <a:pt x="19" y="79"/>
                  </a:cubicBezTo>
                  <a:cubicBezTo>
                    <a:pt x="0" y="59"/>
                    <a:pt x="3" y="47"/>
                    <a:pt x="27" y="33"/>
                  </a:cubicBezTo>
                  <a:cubicBezTo>
                    <a:pt x="80" y="0"/>
                    <a:pt x="138" y="0"/>
                    <a:pt x="196" y="16"/>
                  </a:cubicBezTo>
                  <a:cubicBezTo>
                    <a:pt x="290" y="43"/>
                    <a:pt x="354" y="106"/>
                    <a:pt x="402" y="189"/>
                  </a:cubicBezTo>
                  <a:cubicBezTo>
                    <a:pt x="427" y="232"/>
                    <a:pt x="454" y="274"/>
                    <a:pt x="494" y="306"/>
                  </a:cubicBezTo>
                  <a:cubicBezTo>
                    <a:pt x="504" y="315"/>
                    <a:pt x="516" y="323"/>
                    <a:pt x="527" y="332"/>
                  </a:cubicBezTo>
                  <a:cubicBezTo>
                    <a:pt x="507" y="329"/>
                    <a:pt x="491" y="318"/>
                    <a:pt x="476" y="306"/>
                  </a:cubicBezTo>
                  <a:cubicBezTo>
                    <a:pt x="435" y="271"/>
                    <a:pt x="405" y="226"/>
                    <a:pt x="373" y="184"/>
                  </a:cubicBezTo>
                  <a:cubicBezTo>
                    <a:pt x="345" y="148"/>
                    <a:pt x="317" y="113"/>
                    <a:pt x="288" y="79"/>
                  </a:cubicBezTo>
                  <a:cubicBezTo>
                    <a:pt x="257" y="44"/>
                    <a:pt x="216" y="29"/>
                    <a:pt x="171" y="27"/>
                  </a:cubicBezTo>
                  <a:cubicBezTo>
                    <a:pt x="123" y="25"/>
                    <a:pt x="76" y="30"/>
                    <a:pt x="30" y="44"/>
                  </a:cubicBezTo>
                  <a:cubicBezTo>
                    <a:pt x="23" y="46"/>
                    <a:pt x="18" y="51"/>
                    <a:pt x="12" y="55"/>
                  </a:cubicBezTo>
                  <a:cubicBezTo>
                    <a:pt x="16" y="61"/>
                    <a:pt x="18" y="68"/>
                    <a:pt x="23" y="72"/>
                  </a:cubicBezTo>
                  <a:cubicBezTo>
                    <a:pt x="101" y="125"/>
                    <a:pt x="159" y="196"/>
                    <a:pt x="211" y="273"/>
                  </a:cubicBezTo>
                  <a:cubicBezTo>
                    <a:pt x="253" y="335"/>
                    <a:pt x="310" y="373"/>
                    <a:pt x="383" y="389"/>
                  </a:cubicBezTo>
                  <a:cubicBezTo>
                    <a:pt x="472" y="408"/>
                    <a:pt x="562" y="428"/>
                    <a:pt x="651" y="448"/>
                  </a:cubicBezTo>
                  <a:cubicBezTo>
                    <a:pt x="662" y="450"/>
                    <a:pt x="674" y="450"/>
                    <a:pt x="685" y="452"/>
                  </a:cubicBezTo>
                  <a:cubicBezTo>
                    <a:pt x="690" y="453"/>
                    <a:pt x="695" y="455"/>
                    <a:pt x="700" y="4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0" name="Freeform 24"/>
            <p:cNvSpPr/>
            <p:nvPr/>
          </p:nvSpPr>
          <p:spPr bwMode="auto">
            <a:xfrm>
              <a:off x="3535363" y="7392988"/>
              <a:ext cx="1385888" cy="2308225"/>
            </a:xfrm>
            <a:custGeom>
              <a:avLst/>
              <a:gdLst>
                <a:gd name="T0" fmla="*/ 0 w 428"/>
                <a:gd name="T1" fmla="*/ 711 h 712"/>
                <a:gd name="T2" fmla="*/ 71 w 428"/>
                <a:gd name="T3" fmla="*/ 457 h 712"/>
                <a:gd name="T4" fmla="*/ 295 w 428"/>
                <a:gd name="T5" fmla="*/ 108 h 712"/>
                <a:gd name="T6" fmla="*/ 345 w 428"/>
                <a:gd name="T7" fmla="*/ 54 h 712"/>
                <a:gd name="T8" fmla="*/ 355 w 428"/>
                <a:gd name="T9" fmla="*/ 9 h 712"/>
                <a:gd name="T10" fmla="*/ 427 w 428"/>
                <a:gd name="T11" fmla="*/ 64 h 712"/>
                <a:gd name="T12" fmla="*/ 404 w 428"/>
                <a:gd name="T13" fmla="*/ 158 h 712"/>
                <a:gd name="T14" fmla="*/ 225 w 428"/>
                <a:gd name="T15" fmla="*/ 465 h 712"/>
                <a:gd name="T16" fmla="*/ 125 w 428"/>
                <a:gd name="T17" fmla="*/ 590 h 712"/>
                <a:gd name="T18" fmla="*/ 122 w 428"/>
                <a:gd name="T19" fmla="*/ 588 h 712"/>
                <a:gd name="T20" fmla="*/ 145 w 428"/>
                <a:gd name="T21" fmla="*/ 554 h 712"/>
                <a:gd name="T22" fmla="*/ 335 w 428"/>
                <a:gd name="T23" fmla="*/ 259 h 712"/>
                <a:gd name="T24" fmla="*/ 395 w 428"/>
                <a:gd name="T25" fmla="*/ 112 h 712"/>
                <a:gd name="T26" fmla="*/ 400 w 428"/>
                <a:gd name="T27" fmla="*/ 54 h 712"/>
                <a:gd name="T28" fmla="*/ 371 w 428"/>
                <a:gd name="T29" fmla="*/ 26 h 712"/>
                <a:gd name="T30" fmla="*/ 288 w 428"/>
                <a:gd name="T31" fmla="*/ 131 h 712"/>
                <a:gd name="T32" fmla="*/ 79 w 428"/>
                <a:gd name="T33" fmla="*/ 492 h 712"/>
                <a:gd name="T34" fmla="*/ 9 w 428"/>
                <a:gd name="T35" fmla="*/ 698 h 712"/>
                <a:gd name="T36" fmla="*/ 4 w 428"/>
                <a:gd name="T37" fmla="*/ 712 h 712"/>
                <a:gd name="T38" fmla="*/ 0 w 428"/>
                <a:gd name="T39" fmla="*/ 711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28" h="712">
                  <a:moveTo>
                    <a:pt x="0" y="711"/>
                  </a:moveTo>
                  <a:cubicBezTo>
                    <a:pt x="23" y="626"/>
                    <a:pt x="44" y="541"/>
                    <a:pt x="71" y="457"/>
                  </a:cubicBezTo>
                  <a:cubicBezTo>
                    <a:pt x="115" y="322"/>
                    <a:pt x="192" y="206"/>
                    <a:pt x="295" y="108"/>
                  </a:cubicBezTo>
                  <a:cubicBezTo>
                    <a:pt x="313" y="91"/>
                    <a:pt x="330" y="73"/>
                    <a:pt x="345" y="54"/>
                  </a:cubicBezTo>
                  <a:cubicBezTo>
                    <a:pt x="356" y="42"/>
                    <a:pt x="362" y="26"/>
                    <a:pt x="355" y="9"/>
                  </a:cubicBezTo>
                  <a:cubicBezTo>
                    <a:pt x="395" y="0"/>
                    <a:pt x="426" y="23"/>
                    <a:pt x="427" y="64"/>
                  </a:cubicBezTo>
                  <a:cubicBezTo>
                    <a:pt x="428" y="98"/>
                    <a:pt x="416" y="128"/>
                    <a:pt x="404" y="158"/>
                  </a:cubicBezTo>
                  <a:cubicBezTo>
                    <a:pt x="361" y="270"/>
                    <a:pt x="297" y="370"/>
                    <a:pt x="225" y="465"/>
                  </a:cubicBezTo>
                  <a:cubicBezTo>
                    <a:pt x="192" y="507"/>
                    <a:pt x="158" y="549"/>
                    <a:pt x="125" y="590"/>
                  </a:cubicBezTo>
                  <a:cubicBezTo>
                    <a:pt x="124" y="590"/>
                    <a:pt x="123" y="589"/>
                    <a:pt x="122" y="588"/>
                  </a:cubicBezTo>
                  <a:cubicBezTo>
                    <a:pt x="130" y="577"/>
                    <a:pt x="138" y="566"/>
                    <a:pt x="145" y="554"/>
                  </a:cubicBezTo>
                  <a:cubicBezTo>
                    <a:pt x="208" y="456"/>
                    <a:pt x="273" y="359"/>
                    <a:pt x="335" y="259"/>
                  </a:cubicBezTo>
                  <a:cubicBezTo>
                    <a:pt x="363" y="214"/>
                    <a:pt x="383" y="164"/>
                    <a:pt x="395" y="112"/>
                  </a:cubicBezTo>
                  <a:cubicBezTo>
                    <a:pt x="399" y="93"/>
                    <a:pt x="400" y="73"/>
                    <a:pt x="400" y="54"/>
                  </a:cubicBezTo>
                  <a:cubicBezTo>
                    <a:pt x="399" y="37"/>
                    <a:pt x="389" y="29"/>
                    <a:pt x="371" y="26"/>
                  </a:cubicBezTo>
                  <a:cubicBezTo>
                    <a:pt x="351" y="67"/>
                    <a:pt x="319" y="99"/>
                    <a:pt x="288" y="131"/>
                  </a:cubicBezTo>
                  <a:cubicBezTo>
                    <a:pt x="190" y="235"/>
                    <a:pt x="121" y="356"/>
                    <a:pt x="79" y="492"/>
                  </a:cubicBezTo>
                  <a:cubicBezTo>
                    <a:pt x="58" y="561"/>
                    <a:pt x="33" y="629"/>
                    <a:pt x="9" y="698"/>
                  </a:cubicBezTo>
                  <a:cubicBezTo>
                    <a:pt x="8" y="703"/>
                    <a:pt x="6" y="707"/>
                    <a:pt x="4" y="712"/>
                  </a:cubicBezTo>
                  <a:cubicBezTo>
                    <a:pt x="2" y="711"/>
                    <a:pt x="1" y="711"/>
                    <a:pt x="0" y="7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1" name="Freeform 25"/>
            <p:cNvSpPr/>
            <p:nvPr/>
          </p:nvSpPr>
          <p:spPr bwMode="auto">
            <a:xfrm>
              <a:off x="1644650" y="7396163"/>
              <a:ext cx="1301750" cy="2865438"/>
            </a:xfrm>
            <a:custGeom>
              <a:avLst/>
              <a:gdLst>
                <a:gd name="T0" fmla="*/ 1 w 402"/>
                <a:gd name="T1" fmla="*/ 3 h 884"/>
                <a:gd name="T2" fmla="*/ 30 w 402"/>
                <a:gd name="T3" fmla="*/ 5 h 884"/>
                <a:gd name="T4" fmla="*/ 46 w 402"/>
                <a:gd name="T5" fmla="*/ 16 h 884"/>
                <a:gd name="T6" fmla="*/ 176 w 402"/>
                <a:gd name="T7" fmla="*/ 111 h 884"/>
                <a:gd name="T8" fmla="*/ 333 w 402"/>
                <a:gd name="T9" fmla="*/ 342 h 884"/>
                <a:gd name="T10" fmla="*/ 348 w 402"/>
                <a:gd name="T11" fmla="*/ 555 h 884"/>
                <a:gd name="T12" fmla="*/ 357 w 402"/>
                <a:gd name="T13" fmla="*/ 729 h 884"/>
                <a:gd name="T14" fmla="*/ 400 w 402"/>
                <a:gd name="T15" fmla="*/ 868 h 884"/>
                <a:gd name="T16" fmla="*/ 400 w 402"/>
                <a:gd name="T17" fmla="*/ 884 h 884"/>
                <a:gd name="T18" fmla="*/ 342 w 402"/>
                <a:gd name="T19" fmla="*/ 770 h 884"/>
                <a:gd name="T20" fmla="*/ 317 w 402"/>
                <a:gd name="T21" fmla="*/ 554 h 884"/>
                <a:gd name="T22" fmla="*/ 313 w 402"/>
                <a:gd name="T23" fmla="*/ 366 h 884"/>
                <a:gd name="T24" fmla="*/ 207 w 402"/>
                <a:gd name="T25" fmla="*/ 162 h 884"/>
                <a:gd name="T26" fmla="*/ 103 w 402"/>
                <a:gd name="T27" fmla="*/ 89 h 884"/>
                <a:gd name="T28" fmla="*/ 31 w 402"/>
                <a:gd name="T29" fmla="*/ 24 h 884"/>
                <a:gd name="T30" fmla="*/ 0 w 402"/>
                <a:gd name="T31" fmla="*/ 3 h 884"/>
                <a:gd name="T32" fmla="*/ 1 w 402"/>
                <a:gd name="T33" fmla="*/ 3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02" h="884">
                  <a:moveTo>
                    <a:pt x="1" y="3"/>
                  </a:moveTo>
                  <a:cubicBezTo>
                    <a:pt x="11" y="4"/>
                    <a:pt x="21" y="3"/>
                    <a:pt x="30" y="5"/>
                  </a:cubicBezTo>
                  <a:cubicBezTo>
                    <a:pt x="36" y="6"/>
                    <a:pt x="42" y="11"/>
                    <a:pt x="46" y="16"/>
                  </a:cubicBezTo>
                  <a:cubicBezTo>
                    <a:pt x="84" y="56"/>
                    <a:pt x="131" y="82"/>
                    <a:pt x="176" y="111"/>
                  </a:cubicBezTo>
                  <a:cubicBezTo>
                    <a:pt x="260" y="166"/>
                    <a:pt x="312" y="244"/>
                    <a:pt x="333" y="342"/>
                  </a:cubicBezTo>
                  <a:cubicBezTo>
                    <a:pt x="347" y="412"/>
                    <a:pt x="345" y="484"/>
                    <a:pt x="348" y="555"/>
                  </a:cubicBezTo>
                  <a:cubicBezTo>
                    <a:pt x="350" y="613"/>
                    <a:pt x="351" y="671"/>
                    <a:pt x="357" y="729"/>
                  </a:cubicBezTo>
                  <a:cubicBezTo>
                    <a:pt x="362" y="778"/>
                    <a:pt x="377" y="825"/>
                    <a:pt x="400" y="868"/>
                  </a:cubicBezTo>
                  <a:cubicBezTo>
                    <a:pt x="402" y="873"/>
                    <a:pt x="401" y="879"/>
                    <a:pt x="400" y="884"/>
                  </a:cubicBezTo>
                  <a:cubicBezTo>
                    <a:pt x="371" y="850"/>
                    <a:pt x="354" y="811"/>
                    <a:pt x="342" y="770"/>
                  </a:cubicBezTo>
                  <a:cubicBezTo>
                    <a:pt x="322" y="699"/>
                    <a:pt x="319" y="627"/>
                    <a:pt x="317" y="554"/>
                  </a:cubicBezTo>
                  <a:cubicBezTo>
                    <a:pt x="316" y="491"/>
                    <a:pt x="315" y="428"/>
                    <a:pt x="313" y="366"/>
                  </a:cubicBezTo>
                  <a:cubicBezTo>
                    <a:pt x="309" y="281"/>
                    <a:pt x="271" y="214"/>
                    <a:pt x="207" y="162"/>
                  </a:cubicBezTo>
                  <a:cubicBezTo>
                    <a:pt x="174" y="135"/>
                    <a:pt x="139" y="111"/>
                    <a:pt x="103" y="89"/>
                  </a:cubicBezTo>
                  <a:cubicBezTo>
                    <a:pt x="75" y="72"/>
                    <a:pt x="50" y="52"/>
                    <a:pt x="31" y="24"/>
                  </a:cubicBezTo>
                  <a:cubicBezTo>
                    <a:pt x="24" y="14"/>
                    <a:pt x="17" y="0"/>
                    <a:pt x="0" y="3"/>
                  </a:cubicBezTo>
                  <a:lnTo>
                    <a:pt x="1" y="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2" name="Freeform 26"/>
            <p:cNvSpPr/>
            <p:nvPr/>
          </p:nvSpPr>
          <p:spPr bwMode="auto">
            <a:xfrm>
              <a:off x="1292225" y="7405688"/>
              <a:ext cx="1573213" cy="3714750"/>
            </a:xfrm>
            <a:custGeom>
              <a:avLst/>
              <a:gdLst>
                <a:gd name="T0" fmla="*/ 109 w 486"/>
                <a:gd name="T1" fmla="*/ 0 h 1146"/>
                <a:gd name="T2" fmla="*/ 87 w 486"/>
                <a:gd name="T3" fmla="*/ 47 h 1146"/>
                <a:gd name="T4" fmla="*/ 35 w 486"/>
                <a:gd name="T5" fmla="*/ 237 h 1146"/>
                <a:gd name="T6" fmla="*/ 47 w 486"/>
                <a:gd name="T7" fmla="*/ 468 h 1146"/>
                <a:gd name="T8" fmla="*/ 245 w 486"/>
                <a:gd name="T9" fmla="*/ 807 h 1146"/>
                <a:gd name="T10" fmla="*/ 261 w 486"/>
                <a:gd name="T11" fmla="*/ 833 h 1146"/>
                <a:gd name="T12" fmla="*/ 361 w 486"/>
                <a:gd name="T13" fmla="*/ 1051 h 1146"/>
                <a:gd name="T14" fmla="*/ 435 w 486"/>
                <a:gd name="T15" fmla="*/ 1112 h 1146"/>
                <a:gd name="T16" fmla="*/ 464 w 486"/>
                <a:gd name="T17" fmla="*/ 1124 h 1146"/>
                <a:gd name="T18" fmla="*/ 486 w 486"/>
                <a:gd name="T19" fmla="*/ 1143 h 1146"/>
                <a:gd name="T20" fmla="*/ 381 w 486"/>
                <a:gd name="T21" fmla="*/ 1115 h 1146"/>
                <a:gd name="T22" fmla="*/ 312 w 486"/>
                <a:gd name="T23" fmla="*/ 1011 h 1146"/>
                <a:gd name="T24" fmla="*/ 260 w 486"/>
                <a:gd name="T25" fmla="*/ 852 h 1146"/>
                <a:gd name="T26" fmla="*/ 235 w 486"/>
                <a:gd name="T27" fmla="*/ 807 h 1146"/>
                <a:gd name="T28" fmla="*/ 56 w 486"/>
                <a:gd name="T29" fmla="*/ 551 h 1146"/>
                <a:gd name="T30" fmla="*/ 4 w 486"/>
                <a:gd name="T31" fmla="*/ 293 h 1146"/>
                <a:gd name="T32" fmla="*/ 44 w 486"/>
                <a:gd name="T33" fmla="*/ 131 h 1146"/>
                <a:gd name="T34" fmla="*/ 81 w 486"/>
                <a:gd name="T35" fmla="*/ 31 h 1146"/>
                <a:gd name="T36" fmla="*/ 110 w 486"/>
                <a:gd name="T37" fmla="*/ 0 h 1146"/>
                <a:gd name="T38" fmla="*/ 109 w 486"/>
                <a:gd name="T39" fmla="*/ 0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86" h="1146">
                  <a:moveTo>
                    <a:pt x="109" y="0"/>
                  </a:moveTo>
                  <a:cubicBezTo>
                    <a:pt x="102" y="15"/>
                    <a:pt x="92" y="30"/>
                    <a:pt x="87" y="47"/>
                  </a:cubicBezTo>
                  <a:cubicBezTo>
                    <a:pt x="69" y="110"/>
                    <a:pt x="50" y="173"/>
                    <a:pt x="35" y="237"/>
                  </a:cubicBezTo>
                  <a:cubicBezTo>
                    <a:pt x="16" y="315"/>
                    <a:pt x="27" y="392"/>
                    <a:pt x="47" y="468"/>
                  </a:cubicBezTo>
                  <a:cubicBezTo>
                    <a:pt x="81" y="599"/>
                    <a:pt x="149" y="711"/>
                    <a:pt x="245" y="807"/>
                  </a:cubicBezTo>
                  <a:cubicBezTo>
                    <a:pt x="252" y="814"/>
                    <a:pt x="258" y="823"/>
                    <a:pt x="261" y="833"/>
                  </a:cubicBezTo>
                  <a:cubicBezTo>
                    <a:pt x="287" y="909"/>
                    <a:pt x="319" y="982"/>
                    <a:pt x="361" y="1051"/>
                  </a:cubicBezTo>
                  <a:cubicBezTo>
                    <a:pt x="379" y="1080"/>
                    <a:pt x="404" y="1100"/>
                    <a:pt x="435" y="1112"/>
                  </a:cubicBezTo>
                  <a:cubicBezTo>
                    <a:pt x="445" y="1116"/>
                    <a:pt x="455" y="1119"/>
                    <a:pt x="464" y="1124"/>
                  </a:cubicBezTo>
                  <a:cubicBezTo>
                    <a:pt x="473" y="1128"/>
                    <a:pt x="480" y="1135"/>
                    <a:pt x="486" y="1143"/>
                  </a:cubicBezTo>
                  <a:cubicBezTo>
                    <a:pt x="447" y="1146"/>
                    <a:pt x="411" y="1141"/>
                    <a:pt x="381" y="1115"/>
                  </a:cubicBezTo>
                  <a:cubicBezTo>
                    <a:pt x="348" y="1087"/>
                    <a:pt x="327" y="1051"/>
                    <a:pt x="312" y="1011"/>
                  </a:cubicBezTo>
                  <a:cubicBezTo>
                    <a:pt x="293" y="959"/>
                    <a:pt x="277" y="905"/>
                    <a:pt x="260" y="852"/>
                  </a:cubicBezTo>
                  <a:cubicBezTo>
                    <a:pt x="255" y="835"/>
                    <a:pt x="248" y="820"/>
                    <a:pt x="235" y="807"/>
                  </a:cubicBezTo>
                  <a:cubicBezTo>
                    <a:pt x="160" y="733"/>
                    <a:pt x="97" y="649"/>
                    <a:pt x="56" y="551"/>
                  </a:cubicBezTo>
                  <a:cubicBezTo>
                    <a:pt x="23" y="468"/>
                    <a:pt x="0" y="383"/>
                    <a:pt x="4" y="293"/>
                  </a:cubicBezTo>
                  <a:cubicBezTo>
                    <a:pt x="7" y="237"/>
                    <a:pt x="25" y="184"/>
                    <a:pt x="44" y="131"/>
                  </a:cubicBezTo>
                  <a:cubicBezTo>
                    <a:pt x="57" y="98"/>
                    <a:pt x="68" y="64"/>
                    <a:pt x="81" y="31"/>
                  </a:cubicBezTo>
                  <a:cubicBezTo>
                    <a:pt x="86" y="17"/>
                    <a:pt x="92" y="3"/>
                    <a:pt x="110" y="0"/>
                  </a:cubicBezTo>
                  <a:cubicBezTo>
                    <a:pt x="110" y="0"/>
                    <a:pt x="109" y="0"/>
                    <a:pt x="10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3" name="Freeform 31"/>
            <p:cNvSpPr>
              <a:spLocks noEditPoints="1"/>
            </p:cNvSpPr>
            <p:nvPr/>
          </p:nvSpPr>
          <p:spPr bwMode="auto">
            <a:xfrm>
              <a:off x="3040063" y="10883900"/>
              <a:ext cx="768350" cy="877888"/>
            </a:xfrm>
            <a:custGeom>
              <a:avLst/>
              <a:gdLst>
                <a:gd name="T0" fmla="*/ 237 w 237"/>
                <a:gd name="T1" fmla="*/ 0 h 271"/>
                <a:gd name="T2" fmla="*/ 192 w 237"/>
                <a:gd name="T3" fmla="*/ 152 h 271"/>
                <a:gd name="T4" fmla="*/ 99 w 237"/>
                <a:gd name="T5" fmla="*/ 251 h 271"/>
                <a:gd name="T6" fmla="*/ 20 w 237"/>
                <a:gd name="T7" fmla="*/ 223 h 271"/>
                <a:gd name="T8" fmla="*/ 17 w 237"/>
                <a:gd name="T9" fmla="*/ 216 h 271"/>
                <a:gd name="T10" fmla="*/ 56 w 237"/>
                <a:gd name="T11" fmla="*/ 130 h 271"/>
                <a:gd name="T12" fmla="*/ 186 w 237"/>
                <a:gd name="T13" fmla="*/ 57 h 271"/>
                <a:gd name="T14" fmla="*/ 237 w 237"/>
                <a:gd name="T15" fmla="*/ 0 h 271"/>
                <a:gd name="T16" fmla="*/ 226 w 237"/>
                <a:gd name="T17" fmla="*/ 30 h 271"/>
                <a:gd name="T18" fmla="*/ 218 w 237"/>
                <a:gd name="T19" fmla="*/ 32 h 271"/>
                <a:gd name="T20" fmla="*/ 211 w 237"/>
                <a:gd name="T21" fmla="*/ 40 h 271"/>
                <a:gd name="T22" fmla="*/ 55 w 237"/>
                <a:gd name="T23" fmla="*/ 151 h 271"/>
                <a:gd name="T24" fmla="*/ 38 w 237"/>
                <a:gd name="T25" fmla="*/ 160 h 271"/>
                <a:gd name="T26" fmla="*/ 24 w 237"/>
                <a:gd name="T27" fmla="*/ 183 h 271"/>
                <a:gd name="T28" fmla="*/ 33 w 237"/>
                <a:gd name="T29" fmla="*/ 229 h 271"/>
                <a:gd name="T30" fmla="*/ 62 w 237"/>
                <a:gd name="T31" fmla="*/ 241 h 271"/>
                <a:gd name="T32" fmla="*/ 94 w 237"/>
                <a:gd name="T33" fmla="*/ 223 h 271"/>
                <a:gd name="T34" fmla="*/ 193 w 237"/>
                <a:gd name="T35" fmla="*/ 98 h 271"/>
                <a:gd name="T36" fmla="*/ 226 w 237"/>
                <a:gd name="T37" fmla="*/ 30 h 2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37" h="271">
                  <a:moveTo>
                    <a:pt x="237" y="0"/>
                  </a:moveTo>
                  <a:cubicBezTo>
                    <a:pt x="230" y="54"/>
                    <a:pt x="218" y="105"/>
                    <a:pt x="192" y="152"/>
                  </a:cubicBezTo>
                  <a:cubicBezTo>
                    <a:pt x="170" y="193"/>
                    <a:pt x="140" y="228"/>
                    <a:pt x="99" y="251"/>
                  </a:cubicBezTo>
                  <a:cubicBezTo>
                    <a:pt x="63" y="271"/>
                    <a:pt x="36" y="261"/>
                    <a:pt x="20" y="223"/>
                  </a:cubicBezTo>
                  <a:cubicBezTo>
                    <a:pt x="19" y="221"/>
                    <a:pt x="18" y="219"/>
                    <a:pt x="17" y="216"/>
                  </a:cubicBezTo>
                  <a:cubicBezTo>
                    <a:pt x="0" y="172"/>
                    <a:pt x="12" y="146"/>
                    <a:pt x="56" y="130"/>
                  </a:cubicBezTo>
                  <a:cubicBezTo>
                    <a:pt x="104" y="113"/>
                    <a:pt x="149" y="92"/>
                    <a:pt x="186" y="57"/>
                  </a:cubicBezTo>
                  <a:cubicBezTo>
                    <a:pt x="204" y="40"/>
                    <a:pt x="220" y="20"/>
                    <a:pt x="237" y="0"/>
                  </a:cubicBezTo>
                  <a:close/>
                  <a:moveTo>
                    <a:pt x="226" y="30"/>
                  </a:moveTo>
                  <a:cubicBezTo>
                    <a:pt x="220" y="31"/>
                    <a:pt x="219" y="31"/>
                    <a:pt x="218" y="32"/>
                  </a:cubicBezTo>
                  <a:cubicBezTo>
                    <a:pt x="216" y="34"/>
                    <a:pt x="213" y="37"/>
                    <a:pt x="211" y="40"/>
                  </a:cubicBezTo>
                  <a:cubicBezTo>
                    <a:pt x="168" y="89"/>
                    <a:pt x="120" y="132"/>
                    <a:pt x="55" y="151"/>
                  </a:cubicBezTo>
                  <a:cubicBezTo>
                    <a:pt x="49" y="153"/>
                    <a:pt x="42" y="155"/>
                    <a:pt x="38" y="160"/>
                  </a:cubicBezTo>
                  <a:cubicBezTo>
                    <a:pt x="32" y="166"/>
                    <a:pt x="24" y="175"/>
                    <a:pt x="24" y="183"/>
                  </a:cubicBezTo>
                  <a:cubicBezTo>
                    <a:pt x="24" y="198"/>
                    <a:pt x="27" y="214"/>
                    <a:pt x="33" y="229"/>
                  </a:cubicBezTo>
                  <a:cubicBezTo>
                    <a:pt x="37" y="242"/>
                    <a:pt x="49" y="247"/>
                    <a:pt x="62" y="241"/>
                  </a:cubicBezTo>
                  <a:cubicBezTo>
                    <a:pt x="74" y="237"/>
                    <a:pt x="85" y="231"/>
                    <a:pt x="94" y="223"/>
                  </a:cubicBezTo>
                  <a:cubicBezTo>
                    <a:pt x="136" y="188"/>
                    <a:pt x="166" y="144"/>
                    <a:pt x="193" y="98"/>
                  </a:cubicBezTo>
                  <a:cubicBezTo>
                    <a:pt x="205" y="77"/>
                    <a:pt x="214" y="54"/>
                    <a:pt x="22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4" name="Freeform 33"/>
            <p:cNvSpPr/>
            <p:nvPr/>
          </p:nvSpPr>
          <p:spPr bwMode="auto">
            <a:xfrm>
              <a:off x="2027238" y="11276013"/>
              <a:ext cx="958850" cy="550863"/>
            </a:xfrm>
            <a:custGeom>
              <a:avLst/>
              <a:gdLst>
                <a:gd name="T0" fmla="*/ 23 w 296"/>
                <a:gd name="T1" fmla="*/ 74 h 170"/>
                <a:gd name="T2" fmla="*/ 78 w 296"/>
                <a:gd name="T3" fmla="*/ 81 h 170"/>
                <a:gd name="T4" fmla="*/ 136 w 296"/>
                <a:gd name="T5" fmla="*/ 105 h 170"/>
                <a:gd name="T6" fmla="*/ 177 w 296"/>
                <a:gd name="T7" fmla="*/ 132 h 170"/>
                <a:gd name="T8" fmla="*/ 262 w 296"/>
                <a:gd name="T9" fmla="*/ 135 h 170"/>
                <a:gd name="T10" fmla="*/ 281 w 296"/>
                <a:gd name="T11" fmla="*/ 86 h 170"/>
                <a:gd name="T12" fmla="*/ 263 w 296"/>
                <a:gd name="T13" fmla="*/ 149 h 170"/>
                <a:gd name="T14" fmla="*/ 160 w 296"/>
                <a:gd name="T15" fmla="*/ 143 h 170"/>
                <a:gd name="T16" fmla="*/ 151 w 296"/>
                <a:gd name="T17" fmla="*/ 135 h 170"/>
                <a:gd name="T18" fmla="*/ 23 w 296"/>
                <a:gd name="T19" fmla="*/ 92 h 170"/>
                <a:gd name="T20" fmla="*/ 7 w 296"/>
                <a:gd name="T21" fmla="*/ 69 h 170"/>
                <a:gd name="T22" fmla="*/ 26 w 296"/>
                <a:gd name="T23" fmla="*/ 49 h 170"/>
                <a:gd name="T24" fmla="*/ 82 w 296"/>
                <a:gd name="T25" fmla="*/ 22 h 170"/>
                <a:gd name="T26" fmla="*/ 239 w 296"/>
                <a:gd name="T27" fmla="*/ 27 h 170"/>
                <a:gd name="T28" fmla="*/ 274 w 296"/>
                <a:gd name="T29" fmla="*/ 66 h 170"/>
                <a:gd name="T30" fmla="*/ 148 w 296"/>
                <a:gd name="T31" fmla="*/ 25 h 170"/>
                <a:gd name="T32" fmla="*/ 23 w 296"/>
                <a:gd name="T33" fmla="*/ 74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96" h="170">
                  <a:moveTo>
                    <a:pt x="23" y="74"/>
                  </a:moveTo>
                  <a:cubicBezTo>
                    <a:pt x="43" y="76"/>
                    <a:pt x="61" y="76"/>
                    <a:pt x="78" y="81"/>
                  </a:cubicBezTo>
                  <a:cubicBezTo>
                    <a:pt x="98" y="86"/>
                    <a:pt x="117" y="95"/>
                    <a:pt x="136" y="105"/>
                  </a:cubicBezTo>
                  <a:cubicBezTo>
                    <a:pt x="150" y="112"/>
                    <a:pt x="163" y="124"/>
                    <a:pt x="177" y="132"/>
                  </a:cubicBezTo>
                  <a:cubicBezTo>
                    <a:pt x="204" y="148"/>
                    <a:pt x="233" y="146"/>
                    <a:pt x="262" y="135"/>
                  </a:cubicBezTo>
                  <a:cubicBezTo>
                    <a:pt x="283" y="126"/>
                    <a:pt x="284" y="107"/>
                    <a:pt x="281" y="86"/>
                  </a:cubicBezTo>
                  <a:cubicBezTo>
                    <a:pt x="296" y="118"/>
                    <a:pt x="291" y="133"/>
                    <a:pt x="263" y="149"/>
                  </a:cubicBezTo>
                  <a:cubicBezTo>
                    <a:pt x="227" y="170"/>
                    <a:pt x="193" y="166"/>
                    <a:pt x="160" y="143"/>
                  </a:cubicBezTo>
                  <a:cubicBezTo>
                    <a:pt x="157" y="141"/>
                    <a:pt x="153" y="138"/>
                    <a:pt x="151" y="135"/>
                  </a:cubicBezTo>
                  <a:cubicBezTo>
                    <a:pt x="117" y="96"/>
                    <a:pt x="73" y="87"/>
                    <a:pt x="23" y="92"/>
                  </a:cubicBezTo>
                  <a:cubicBezTo>
                    <a:pt x="8" y="94"/>
                    <a:pt x="0" y="83"/>
                    <a:pt x="7" y="69"/>
                  </a:cubicBezTo>
                  <a:cubicBezTo>
                    <a:pt x="12" y="61"/>
                    <a:pt x="19" y="53"/>
                    <a:pt x="26" y="49"/>
                  </a:cubicBezTo>
                  <a:cubicBezTo>
                    <a:pt x="44" y="38"/>
                    <a:pt x="62" y="28"/>
                    <a:pt x="82" y="22"/>
                  </a:cubicBezTo>
                  <a:cubicBezTo>
                    <a:pt x="134" y="5"/>
                    <a:pt x="187" y="0"/>
                    <a:pt x="239" y="27"/>
                  </a:cubicBezTo>
                  <a:cubicBezTo>
                    <a:pt x="255" y="35"/>
                    <a:pt x="267" y="48"/>
                    <a:pt x="274" y="66"/>
                  </a:cubicBezTo>
                  <a:cubicBezTo>
                    <a:pt x="239" y="31"/>
                    <a:pt x="194" y="26"/>
                    <a:pt x="148" y="25"/>
                  </a:cubicBezTo>
                  <a:cubicBezTo>
                    <a:pt x="101" y="24"/>
                    <a:pt x="59" y="39"/>
                    <a:pt x="23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5" name="Freeform 35"/>
            <p:cNvSpPr/>
            <p:nvPr/>
          </p:nvSpPr>
          <p:spPr bwMode="auto">
            <a:xfrm>
              <a:off x="3817938" y="7994650"/>
              <a:ext cx="1058863" cy="1614488"/>
            </a:xfrm>
            <a:custGeom>
              <a:avLst/>
              <a:gdLst>
                <a:gd name="T0" fmla="*/ 327 w 327"/>
                <a:gd name="T1" fmla="*/ 0 h 498"/>
                <a:gd name="T2" fmla="*/ 0 w 327"/>
                <a:gd name="T3" fmla="*/ 498 h 498"/>
                <a:gd name="T4" fmla="*/ 18 w 327"/>
                <a:gd name="T5" fmla="*/ 477 h 498"/>
                <a:gd name="T6" fmla="*/ 156 w 327"/>
                <a:gd name="T7" fmla="*/ 332 h 498"/>
                <a:gd name="T8" fmla="*/ 327 w 327"/>
                <a:gd name="T9" fmla="*/ 0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7" h="498">
                  <a:moveTo>
                    <a:pt x="327" y="0"/>
                  </a:moveTo>
                  <a:cubicBezTo>
                    <a:pt x="294" y="214"/>
                    <a:pt x="177" y="374"/>
                    <a:pt x="0" y="498"/>
                  </a:cubicBezTo>
                  <a:cubicBezTo>
                    <a:pt x="7" y="490"/>
                    <a:pt x="13" y="483"/>
                    <a:pt x="18" y="477"/>
                  </a:cubicBezTo>
                  <a:cubicBezTo>
                    <a:pt x="64" y="429"/>
                    <a:pt x="113" y="382"/>
                    <a:pt x="156" y="332"/>
                  </a:cubicBezTo>
                  <a:cubicBezTo>
                    <a:pt x="239" y="234"/>
                    <a:pt x="299" y="125"/>
                    <a:pt x="3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6" name="Freeform 36"/>
            <p:cNvSpPr/>
            <p:nvPr/>
          </p:nvSpPr>
          <p:spPr bwMode="auto">
            <a:xfrm>
              <a:off x="2092325" y="6983413"/>
              <a:ext cx="1009650" cy="628650"/>
            </a:xfrm>
            <a:custGeom>
              <a:avLst/>
              <a:gdLst>
                <a:gd name="T0" fmla="*/ 312 w 312"/>
                <a:gd name="T1" fmla="*/ 106 h 194"/>
                <a:gd name="T2" fmla="*/ 206 w 312"/>
                <a:gd name="T3" fmla="*/ 50 h 194"/>
                <a:gd name="T4" fmla="*/ 153 w 312"/>
                <a:gd name="T5" fmla="*/ 20 h 194"/>
                <a:gd name="T6" fmla="*/ 121 w 312"/>
                <a:gd name="T7" fmla="*/ 26 h 194"/>
                <a:gd name="T8" fmla="*/ 62 w 312"/>
                <a:gd name="T9" fmla="*/ 89 h 194"/>
                <a:gd name="T10" fmla="*/ 19 w 312"/>
                <a:gd name="T11" fmla="*/ 164 h 194"/>
                <a:gd name="T12" fmla="*/ 19 w 312"/>
                <a:gd name="T13" fmla="*/ 194 h 194"/>
                <a:gd name="T14" fmla="*/ 3 w 312"/>
                <a:gd name="T15" fmla="*/ 165 h 194"/>
                <a:gd name="T16" fmla="*/ 21 w 312"/>
                <a:gd name="T17" fmla="*/ 117 h 194"/>
                <a:gd name="T18" fmla="*/ 112 w 312"/>
                <a:gd name="T19" fmla="*/ 12 h 194"/>
                <a:gd name="T20" fmla="*/ 151 w 312"/>
                <a:gd name="T21" fmla="*/ 5 h 194"/>
                <a:gd name="T22" fmla="*/ 209 w 312"/>
                <a:gd name="T23" fmla="*/ 33 h 194"/>
                <a:gd name="T24" fmla="*/ 287 w 312"/>
                <a:gd name="T25" fmla="*/ 81 h 194"/>
                <a:gd name="T26" fmla="*/ 312 w 312"/>
                <a:gd name="T27" fmla="*/ 106 h 1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12" h="194">
                  <a:moveTo>
                    <a:pt x="312" y="106"/>
                  </a:moveTo>
                  <a:cubicBezTo>
                    <a:pt x="277" y="87"/>
                    <a:pt x="241" y="68"/>
                    <a:pt x="206" y="50"/>
                  </a:cubicBezTo>
                  <a:cubicBezTo>
                    <a:pt x="188" y="40"/>
                    <a:pt x="170" y="30"/>
                    <a:pt x="153" y="20"/>
                  </a:cubicBezTo>
                  <a:cubicBezTo>
                    <a:pt x="138" y="12"/>
                    <a:pt x="132" y="14"/>
                    <a:pt x="121" y="26"/>
                  </a:cubicBezTo>
                  <a:cubicBezTo>
                    <a:pt x="103" y="48"/>
                    <a:pt x="83" y="69"/>
                    <a:pt x="62" y="89"/>
                  </a:cubicBezTo>
                  <a:cubicBezTo>
                    <a:pt x="40" y="110"/>
                    <a:pt x="21" y="132"/>
                    <a:pt x="19" y="164"/>
                  </a:cubicBezTo>
                  <a:cubicBezTo>
                    <a:pt x="19" y="173"/>
                    <a:pt x="19" y="183"/>
                    <a:pt x="19" y="194"/>
                  </a:cubicBezTo>
                  <a:cubicBezTo>
                    <a:pt x="7" y="188"/>
                    <a:pt x="0" y="178"/>
                    <a:pt x="3" y="165"/>
                  </a:cubicBezTo>
                  <a:cubicBezTo>
                    <a:pt x="6" y="149"/>
                    <a:pt x="11" y="130"/>
                    <a:pt x="21" y="117"/>
                  </a:cubicBezTo>
                  <a:cubicBezTo>
                    <a:pt x="49" y="81"/>
                    <a:pt x="81" y="47"/>
                    <a:pt x="112" y="12"/>
                  </a:cubicBezTo>
                  <a:cubicBezTo>
                    <a:pt x="122" y="1"/>
                    <a:pt x="138" y="0"/>
                    <a:pt x="151" y="5"/>
                  </a:cubicBezTo>
                  <a:cubicBezTo>
                    <a:pt x="171" y="13"/>
                    <a:pt x="190" y="23"/>
                    <a:pt x="209" y="33"/>
                  </a:cubicBezTo>
                  <a:cubicBezTo>
                    <a:pt x="235" y="48"/>
                    <a:pt x="261" y="65"/>
                    <a:pt x="287" y="81"/>
                  </a:cubicBezTo>
                  <a:cubicBezTo>
                    <a:pt x="298" y="88"/>
                    <a:pt x="309" y="94"/>
                    <a:pt x="312" y="10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7" name="Freeform 38"/>
            <p:cNvSpPr/>
            <p:nvPr/>
          </p:nvSpPr>
          <p:spPr bwMode="auto">
            <a:xfrm>
              <a:off x="3619500" y="7126288"/>
              <a:ext cx="407988" cy="1108075"/>
            </a:xfrm>
            <a:custGeom>
              <a:avLst/>
              <a:gdLst>
                <a:gd name="T0" fmla="*/ 0 w 126"/>
                <a:gd name="T1" fmla="*/ 0 h 342"/>
                <a:gd name="T2" fmla="*/ 92 w 126"/>
                <a:gd name="T3" fmla="*/ 124 h 342"/>
                <a:gd name="T4" fmla="*/ 124 w 126"/>
                <a:gd name="T5" fmla="*/ 257 h 342"/>
                <a:gd name="T6" fmla="*/ 99 w 126"/>
                <a:gd name="T7" fmla="*/ 342 h 342"/>
                <a:gd name="T8" fmla="*/ 0 w 126"/>
                <a:gd name="T9" fmla="*/ 0 h 3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6" h="342">
                  <a:moveTo>
                    <a:pt x="0" y="0"/>
                  </a:moveTo>
                  <a:cubicBezTo>
                    <a:pt x="39" y="36"/>
                    <a:pt x="69" y="77"/>
                    <a:pt x="92" y="124"/>
                  </a:cubicBezTo>
                  <a:cubicBezTo>
                    <a:pt x="113" y="166"/>
                    <a:pt x="126" y="209"/>
                    <a:pt x="124" y="257"/>
                  </a:cubicBezTo>
                  <a:cubicBezTo>
                    <a:pt x="123" y="287"/>
                    <a:pt x="115" y="315"/>
                    <a:pt x="99" y="342"/>
                  </a:cubicBezTo>
                  <a:cubicBezTo>
                    <a:pt x="120" y="212"/>
                    <a:pt x="84" y="99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8" name="Freeform 39"/>
            <p:cNvSpPr/>
            <p:nvPr/>
          </p:nvSpPr>
          <p:spPr bwMode="auto">
            <a:xfrm>
              <a:off x="2846388" y="11785600"/>
              <a:ext cx="339725" cy="612775"/>
            </a:xfrm>
            <a:custGeom>
              <a:avLst/>
              <a:gdLst>
                <a:gd name="T0" fmla="*/ 44 w 105"/>
                <a:gd name="T1" fmla="*/ 12 h 189"/>
                <a:gd name="T2" fmla="*/ 27 w 105"/>
                <a:gd name="T3" fmla="*/ 87 h 189"/>
                <a:gd name="T4" fmla="*/ 21 w 105"/>
                <a:gd name="T5" fmla="*/ 143 h 189"/>
                <a:gd name="T6" fmla="*/ 29 w 105"/>
                <a:gd name="T7" fmla="*/ 161 h 189"/>
                <a:gd name="T8" fmla="*/ 47 w 105"/>
                <a:gd name="T9" fmla="*/ 154 h 189"/>
                <a:gd name="T10" fmla="*/ 79 w 105"/>
                <a:gd name="T11" fmla="*/ 98 h 189"/>
                <a:gd name="T12" fmla="*/ 94 w 105"/>
                <a:gd name="T13" fmla="*/ 49 h 189"/>
                <a:gd name="T14" fmla="*/ 101 w 105"/>
                <a:gd name="T15" fmla="*/ 0 h 189"/>
                <a:gd name="T16" fmla="*/ 105 w 105"/>
                <a:gd name="T17" fmla="*/ 21 h 189"/>
                <a:gd name="T18" fmla="*/ 75 w 105"/>
                <a:gd name="T19" fmla="*/ 147 h 189"/>
                <a:gd name="T20" fmla="*/ 44 w 105"/>
                <a:gd name="T21" fmla="*/ 175 h 189"/>
                <a:gd name="T22" fmla="*/ 2 w 105"/>
                <a:gd name="T23" fmla="*/ 146 h 189"/>
                <a:gd name="T24" fmla="*/ 5 w 105"/>
                <a:gd name="T25" fmla="*/ 130 h 189"/>
                <a:gd name="T26" fmla="*/ 32 w 105"/>
                <a:gd name="T27" fmla="*/ 32 h 189"/>
                <a:gd name="T28" fmla="*/ 41 w 105"/>
                <a:gd name="T29" fmla="*/ 11 h 189"/>
                <a:gd name="T30" fmla="*/ 44 w 105"/>
                <a:gd name="T31" fmla="*/ 12 h 1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05" h="189">
                  <a:moveTo>
                    <a:pt x="44" y="12"/>
                  </a:moveTo>
                  <a:cubicBezTo>
                    <a:pt x="38" y="37"/>
                    <a:pt x="31" y="62"/>
                    <a:pt x="27" y="87"/>
                  </a:cubicBezTo>
                  <a:cubicBezTo>
                    <a:pt x="23" y="106"/>
                    <a:pt x="22" y="125"/>
                    <a:pt x="21" y="143"/>
                  </a:cubicBezTo>
                  <a:cubicBezTo>
                    <a:pt x="21" y="149"/>
                    <a:pt x="25" y="159"/>
                    <a:pt x="29" y="161"/>
                  </a:cubicBezTo>
                  <a:cubicBezTo>
                    <a:pt x="34" y="162"/>
                    <a:pt x="42" y="158"/>
                    <a:pt x="47" y="154"/>
                  </a:cubicBezTo>
                  <a:cubicBezTo>
                    <a:pt x="65" y="140"/>
                    <a:pt x="73" y="119"/>
                    <a:pt x="79" y="98"/>
                  </a:cubicBezTo>
                  <a:cubicBezTo>
                    <a:pt x="84" y="81"/>
                    <a:pt x="91" y="66"/>
                    <a:pt x="94" y="49"/>
                  </a:cubicBezTo>
                  <a:cubicBezTo>
                    <a:pt x="98" y="33"/>
                    <a:pt x="97" y="17"/>
                    <a:pt x="101" y="0"/>
                  </a:cubicBezTo>
                  <a:cubicBezTo>
                    <a:pt x="102" y="7"/>
                    <a:pt x="105" y="14"/>
                    <a:pt x="105" y="21"/>
                  </a:cubicBezTo>
                  <a:cubicBezTo>
                    <a:pt x="105" y="66"/>
                    <a:pt x="96" y="108"/>
                    <a:pt x="75" y="147"/>
                  </a:cubicBezTo>
                  <a:cubicBezTo>
                    <a:pt x="69" y="159"/>
                    <a:pt x="56" y="169"/>
                    <a:pt x="44" y="175"/>
                  </a:cubicBezTo>
                  <a:cubicBezTo>
                    <a:pt x="20" y="189"/>
                    <a:pt x="0" y="174"/>
                    <a:pt x="2" y="146"/>
                  </a:cubicBezTo>
                  <a:cubicBezTo>
                    <a:pt x="2" y="141"/>
                    <a:pt x="4" y="135"/>
                    <a:pt x="5" y="130"/>
                  </a:cubicBezTo>
                  <a:cubicBezTo>
                    <a:pt x="14" y="97"/>
                    <a:pt x="23" y="65"/>
                    <a:pt x="32" y="32"/>
                  </a:cubicBezTo>
                  <a:cubicBezTo>
                    <a:pt x="34" y="25"/>
                    <a:pt x="38" y="18"/>
                    <a:pt x="41" y="11"/>
                  </a:cubicBezTo>
                  <a:cubicBezTo>
                    <a:pt x="42" y="11"/>
                    <a:pt x="43" y="11"/>
                    <a:pt x="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  <p:sp>
          <p:nvSpPr>
            <p:cNvPr id="69" name="Freeform 40"/>
            <p:cNvSpPr/>
            <p:nvPr/>
          </p:nvSpPr>
          <p:spPr bwMode="auto">
            <a:xfrm>
              <a:off x="452438" y="9998075"/>
              <a:ext cx="515938" cy="619125"/>
            </a:xfrm>
            <a:custGeom>
              <a:avLst/>
              <a:gdLst>
                <a:gd name="T0" fmla="*/ 159 w 159"/>
                <a:gd name="T1" fmla="*/ 191 h 191"/>
                <a:gd name="T2" fmla="*/ 0 w 159"/>
                <a:gd name="T3" fmla="*/ 0 h 191"/>
                <a:gd name="T4" fmla="*/ 159 w 159"/>
                <a:gd name="T5" fmla="*/ 191 h 1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59" h="191">
                  <a:moveTo>
                    <a:pt x="159" y="191"/>
                  </a:moveTo>
                  <a:cubicBezTo>
                    <a:pt x="123" y="158"/>
                    <a:pt x="12" y="25"/>
                    <a:pt x="0" y="0"/>
                  </a:cubicBezTo>
                  <a:cubicBezTo>
                    <a:pt x="21" y="14"/>
                    <a:pt x="140" y="156"/>
                    <a:pt x="159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" panose="020B0502040204020203"/>
                <a:ea typeface="微软雅黑" panose="020B0503020204020204" charset="-122"/>
                <a:cs typeface="+mn-cs"/>
              </a:endParaRPr>
            </a:p>
          </p:txBody>
        </p:sp>
      </p:grp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60" y="253874"/>
            <a:ext cx="605908" cy="605908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9355898" y="5929331"/>
            <a:ext cx="213152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zh-CN" altLang="en-US" sz="1600" spc="300" dirty="0">
                <a:solidFill>
                  <a:schemeClr val="accent1">
                    <a:alpha val="25000"/>
                  </a:schemeClr>
                </a:solidFill>
                <a:latin typeface="管峻楷书简体" panose="02010600010101010101" pitchFamily="2" charset="-122"/>
                <a:ea typeface="管峻楷书简体" panose="02010600010101010101" pitchFamily="2" charset="-122"/>
              </a:rPr>
              <a:t>格高志远 学贯中外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dkUpDiag">
          <a:fgClr>
            <a:schemeClr val="bg1"/>
          </a:fgClr>
          <a:bgClr>
            <a:schemeClr val="bg1">
              <a:lumMod val="95000"/>
            </a:schemeClr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6C455-D181-459A-8014-67AAEFFCA7C2}" type="datetimeFigureOut">
              <a:rPr lang="zh-CN" altLang="en-US" smtClean="0"/>
              <a:t>2026/6/8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321020-7931-4610-B95E-80A53469F597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 descr="D:\360MoveData\Users\xiaoxiao\Desktop\图片2.png图片2"/>
          <p:cNvPicPr>
            <a:picLocks noChangeAspect="1"/>
          </p:cNvPicPr>
          <p:nvPr userDrawn="1"/>
        </p:nvPicPr>
        <p:blipFill rotWithShape="1">
          <a:blip r:embed="rId18"/>
          <a:srcRect/>
          <a:stretch>
            <a:fillRect/>
          </a:stretch>
        </p:blipFill>
        <p:spPr>
          <a:xfrm>
            <a:off x="9422765" y="90488"/>
            <a:ext cx="2358390" cy="86550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 descr="D:\360MoveData\Users\xiaoxiao\Desktop\微信图片_20230609200901.png微信图片_20230609200901"/>
          <p:cNvPicPr>
            <a:picLocks noChangeAspect="1"/>
          </p:cNvPicPr>
          <p:nvPr/>
        </p:nvPicPr>
        <p:blipFill>
          <a:blip r:embed="rId3"/>
          <a:srcRect t="25402" b="15531"/>
          <a:stretch>
            <a:fillRect/>
          </a:stretch>
        </p:blipFill>
        <p:spPr>
          <a:xfrm>
            <a:off x="0" y="0"/>
            <a:ext cx="12178030" cy="3604895"/>
          </a:xfrm>
          <a:custGeom>
            <a:avLst/>
            <a:gdLst>
              <a:gd name="connsiteX0" fmla="*/ 0 w 12192000"/>
              <a:gd name="connsiteY0" fmla="*/ 0 h 3573014"/>
              <a:gd name="connsiteX1" fmla="*/ 12192000 w 12192000"/>
              <a:gd name="connsiteY1" fmla="*/ 0 h 3573014"/>
              <a:gd name="connsiteX2" fmla="*/ 12192000 w 12192000"/>
              <a:gd name="connsiteY2" fmla="*/ 1792365 h 3573014"/>
              <a:gd name="connsiteX3" fmla="*/ 12053358 w 12192000"/>
              <a:gd name="connsiteY3" fmla="*/ 1912035 h 3573014"/>
              <a:gd name="connsiteX4" fmla="*/ 6096000 w 12192000"/>
              <a:gd name="connsiteY4" fmla="*/ 3573014 h 3573014"/>
              <a:gd name="connsiteX5" fmla="*/ 138643 w 12192000"/>
              <a:gd name="connsiteY5" fmla="*/ 1912035 h 3573014"/>
              <a:gd name="connsiteX6" fmla="*/ 0 w 12192000"/>
              <a:gd name="connsiteY6" fmla="*/ 1792365 h 35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573014">
                <a:moveTo>
                  <a:pt x="0" y="0"/>
                </a:moveTo>
                <a:lnTo>
                  <a:pt x="12192000" y="0"/>
                </a:lnTo>
                <a:lnTo>
                  <a:pt x="12192000" y="1792365"/>
                </a:lnTo>
                <a:lnTo>
                  <a:pt x="12053358" y="1912035"/>
                </a:lnTo>
                <a:cubicBezTo>
                  <a:pt x="10762282" y="2914151"/>
                  <a:pt x="8575872" y="3573014"/>
                  <a:pt x="6096000" y="3573014"/>
                </a:cubicBezTo>
                <a:cubicBezTo>
                  <a:pt x="3616128" y="3573014"/>
                  <a:pt x="1429718" y="2914151"/>
                  <a:pt x="138643" y="1912035"/>
                </a:cubicBezTo>
                <a:lnTo>
                  <a:pt x="0" y="1792365"/>
                </a:lnTo>
                <a:close/>
              </a:path>
            </a:pathLst>
          </a:custGeom>
        </p:spPr>
      </p:pic>
      <p:sp>
        <p:nvSpPr>
          <p:cNvPr id="67" name="文本框 66"/>
          <p:cNvSpPr txBox="1"/>
          <p:nvPr/>
        </p:nvSpPr>
        <p:spPr>
          <a:xfrm>
            <a:off x="513984" y="3685324"/>
            <a:ext cx="1071508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5400" b="1" dirty="0" err="1">
                <a:solidFill>
                  <a:srgbClr val="034C9C"/>
                </a:solidFill>
                <a:latin typeface="微软雅黑" panose="020B0503020204020204" charset="-122"/>
                <a:ea typeface="微软雅黑" panose="020B0503020204020204" charset="-122"/>
              </a:rPr>
              <a:t>DormFix</a:t>
            </a:r>
            <a:r>
              <a:rPr lang="zh-CN" altLang="en-US" sz="5400" b="1" dirty="0">
                <a:solidFill>
                  <a:srgbClr val="034C9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lang="en-US" altLang="zh-CN" sz="5400" b="1" dirty="0">
                <a:solidFill>
                  <a:srgbClr val="034C9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</a:p>
          <a:p>
            <a:pPr lvl="0" algn="ctr">
              <a:defRPr/>
            </a:pPr>
            <a:r>
              <a:rPr lang="zh-CN" altLang="en-US" sz="4800" dirty="0">
                <a:solidFill>
                  <a:srgbClr val="034C9C"/>
                </a:solidFill>
                <a:latin typeface="微软雅黑" panose="020B0503020204020204" charset="-122"/>
                <a:ea typeface="微软雅黑" panose="020B0503020204020204" charset="-122"/>
              </a:rPr>
              <a:t>宿舍报修与维修进度管理系统</a:t>
            </a:r>
          </a:p>
        </p:txBody>
      </p:sp>
      <p:sp>
        <p:nvSpPr>
          <p:cNvPr id="68" name="副标题 16"/>
          <p:cNvSpPr txBox="1"/>
          <p:nvPr/>
        </p:nvSpPr>
        <p:spPr>
          <a:xfrm>
            <a:off x="1153311" y="5612332"/>
            <a:ext cx="10065072" cy="100611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小组</a:t>
            </a:r>
            <a:r>
              <a:rPr lang="zh-CN" altLang="en-US" b="1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成员：王怡博，孙佳乐，何叶，王羿淼</a:t>
            </a:r>
            <a:endParaRPr lang="en-US" altLang="zh-CN" b="1" dirty="0">
              <a:solidFill>
                <a:schemeClr val="accent2">
                  <a:lumMod val="50000"/>
                </a:schemeClr>
              </a:solidFill>
              <a:latin typeface="Arial" panose="020B0604020202020204" pitchFamily="34" charset="0"/>
              <a:ea typeface="微软雅黑 Light" panose="020B0502040204020203" pitchFamily="34" charset="-122"/>
              <a:cs typeface="Arial" panose="020B0604020202020204" pitchFamily="34" charset="0"/>
            </a:endParaRPr>
          </a:p>
          <a:p>
            <a:pPr marL="0" lvl="0" indent="0" algn="ctr">
              <a:buNone/>
              <a:defRPr/>
            </a:pP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学号： </a:t>
            </a:r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2310425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，</a:t>
            </a:r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2310417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，</a:t>
            </a:r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2313487</a:t>
            </a:r>
            <a:r>
              <a:rPr kumimoji="0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，</a:t>
            </a:r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微软雅黑 Light" panose="020B0502040204020203" pitchFamily="34" charset="-122"/>
                <a:cs typeface="Arial" panose="020B0604020202020204" pitchFamily="34" charset="0"/>
              </a:rPr>
              <a:t>2310419</a:t>
            </a:r>
            <a:endParaRPr kumimoji="0" lang="zh-CN" altLang="en-US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Arial" panose="020B0604020202020204" pitchFamily="34" charset="0"/>
              <a:ea typeface="微软雅黑 Light" panose="020B0502040204020203" pitchFamily="34" charset="-122"/>
              <a:cs typeface="Arial" panose="020B0604020202020204" pitchFamily="34" charset="0"/>
            </a:endParaRPr>
          </a:p>
        </p:txBody>
      </p:sp>
      <p:sp>
        <p:nvSpPr>
          <p:cNvPr id="15" name="任意多边形: 形状 14"/>
          <p:cNvSpPr/>
          <p:nvPr/>
        </p:nvSpPr>
        <p:spPr>
          <a:xfrm>
            <a:off x="-20955" y="0"/>
            <a:ext cx="12195810" cy="3662680"/>
          </a:xfrm>
          <a:custGeom>
            <a:avLst/>
            <a:gdLst>
              <a:gd name="connsiteX0" fmla="*/ 0 w 12192000"/>
              <a:gd name="connsiteY0" fmla="*/ 0 h 4104640"/>
              <a:gd name="connsiteX1" fmla="*/ 12192000 w 12192000"/>
              <a:gd name="connsiteY1" fmla="*/ 0 h 4104640"/>
              <a:gd name="connsiteX2" fmla="*/ 12192000 w 12192000"/>
              <a:gd name="connsiteY2" fmla="*/ 2059049 h 4104640"/>
              <a:gd name="connsiteX3" fmla="*/ 12053358 w 12192000"/>
              <a:gd name="connsiteY3" fmla="*/ 2196525 h 4104640"/>
              <a:gd name="connsiteX4" fmla="*/ 6096000 w 12192000"/>
              <a:gd name="connsiteY4" fmla="*/ 4104640 h 4104640"/>
              <a:gd name="connsiteX5" fmla="*/ 138643 w 12192000"/>
              <a:gd name="connsiteY5" fmla="*/ 2196525 h 4104640"/>
              <a:gd name="connsiteX6" fmla="*/ 0 w 12192000"/>
              <a:gd name="connsiteY6" fmla="*/ 2059049 h 4104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4104640">
                <a:moveTo>
                  <a:pt x="0" y="0"/>
                </a:moveTo>
                <a:lnTo>
                  <a:pt x="12192000" y="0"/>
                </a:lnTo>
                <a:lnTo>
                  <a:pt x="12192000" y="2059049"/>
                </a:lnTo>
                <a:lnTo>
                  <a:pt x="12053358" y="2196525"/>
                </a:lnTo>
                <a:cubicBezTo>
                  <a:pt x="10762282" y="3347745"/>
                  <a:pt x="8575872" y="4104640"/>
                  <a:pt x="6096000" y="4104640"/>
                </a:cubicBezTo>
                <a:cubicBezTo>
                  <a:pt x="3616128" y="4104640"/>
                  <a:pt x="1429718" y="3347745"/>
                  <a:pt x="138643" y="2196525"/>
                </a:cubicBezTo>
                <a:lnTo>
                  <a:pt x="0" y="2059049"/>
                </a:ln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27" name="任意多边形: 形状 26"/>
          <p:cNvSpPr/>
          <p:nvPr/>
        </p:nvSpPr>
        <p:spPr>
          <a:xfrm>
            <a:off x="0" y="1533191"/>
            <a:ext cx="12192000" cy="1869044"/>
          </a:xfrm>
          <a:custGeom>
            <a:avLst/>
            <a:gdLst>
              <a:gd name="connsiteX0" fmla="*/ 0 w 12192000"/>
              <a:gd name="connsiteY0" fmla="*/ 0 h 4104640"/>
              <a:gd name="connsiteX1" fmla="*/ 12192000 w 12192000"/>
              <a:gd name="connsiteY1" fmla="*/ 0 h 4104640"/>
              <a:gd name="connsiteX2" fmla="*/ 12192000 w 12192000"/>
              <a:gd name="connsiteY2" fmla="*/ 2059049 h 4104640"/>
              <a:gd name="connsiteX3" fmla="*/ 12053358 w 12192000"/>
              <a:gd name="connsiteY3" fmla="*/ 2196525 h 4104640"/>
              <a:gd name="connsiteX4" fmla="*/ 6096000 w 12192000"/>
              <a:gd name="connsiteY4" fmla="*/ 4104640 h 4104640"/>
              <a:gd name="connsiteX5" fmla="*/ 138643 w 12192000"/>
              <a:gd name="connsiteY5" fmla="*/ 2196525 h 4104640"/>
              <a:gd name="connsiteX6" fmla="*/ 0 w 12192000"/>
              <a:gd name="connsiteY6" fmla="*/ 2059049 h 4104640"/>
              <a:gd name="connsiteX0-1" fmla="*/ 0 w 12192000"/>
              <a:gd name="connsiteY0-2" fmla="*/ 0 h 4104640"/>
              <a:gd name="connsiteX1-3" fmla="*/ 12192000 w 12192000"/>
              <a:gd name="connsiteY1-4" fmla="*/ 0 h 4104640"/>
              <a:gd name="connsiteX2-5" fmla="*/ 12192000 w 12192000"/>
              <a:gd name="connsiteY2-6" fmla="*/ 2059049 h 4104640"/>
              <a:gd name="connsiteX3-7" fmla="*/ 12053358 w 12192000"/>
              <a:gd name="connsiteY3-8" fmla="*/ 2196525 h 4104640"/>
              <a:gd name="connsiteX4-9" fmla="*/ 6096000 w 12192000"/>
              <a:gd name="connsiteY4-10" fmla="*/ 4104640 h 4104640"/>
              <a:gd name="connsiteX5-11" fmla="*/ 138643 w 12192000"/>
              <a:gd name="connsiteY5-12" fmla="*/ 2196525 h 4104640"/>
              <a:gd name="connsiteX6-13" fmla="*/ 0 w 12192000"/>
              <a:gd name="connsiteY6-14" fmla="*/ 2059049 h 4104640"/>
              <a:gd name="connsiteX7" fmla="*/ 91440 w 12192000"/>
              <a:gd name="connsiteY7" fmla="*/ 87904 h 4104640"/>
              <a:gd name="connsiteX0-15" fmla="*/ 0 w 12192000"/>
              <a:gd name="connsiteY0-16" fmla="*/ 0 h 4104640"/>
              <a:gd name="connsiteX1-17" fmla="*/ 12192000 w 12192000"/>
              <a:gd name="connsiteY1-18" fmla="*/ 0 h 4104640"/>
              <a:gd name="connsiteX2-19" fmla="*/ 12192000 w 12192000"/>
              <a:gd name="connsiteY2-20" fmla="*/ 2059049 h 4104640"/>
              <a:gd name="connsiteX3-21" fmla="*/ 12053358 w 12192000"/>
              <a:gd name="connsiteY3-22" fmla="*/ 2196525 h 4104640"/>
              <a:gd name="connsiteX4-23" fmla="*/ 6096000 w 12192000"/>
              <a:gd name="connsiteY4-24" fmla="*/ 4104640 h 4104640"/>
              <a:gd name="connsiteX5-25" fmla="*/ 138643 w 12192000"/>
              <a:gd name="connsiteY5-26" fmla="*/ 2196525 h 4104640"/>
              <a:gd name="connsiteX6-27" fmla="*/ 0 w 12192000"/>
              <a:gd name="connsiteY6-28" fmla="*/ 2059049 h 4104640"/>
              <a:gd name="connsiteX0-29" fmla="*/ 0 w 12192000"/>
              <a:gd name="connsiteY0-30" fmla="*/ 0 h 4104640"/>
              <a:gd name="connsiteX1-31" fmla="*/ 12192000 w 12192000"/>
              <a:gd name="connsiteY1-32" fmla="*/ 2059049 h 4104640"/>
              <a:gd name="connsiteX2-33" fmla="*/ 12053358 w 12192000"/>
              <a:gd name="connsiteY2-34" fmla="*/ 2196525 h 4104640"/>
              <a:gd name="connsiteX3-35" fmla="*/ 6096000 w 12192000"/>
              <a:gd name="connsiteY3-36" fmla="*/ 4104640 h 4104640"/>
              <a:gd name="connsiteX4-37" fmla="*/ 138643 w 12192000"/>
              <a:gd name="connsiteY4-38" fmla="*/ 2196525 h 4104640"/>
              <a:gd name="connsiteX5-39" fmla="*/ 0 w 12192000"/>
              <a:gd name="connsiteY5-40" fmla="*/ 2059049 h 4104640"/>
              <a:gd name="connsiteX0-41" fmla="*/ 12192000 w 12192000"/>
              <a:gd name="connsiteY0-42" fmla="*/ 0 h 2045591"/>
              <a:gd name="connsiteX1-43" fmla="*/ 12053358 w 12192000"/>
              <a:gd name="connsiteY1-44" fmla="*/ 137476 h 2045591"/>
              <a:gd name="connsiteX2-45" fmla="*/ 6096000 w 12192000"/>
              <a:gd name="connsiteY2-46" fmla="*/ 2045591 h 2045591"/>
              <a:gd name="connsiteX3-47" fmla="*/ 138643 w 12192000"/>
              <a:gd name="connsiteY3-48" fmla="*/ 137476 h 2045591"/>
              <a:gd name="connsiteX4-49" fmla="*/ 0 w 12192000"/>
              <a:gd name="connsiteY4-50" fmla="*/ 0 h 20455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192000" h="2045591">
                <a:moveTo>
                  <a:pt x="12192000" y="0"/>
                </a:moveTo>
                <a:lnTo>
                  <a:pt x="12053358" y="137476"/>
                </a:lnTo>
                <a:cubicBezTo>
                  <a:pt x="10762282" y="1288696"/>
                  <a:pt x="8575872" y="2045591"/>
                  <a:pt x="6096000" y="2045591"/>
                </a:cubicBezTo>
                <a:cubicBezTo>
                  <a:pt x="3616128" y="2045591"/>
                  <a:pt x="1429718" y="1288696"/>
                  <a:pt x="138643" y="137476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6538687-B298-A9F7-AABC-7EAAF5D2C75E}"/>
              </a:ext>
            </a:extLst>
          </p:cNvPr>
          <p:cNvSpPr txBox="1"/>
          <p:nvPr/>
        </p:nvSpPr>
        <p:spPr>
          <a:xfrm>
            <a:off x="1775520" y="1272746"/>
            <a:ext cx="8640960" cy="1178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6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软件工程第</a:t>
            </a:r>
            <a:r>
              <a:rPr lang="en-US" altLang="zh-CN" sz="6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2</a:t>
            </a:r>
            <a:r>
              <a:rPr lang="zh-CN" altLang="en-US" sz="60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组期末汇报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占位符 8" descr="D:\360MoveData\Users\xiaoxiao\Desktop\微信图片_20230609200940.png微信图片_20230609200940"/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-635" y="-16510"/>
            <a:ext cx="5026660" cy="6895465"/>
          </a:xfrm>
        </p:spPr>
      </p:pic>
      <p:sp>
        <p:nvSpPr>
          <p:cNvPr id="16" name="文本框 15"/>
          <p:cNvSpPr txBox="1"/>
          <p:nvPr/>
        </p:nvSpPr>
        <p:spPr>
          <a:xfrm>
            <a:off x="5807968" y="929809"/>
            <a:ext cx="6175289" cy="5538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000" b="1" strike="noStrike" kern="1200" cap="none" spc="0" normalizeH="0" baseline="0" noProof="0" dirty="0">
                <a:ln>
                  <a:noFill/>
                </a:ln>
                <a:solidFill>
                  <a:srgbClr val="034C9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01</a:t>
            </a:r>
            <a:r>
              <a:rPr kumimoji="0" lang="en-US" altLang="zh-CN" sz="6000" b="1" i="0" strike="noStrike" kern="1200" cap="none" spc="0" normalizeH="0" baseline="0" noProof="0" dirty="0">
                <a:ln>
                  <a:noFill/>
                </a:ln>
                <a:solidFill>
                  <a:srgbClr val="034C9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 </a:t>
            </a:r>
            <a:r>
              <a:rPr kumimoji="0" lang="zh-CN" altLang="en-US" sz="3600" b="1" i="0" u="sng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项目动机和背景介绍</a:t>
            </a:r>
            <a:endParaRPr kumimoji="0" lang="en-US" altLang="zh-CN" sz="3600" b="1" i="0" u="sng" strike="noStrike" kern="1200" cap="none" spc="0" normalizeH="0" baseline="0" noProof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>
              <a:lnSpc>
                <a:spcPct val="120000"/>
              </a:lnSpc>
              <a:defRPr/>
            </a:pPr>
            <a:r>
              <a:rPr lang="en-US" altLang="zh-CN" sz="6000" b="1" dirty="0">
                <a:solidFill>
                  <a:srgbClr val="034C9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02</a:t>
            </a:r>
            <a:r>
              <a:rPr lang="en-US" altLang="zh-CN" sz="6000" b="1" dirty="0">
                <a:solidFill>
                  <a:srgbClr val="034C9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sz="3600" b="1" u="sng" dirty="0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项目的组织管理情况</a:t>
            </a:r>
            <a:endParaRPr lang="en-US" altLang="zh-CN" sz="3600" b="1" u="sng" dirty="0">
              <a:solidFill>
                <a:schemeClr val="accent5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20000"/>
              </a:lnSpc>
              <a:defRPr/>
            </a:pPr>
            <a:r>
              <a:rPr kumimoji="0" lang="en-US" altLang="zh-CN" sz="6000" b="1" i="0" strike="noStrike" kern="1200" cap="none" spc="0" normalizeH="0" baseline="0" noProof="0" dirty="0">
                <a:ln>
                  <a:noFill/>
                </a:ln>
                <a:solidFill>
                  <a:srgbClr val="034C9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03</a:t>
            </a:r>
            <a:r>
              <a:rPr kumimoji="0" lang="en-US" altLang="zh-CN" sz="6000" b="1" i="0" strike="noStrike" kern="1200" cap="none" spc="0" normalizeH="0" baseline="0" noProof="0" dirty="0">
                <a:ln>
                  <a:noFill/>
                </a:ln>
                <a:solidFill>
                  <a:srgbClr val="034C9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 </a:t>
            </a:r>
            <a:r>
              <a:rPr lang="zh-CN" altLang="en-US" sz="3600" b="1" u="sng" dirty="0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项目功能演示</a:t>
            </a:r>
            <a:endParaRPr lang="en-US" altLang="zh-CN" sz="3600" b="1" u="sng" dirty="0">
              <a:solidFill>
                <a:schemeClr val="accent5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6000" b="1" dirty="0">
                <a:solidFill>
                  <a:srgbClr val="034C9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04</a:t>
            </a:r>
            <a:r>
              <a:rPr lang="en-US" altLang="zh-CN" sz="6000" b="1" dirty="0">
                <a:solidFill>
                  <a:srgbClr val="034C9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sz="3600" b="1" u="sng" dirty="0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分工情况</a:t>
            </a:r>
            <a:endParaRPr lang="en-US" altLang="zh-CN" sz="3600" b="1" u="sng" dirty="0">
              <a:solidFill>
                <a:schemeClr val="accent5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000" b="1" i="0" strike="noStrike" kern="1200" cap="none" spc="0" normalizeH="0" baseline="0" noProof="0" dirty="0">
                <a:ln>
                  <a:noFill/>
                </a:ln>
                <a:solidFill>
                  <a:srgbClr val="034C9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05</a:t>
            </a:r>
            <a:r>
              <a:rPr kumimoji="0" lang="en-US" altLang="zh-CN" sz="6000" b="1" i="0" strike="noStrike" kern="1200" cap="none" spc="0" normalizeH="0" baseline="0" noProof="0" dirty="0">
                <a:ln>
                  <a:noFill/>
                </a:ln>
                <a:solidFill>
                  <a:srgbClr val="034C9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 </a:t>
            </a:r>
            <a:r>
              <a:rPr lang="zh-CN" altLang="en-US" sz="3600" b="1" u="sng" dirty="0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总结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4544341" y="0"/>
            <a:ext cx="1027860" cy="4730374"/>
            <a:chOff x="4673575" y="0"/>
            <a:chExt cx="711071" cy="4730374"/>
          </a:xfrm>
        </p:grpSpPr>
        <p:cxnSp>
          <p:nvCxnSpPr>
            <p:cNvPr id="42" name="直接连接符 41"/>
            <p:cNvCxnSpPr>
              <a:endCxn id="43" idx="1"/>
            </p:cNvCxnSpPr>
            <p:nvPr/>
          </p:nvCxnSpPr>
          <p:spPr>
            <a:xfrm>
              <a:off x="5029111" y="0"/>
              <a:ext cx="0" cy="2127628"/>
            </a:xfrm>
            <a:prstGeom prst="line">
              <a:avLst/>
            </a:prstGeom>
            <a:ln w="1016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矩形: 圆角 42"/>
            <p:cNvSpPr/>
            <p:nvPr/>
          </p:nvSpPr>
          <p:spPr>
            <a:xfrm rot="5400000">
              <a:off x="3727738" y="3073465"/>
              <a:ext cx="2602746" cy="711071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</p:grpSp>
      <p:cxnSp>
        <p:nvCxnSpPr>
          <p:cNvPr id="44" name="直接连接符 43"/>
          <p:cNvCxnSpPr/>
          <p:nvPr/>
        </p:nvCxnSpPr>
        <p:spPr>
          <a:xfrm flipH="1">
            <a:off x="5026401" y="4695871"/>
            <a:ext cx="2" cy="2183229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4596606" y="2568244"/>
            <a:ext cx="923330" cy="168701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目录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 descr="D:\360MoveData\Users\xiaoxiao\Desktop\1004150863.jpg100415086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rcRect t="28060" b="17165"/>
          <a:stretch>
            <a:fillRect/>
          </a:stretch>
        </p:blipFill>
        <p:spPr>
          <a:xfrm>
            <a:off x="1270" y="-120650"/>
            <a:ext cx="12190730" cy="4153535"/>
          </a:xfrm>
          <a:prstGeom prst="rect">
            <a:avLst/>
          </a:prstGeom>
        </p:spPr>
      </p:pic>
      <p:cxnSp>
        <p:nvCxnSpPr>
          <p:cNvPr id="4" name="直接连接符 3"/>
          <p:cNvCxnSpPr/>
          <p:nvPr/>
        </p:nvCxnSpPr>
        <p:spPr>
          <a:xfrm>
            <a:off x="0" y="4056185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/>
          <p:cNvSpPr/>
          <p:nvPr/>
        </p:nvSpPr>
        <p:spPr>
          <a:xfrm>
            <a:off x="4224759" y="3429000"/>
            <a:ext cx="3742482" cy="98272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474046" y="3458695"/>
            <a:ext cx="32394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PART 01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7893127" y="4056186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2418831" y="4772125"/>
            <a:ext cx="73499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项目动机和背景介绍</a:t>
            </a:r>
          </a:p>
        </p:txBody>
      </p:sp>
      <p:sp>
        <p:nvSpPr>
          <p:cNvPr id="11" name="等腰三角形 10"/>
          <p:cNvSpPr/>
          <p:nvPr/>
        </p:nvSpPr>
        <p:spPr>
          <a:xfrm>
            <a:off x="5922380" y="6558655"/>
            <a:ext cx="347240" cy="29934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9E902-3DCC-F247-E526-15E9A2834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9607AC7-BEA5-03A1-B142-48B530D23B59}"/>
              </a:ext>
            </a:extLst>
          </p:cNvPr>
          <p:cNvSpPr/>
          <p:nvPr/>
        </p:nvSpPr>
        <p:spPr>
          <a:xfrm>
            <a:off x="624255" y="1362602"/>
            <a:ext cx="3525434" cy="42986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FC637A-D8DD-8A15-EB19-E5034FBD3283}"/>
              </a:ext>
            </a:extLst>
          </p:cNvPr>
          <p:cNvCxnSpPr>
            <a:cxnSpLocks/>
          </p:cNvCxnSpPr>
          <p:nvPr/>
        </p:nvCxnSpPr>
        <p:spPr>
          <a:xfrm>
            <a:off x="623392" y="5713196"/>
            <a:ext cx="3526297" cy="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1EF333A3-0B83-C835-ED1B-43E95105BC50}"/>
              </a:ext>
            </a:extLst>
          </p:cNvPr>
          <p:cNvSpPr/>
          <p:nvPr/>
        </p:nvSpPr>
        <p:spPr>
          <a:xfrm flipV="1">
            <a:off x="623393" y="1425353"/>
            <a:ext cx="801950" cy="80195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4E9E934-235B-C2FD-03D1-8997C61D012A}"/>
              </a:ext>
            </a:extLst>
          </p:cNvPr>
          <p:cNvSpPr txBox="1"/>
          <p:nvPr/>
        </p:nvSpPr>
        <p:spPr>
          <a:xfrm>
            <a:off x="1027586" y="1829828"/>
            <a:ext cx="29553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800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动机分析：</a:t>
            </a:r>
            <a:endParaRPr lang="zh-CN" altLang="en-US" sz="2800" b="1" dirty="0">
              <a:solidFill>
                <a:prstClr val="black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8C61753-37D1-A3C4-75B5-BD47AE6E1DB1}"/>
              </a:ext>
            </a:extLst>
          </p:cNvPr>
          <p:cNvSpPr/>
          <p:nvPr/>
        </p:nvSpPr>
        <p:spPr>
          <a:xfrm>
            <a:off x="807244" y="2636912"/>
            <a:ext cx="3139482" cy="19660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>
              <a:lnSpc>
                <a:spcPct val="130000"/>
              </a:lnSpc>
              <a:defRPr/>
            </a:pPr>
            <a:r>
              <a:rPr lang="zh-CN" altLang="en-US" sz="24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当前高校宿舍报修普遍依赖人工登记、电话或微信群，存在很多核心问题。</a:t>
            </a: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5031CDE-5300-733E-6CA1-5F356511F316}"/>
              </a:ext>
            </a:extLst>
          </p:cNvPr>
          <p:cNvCxnSpPr>
            <a:cxnSpLocks/>
          </p:cNvCxnSpPr>
          <p:nvPr/>
        </p:nvCxnSpPr>
        <p:spPr>
          <a:xfrm>
            <a:off x="1271464" y="2510831"/>
            <a:ext cx="2448272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形 25" descr="黑板">
            <a:extLst>
              <a:ext uri="{FF2B5EF4-FFF2-40B4-BE49-F238E27FC236}">
                <a16:creationId xmlns:a16="http://schemas.microsoft.com/office/drawing/2014/main" id="{2EAC26F8-97F2-7D36-371F-629A2A3D0F6A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8561" y="1449420"/>
            <a:ext cx="369392" cy="369392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902DD2D7-0AA9-1C4A-EF06-8BE4FF077394}"/>
              </a:ext>
            </a:extLst>
          </p:cNvPr>
          <p:cNvGrpSpPr/>
          <p:nvPr/>
        </p:nvGrpSpPr>
        <p:grpSpPr>
          <a:xfrm>
            <a:off x="-240704" y="246620"/>
            <a:ext cx="4464496" cy="734108"/>
            <a:chOff x="-240704" y="246620"/>
            <a:chExt cx="3456384" cy="734108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2949A0DD-3DF8-EF84-A4EC-8709C2AF54D9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4" name="文本占位符 3">
              <a:extLst>
                <a:ext uri="{FF2B5EF4-FFF2-40B4-BE49-F238E27FC236}">
                  <a16:creationId xmlns:a16="http://schemas.microsoft.com/office/drawing/2014/main" id="{3BE559F4-8C23-38FE-1DE8-AA913F1BF9A9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项目动机和背景介绍</a:t>
              </a:r>
            </a:p>
          </p:txBody>
        </p:sp>
      </p:grp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63A217B2-E8F0-FE84-32D0-4A9FD123C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991104"/>
              </p:ext>
            </p:extLst>
          </p:nvPr>
        </p:nvGraphicFramePr>
        <p:xfrm>
          <a:off x="4593935" y="1391705"/>
          <a:ext cx="7180761" cy="445646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7180761">
                  <a:extLst>
                    <a:ext uri="{9D8B030D-6E8A-4147-A177-3AD203B41FA5}">
                      <a16:colId xmlns:a16="http://schemas.microsoft.com/office/drawing/2014/main" val="1172427749"/>
                    </a:ext>
                  </a:extLst>
                </a:gridCol>
              </a:tblGrid>
              <a:tr h="7698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200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高校宿舍报修面临问题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700402"/>
                  </a:ext>
                </a:extLst>
              </a:tr>
              <a:tr h="614440">
                <a:tc>
                  <a:txBody>
                    <a:bodyPr/>
                    <a:lstStyle/>
                    <a:p>
                      <a:pPr indent="457200" algn="l"/>
                      <a:r>
                        <a:rPr lang="en-US" altLang="zh-CN" sz="2800" b="1" dirty="0">
                          <a:solidFill>
                            <a:srgbClr val="C0000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1.</a:t>
                      </a:r>
                      <a:r>
                        <a:rPr lang="zh-CN" altLang="en-US" sz="2800" b="1" dirty="0">
                          <a:solidFill>
                            <a:srgbClr val="C0000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报修渠道分散且不规范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3111194"/>
                  </a:ext>
                </a:extLst>
              </a:tr>
              <a:tr h="614440">
                <a:tc>
                  <a:txBody>
                    <a:bodyPr/>
                    <a:lstStyle/>
                    <a:p>
                      <a:pPr indent="457200" algn="l"/>
                      <a:r>
                        <a:rPr lang="en-US" altLang="zh-CN" sz="2800" b="1" dirty="0">
                          <a:solidFill>
                            <a:srgbClr val="C00000"/>
                          </a:solidFill>
                        </a:rPr>
                        <a:t>2.</a:t>
                      </a:r>
                      <a:r>
                        <a:rPr lang="zh-CN" altLang="zh-CN" sz="2800" b="1" dirty="0">
                          <a:solidFill>
                            <a:srgbClr val="C00000"/>
                          </a:solidFill>
                        </a:rPr>
                        <a:t>信息传递效率低下</a:t>
                      </a:r>
                      <a:endParaRPr lang="zh-CN" altLang="en-US" sz="2800" b="1" dirty="0">
                        <a:solidFill>
                          <a:srgbClr val="C00000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3276330"/>
                  </a:ext>
                </a:extLst>
              </a:tr>
              <a:tr h="614440">
                <a:tc>
                  <a:txBody>
                    <a:bodyPr/>
                    <a:lstStyle/>
                    <a:p>
                      <a:pPr indent="457200" algn="l"/>
                      <a:r>
                        <a:rPr lang="en-US" altLang="zh-CN" sz="2800" b="1" dirty="0">
                          <a:solidFill>
                            <a:srgbClr val="C00000"/>
                          </a:solidFill>
                        </a:rPr>
                        <a:t>3.</a:t>
                      </a:r>
                      <a:r>
                        <a:rPr lang="zh-CN" altLang="zh-CN" sz="2800" b="1" dirty="0">
                          <a:solidFill>
                            <a:srgbClr val="C00000"/>
                          </a:solidFill>
                        </a:rPr>
                        <a:t>报修记录易遗漏与丢失</a:t>
                      </a:r>
                      <a:endParaRPr lang="zh-CN" altLang="en-US" sz="2800" b="1" dirty="0">
                        <a:solidFill>
                          <a:srgbClr val="C00000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4633402"/>
                  </a:ext>
                </a:extLst>
              </a:tr>
              <a:tr h="614440">
                <a:tc>
                  <a:txBody>
                    <a:bodyPr/>
                    <a:lstStyle/>
                    <a:p>
                      <a:pPr indent="457200" algn="l"/>
                      <a:r>
                        <a:rPr lang="en-US" altLang="zh-CN" sz="2800" b="1" dirty="0">
                          <a:solidFill>
                            <a:srgbClr val="C00000"/>
                          </a:solidFill>
                        </a:rPr>
                        <a:t>4.</a:t>
                      </a:r>
                      <a:r>
                        <a:rPr lang="zh-CN" altLang="zh-CN" sz="2800" b="1" dirty="0">
                          <a:solidFill>
                            <a:srgbClr val="C00000"/>
                          </a:solidFill>
                        </a:rPr>
                        <a:t>维修进度不透明</a:t>
                      </a:r>
                      <a:endParaRPr lang="zh-CN" altLang="en-US" sz="2800" b="1" dirty="0">
                        <a:solidFill>
                          <a:srgbClr val="C00000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9998432"/>
                  </a:ext>
                </a:extLst>
              </a:tr>
              <a:tr h="614440">
                <a:tc>
                  <a:txBody>
                    <a:bodyPr/>
                    <a:lstStyle/>
                    <a:p>
                      <a:pPr indent="457200" algn="l"/>
                      <a:r>
                        <a:rPr lang="en-US" altLang="zh-CN" sz="2800" b="1" dirty="0">
                          <a:solidFill>
                            <a:srgbClr val="C00000"/>
                          </a:solidFill>
                        </a:rPr>
                        <a:t>5.</a:t>
                      </a:r>
                      <a:r>
                        <a:rPr lang="zh-CN" altLang="zh-CN" sz="2800" b="1" dirty="0">
                          <a:solidFill>
                            <a:srgbClr val="C00000"/>
                          </a:solidFill>
                        </a:rPr>
                        <a:t>后勤统计与监管困难</a:t>
                      </a:r>
                      <a:endParaRPr lang="zh-CN" altLang="en-US" sz="2800" b="1" dirty="0">
                        <a:solidFill>
                          <a:srgbClr val="C00000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532650"/>
                  </a:ext>
                </a:extLst>
              </a:tr>
              <a:tr h="614440">
                <a:tc>
                  <a:txBody>
                    <a:bodyPr/>
                    <a:lstStyle/>
                    <a:p>
                      <a:pPr indent="457200" algn="l"/>
                      <a:r>
                        <a:rPr lang="en-US" altLang="zh-CN" sz="2800" b="1" dirty="0">
                          <a:solidFill>
                            <a:srgbClr val="C00000"/>
                          </a:solidFill>
                        </a:rPr>
                        <a:t>6.</a:t>
                      </a:r>
                      <a:r>
                        <a:rPr lang="zh-CN" altLang="zh-CN" sz="2800" b="1" dirty="0">
                          <a:solidFill>
                            <a:srgbClr val="C00000"/>
                          </a:solidFill>
                        </a:rPr>
                        <a:t>缺乏服务评价与反馈</a:t>
                      </a:r>
                      <a:endParaRPr lang="zh-CN" altLang="en-US" sz="2800" b="1" dirty="0">
                        <a:solidFill>
                          <a:srgbClr val="C00000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7712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0533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7D238-84F4-48D2-A54C-3850FD277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418E9CB7-1BF8-C22C-2607-2EDF036F84FE}"/>
              </a:ext>
            </a:extLst>
          </p:cNvPr>
          <p:cNvGrpSpPr/>
          <p:nvPr/>
        </p:nvGrpSpPr>
        <p:grpSpPr>
          <a:xfrm>
            <a:off x="-240704" y="246620"/>
            <a:ext cx="4464496" cy="734108"/>
            <a:chOff x="-240704" y="246620"/>
            <a:chExt cx="3456384" cy="7341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B3ECA2DE-EA9A-0213-7EFA-C95BC1A322A3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7" name="文本占位符 3">
              <a:extLst>
                <a:ext uri="{FF2B5EF4-FFF2-40B4-BE49-F238E27FC236}">
                  <a16:creationId xmlns:a16="http://schemas.microsoft.com/office/drawing/2014/main" id="{3BCB3673-B70B-F410-74A9-699C5B7E6626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项目动机和背景介绍</a:t>
              </a: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300C81D1-E405-9CE9-9ADA-6564ED0F7F23}"/>
              </a:ext>
            </a:extLst>
          </p:cNvPr>
          <p:cNvSpPr/>
          <p:nvPr/>
        </p:nvSpPr>
        <p:spPr>
          <a:xfrm>
            <a:off x="733245" y="1100547"/>
            <a:ext cx="10768992" cy="159071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lnSpc>
                <a:spcPct val="150000"/>
              </a:lnSpc>
              <a:defRPr/>
            </a:pPr>
            <a:r>
              <a:rPr lang="zh-CN" altLang="en-US" sz="2400" b="1" dirty="0">
                <a:solidFill>
                  <a:schemeClr val="accent6">
                    <a:lumMod val="50000"/>
                  </a:schemeClr>
                </a:solidFill>
                <a:ea typeface="微软雅黑 Light" panose="020B0502040204020203" pitchFamily="34" charset="-122"/>
              </a:rPr>
              <a:t>为此，我们需要建设一个统一、高效、可追踪的宿舍报修服务平台：</a:t>
            </a:r>
            <a:endParaRPr lang="en-US" altLang="zh-CN" sz="2400" b="1" dirty="0">
              <a:solidFill>
                <a:schemeClr val="accent6">
                  <a:lumMod val="50000"/>
                </a:schemeClr>
              </a:solidFill>
              <a:ea typeface="微软雅黑 Light" panose="020B0502040204020203" pitchFamily="34" charset="-122"/>
            </a:endParaRPr>
          </a:p>
          <a:p>
            <a:pPr lvl="0" indent="457200">
              <a:lnSpc>
                <a:spcPct val="150000"/>
              </a:lnSpc>
              <a:defRPr/>
            </a:pP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通过信息化手段彻底改善当前高校宿舍维修业务中渠道分散、进度不透明、监管困难的现状。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70D4D5C4-5E49-165A-0095-BC7542D00AB1}"/>
              </a:ext>
            </a:extLst>
          </p:cNvPr>
          <p:cNvSpPr/>
          <p:nvPr/>
        </p:nvSpPr>
        <p:spPr>
          <a:xfrm>
            <a:off x="4007656" y="4551642"/>
            <a:ext cx="628424" cy="62842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0E8D91F-15D7-2A16-D7A4-93A41597CCAB}"/>
              </a:ext>
            </a:extLst>
          </p:cNvPr>
          <p:cNvSpPr txBox="1"/>
          <p:nvPr/>
        </p:nvSpPr>
        <p:spPr>
          <a:xfrm>
            <a:off x="4839362" y="4558247"/>
            <a:ext cx="6264696" cy="525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  <a:defRPr/>
            </a:pPr>
            <a:r>
              <a:rPr lang="en-US" altLang="zh-CN" sz="24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lang="zh-CN" altLang="en-US" sz="24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管理员：高效审核派单，全面监管数据</a:t>
            </a:r>
            <a:endParaRPr kumimoji="0" lang="zh-CN" altLang="en-US" sz="2400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926177F3-633B-1A01-2525-B38A8190C084}"/>
              </a:ext>
            </a:extLst>
          </p:cNvPr>
          <p:cNvSpPr/>
          <p:nvPr/>
        </p:nvSpPr>
        <p:spPr>
          <a:xfrm>
            <a:off x="4002019" y="3161554"/>
            <a:ext cx="628424" cy="62842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90AD0847-893E-8777-2AF1-7087E465F1F6}"/>
              </a:ext>
            </a:extLst>
          </p:cNvPr>
          <p:cNvSpPr txBox="1"/>
          <p:nvPr/>
        </p:nvSpPr>
        <p:spPr>
          <a:xfrm>
            <a:off x="4819046" y="3166171"/>
            <a:ext cx="6264696" cy="525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  <a:defRPr/>
            </a:pPr>
            <a:r>
              <a:rPr lang="en-US" altLang="zh-CN" sz="2400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2400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学生：便捷提交报修，实时跟踪进度</a:t>
            </a:r>
            <a:endParaRPr kumimoji="0" lang="zh-CN" altLang="en-US" sz="240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4840DAC1-4A44-31D8-72ED-D8F5D26E06B3}"/>
              </a:ext>
            </a:extLst>
          </p:cNvPr>
          <p:cNvSpPr/>
          <p:nvPr/>
        </p:nvSpPr>
        <p:spPr>
          <a:xfrm>
            <a:off x="4002019" y="5830079"/>
            <a:ext cx="628424" cy="62842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7DF2C00-FE3B-98C6-54F1-BFBFAB538C7F}"/>
              </a:ext>
            </a:extLst>
          </p:cNvPr>
          <p:cNvSpPr txBox="1"/>
          <p:nvPr/>
        </p:nvSpPr>
        <p:spPr>
          <a:xfrm>
            <a:off x="4819046" y="5834696"/>
            <a:ext cx="6264696" cy="525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  <a:defRPr/>
            </a:pPr>
            <a:r>
              <a:rPr lang="en-US" altLang="zh-CN" sz="2400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3.</a:t>
            </a:r>
            <a:r>
              <a:rPr lang="zh-CN" altLang="en-US" sz="2400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维修人员：清晰接收任务，规范更新状态</a:t>
            </a:r>
            <a:endParaRPr kumimoji="0" lang="zh-CN" altLang="en-US" sz="2400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42" name="writing_122117">
            <a:extLst>
              <a:ext uri="{FF2B5EF4-FFF2-40B4-BE49-F238E27FC236}">
                <a16:creationId xmlns:a16="http://schemas.microsoft.com/office/drawing/2014/main" id="{5F46B62C-349D-4240-0BBE-CC2E5869E693}"/>
              </a:ext>
            </a:extLst>
          </p:cNvPr>
          <p:cNvSpPr>
            <a:spLocks noChangeAspect="1"/>
          </p:cNvSpPr>
          <p:nvPr/>
        </p:nvSpPr>
        <p:spPr bwMode="auto">
          <a:xfrm>
            <a:off x="4111410" y="4655716"/>
            <a:ext cx="420916" cy="420276"/>
          </a:xfrm>
          <a:custGeom>
            <a:avLst/>
            <a:gdLst>
              <a:gd name="connsiteX0" fmla="*/ 45797 w 605028"/>
              <a:gd name="connsiteY0" fmla="*/ 445126 h 604110"/>
              <a:gd name="connsiteX1" fmla="*/ 159266 w 605028"/>
              <a:gd name="connsiteY1" fmla="*/ 558313 h 604110"/>
              <a:gd name="connsiteX2" fmla="*/ 0 w 605028"/>
              <a:gd name="connsiteY2" fmla="*/ 604110 h 604110"/>
              <a:gd name="connsiteX3" fmla="*/ 460648 w 605028"/>
              <a:gd name="connsiteY3" fmla="*/ 330740 h 604110"/>
              <a:gd name="connsiteX4" fmla="*/ 504033 w 605028"/>
              <a:gd name="connsiteY4" fmla="*/ 374171 h 604110"/>
              <a:gd name="connsiteX5" fmla="*/ 441749 w 605028"/>
              <a:gd name="connsiteY5" fmla="*/ 436273 h 604110"/>
              <a:gd name="connsiteX6" fmla="*/ 470504 w 605028"/>
              <a:gd name="connsiteY6" fmla="*/ 464990 h 604110"/>
              <a:gd name="connsiteX7" fmla="*/ 532787 w 605028"/>
              <a:gd name="connsiteY7" fmla="*/ 402786 h 604110"/>
              <a:gd name="connsiteX8" fmla="*/ 605028 w 605028"/>
              <a:gd name="connsiteY8" fmla="*/ 474934 h 604110"/>
              <a:gd name="connsiteX9" fmla="*/ 475685 w 605028"/>
              <a:gd name="connsiteY9" fmla="*/ 604110 h 604110"/>
              <a:gd name="connsiteX10" fmla="*/ 331305 w 605028"/>
              <a:gd name="connsiteY10" fmla="*/ 459916 h 604110"/>
              <a:gd name="connsiteX11" fmla="*/ 354026 w 605028"/>
              <a:gd name="connsiteY11" fmla="*/ 121443 h 604110"/>
              <a:gd name="connsiteX12" fmla="*/ 483302 w 605028"/>
              <a:gd name="connsiteY12" fmla="*/ 250578 h 604110"/>
              <a:gd name="connsiteX13" fmla="*/ 195889 w 605028"/>
              <a:gd name="connsiteY13" fmla="*/ 537637 h 604110"/>
              <a:gd name="connsiteX14" fmla="*/ 66543 w 605028"/>
              <a:gd name="connsiteY14" fmla="*/ 408503 h 604110"/>
              <a:gd name="connsiteX15" fmla="*/ 475681 w 605028"/>
              <a:gd name="connsiteY15" fmla="*/ 0 h 604110"/>
              <a:gd name="connsiteX16" fmla="*/ 605028 w 605028"/>
              <a:gd name="connsiteY16" fmla="*/ 129134 h 604110"/>
              <a:gd name="connsiteX17" fmla="*/ 512093 w 605028"/>
              <a:gd name="connsiteY17" fmla="*/ 221857 h 604110"/>
              <a:gd name="connsiteX18" fmla="*/ 382817 w 605028"/>
              <a:gd name="connsiteY18" fmla="*/ 92864 h 604110"/>
              <a:gd name="connsiteX19" fmla="*/ 129376 w 605028"/>
              <a:gd name="connsiteY19" fmla="*/ 0 h 604110"/>
              <a:gd name="connsiteX20" fmla="*/ 201636 w 605028"/>
              <a:gd name="connsiteY20" fmla="*/ 72129 h 604110"/>
              <a:gd name="connsiteX21" fmla="*/ 139336 w 605028"/>
              <a:gd name="connsiteY21" fmla="*/ 134317 h 604110"/>
              <a:gd name="connsiteX22" fmla="*/ 168098 w 605028"/>
              <a:gd name="connsiteY22" fmla="*/ 162925 h 604110"/>
              <a:gd name="connsiteX23" fmla="*/ 230296 w 605028"/>
              <a:gd name="connsiteY23" fmla="*/ 100839 h 604110"/>
              <a:gd name="connsiteX24" fmla="*/ 273794 w 605028"/>
              <a:gd name="connsiteY24" fmla="*/ 144157 h 604110"/>
              <a:gd name="connsiteX25" fmla="*/ 144418 w 605028"/>
              <a:gd name="connsiteY25" fmla="*/ 273300 h 604110"/>
              <a:gd name="connsiteX26" fmla="*/ 0 w 605028"/>
              <a:gd name="connsiteY26" fmla="*/ 129143 h 604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605028" h="604110">
                <a:moveTo>
                  <a:pt x="45797" y="445126"/>
                </a:moveTo>
                <a:lnTo>
                  <a:pt x="159266" y="558313"/>
                </a:lnTo>
                <a:lnTo>
                  <a:pt x="0" y="604110"/>
                </a:lnTo>
                <a:close/>
                <a:moveTo>
                  <a:pt x="460648" y="330740"/>
                </a:moveTo>
                <a:lnTo>
                  <a:pt x="504033" y="374171"/>
                </a:lnTo>
                <a:lnTo>
                  <a:pt x="441749" y="436273"/>
                </a:lnTo>
                <a:lnTo>
                  <a:pt x="470504" y="464990"/>
                </a:lnTo>
                <a:lnTo>
                  <a:pt x="532787" y="402786"/>
                </a:lnTo>
                <a:lnTo>
                  <a:pt x="605028" y="474934"/>
                </a:lnTo>
                <a:lnTo>
                  <a:pt x="475685" y="604110"/>
                </a:lnTo>
                <a:lnTo>
                  <a:pt x="331305" y="459916"/>
                </a:lnTo>
                <a:close/>
                <a:moveTo>
                  <a:pt x="354026" y="121443"/>
                </a:moveTo>
                <a:lnTo>
                  <a:pt x="483302" y="250578"/>
                </a:lnTo>
                <a:lnTo>
                  <a:pt x="195889" y="537637"/>
                </a:lnTo>
                <a:lnTo>
                  <a:pt x="66543" y="408503"/>
                </a:lnTo>
                <a:close/>
                <a:moveTo>
                  <a:pt x="475681" y="0"/>
                </a:moveTo>
                <a:lnTo>
                  <a:pt x="605028" y="129134"/>
                </a:lnTo>
                <a:lnTo>
                  <a:pt x="512093" y="221857"/>
                </a:lnTo>
                <a:lnTo>
                  <a:pt x="382817" y="92864"/>
                </a:lnTo>
                <a:close/>
                <a:moveTo>
                  <a:pt x="129376" y="0"/>
                </a:moveTo>
                <a:lnTo>
                  <a:pt x="201636" y="72129"/>
                </a:lnTo>
                <a:lnTo>
                  <a:pt x="139336" y="134317"/>
                </a:lnTo>
                <a:lnTo>
                  <a:pt x="168098" y="162925"/>
                </a:lnTo>
                <a:lnTo>
                  <a:pt x="230296" y="100839"/>
                </a:lnTo>
                <a:lnTo>
                  <a:pt x="273794" y="144157"/>
                </a:lnTo>
                <a:lnTo>
                  <a:pt x="144418" y="273300"/>
                </a:lnTo>
                <a:lnTo>
                  <a:pt x="0" y="12914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45" name="accept_38398">
            <a:extLst>
              <a:ext uri="{FF2B5EF4-FFF2-40B4-BE49-F238E27FC236}">
                <a16:creationId xmlns:a16="http://schemas.microsoft.com/office/drawing/2014/main" id="{2BE7138A-C27F-F09E-76F7-A514E8AA01D1}"/>
              </a:ext>
            </a:extLst>
          </p:cNvPr>
          <p:cNvSpPr>
            <a:spLocks noChangeAspect="1"/>
          </p:cNvSpPr>
          <p:nvPr/>
        </p:nvSpPr>
        <p:spPr bwMode="auto">
          <a:xfrm>
            <a:off x="4080917" y="3235167"/>
            <a:ext cx="470628" cy="442048"/>
          </a:xfrm>
          <a:custGeom>
            <a:avLst/>
            <a:gdLst>
              <a:gd name="connsiteX0" fmla="*/ 543411 w 606580"/>
              <a:gd name="connsiteY0" fmla="*/ 61956 h 569745"/>
              <a:gd name="connsiteX1" fmla="*/ 556798 w 606580"/>
              <a:gd name="connsiteY1" fmla="*/ 67559 h 569745"/>
              <a:gd name="connsiteX2" fmla="*/ 601369 w 606580"/>
              <a:gd name="connsiteY2" fmla="*/ 112060 h 569745"/>
              <a:gd name="connsiteX3" fmla="*/ 606580 w 606580"/>
              <a:gd name="connsiteY3" fmla="*/ 125346 h 569745"/>
              <a:gd name="connsiteX4" fmla="*/ 601369 w 606580"/>
              <a:gd name="connsiteY4" fmla="*/ 138712 h 569745"/>
              <a:gd name="connsiteX5" fmla="*/ 295704 w 606580"/>
              <a:gd name="connsiteY5" fmla="*/ 442134 h 569745"/>
              <a:gd name="connsiteX6" fmla="*/ 281916 w 606580"/>
              <a:gd name="connsiteY6" fmla="*/ 447737 h 569745"/>
              <a:gd name="connsiteX7" fmla="*/ 279671 w 606580"/>
              <a:gd name="connsiteY7" fmla="*/ 447337 h 569745"/>
              <a:gd name="connsiteX8" fmla="*/ 268528 w 606580"/>
              <a:gd name="connsiteY8" fmla="*/ 442134 h 569745"/>
              <a:gd name="connsiteX9" fmla="*/ 117339 w 606580"/>
              <a:gd name="connsiteY9" fmla="*/ 290783 h 569745"/>
              <a:gd name="connsiteX10" fmla="*/ 112128 w 606580"/>
              <a:gd name="connsiteY10" fmla="*/ 277497 h 569745"/>
              <a:gd name="connsiteX11" fmla="*/ 117339 w 606580"/>
              <a:gd name="connsiteY11" fmla="*/ 264451 h 569745"/>
              <a:gd name="connsiteX12" fmla="*/ 162311 w 606580"/>
              <a:gd name="connsiteY12" fmla="*/ 219950 h 569745"/>
              <a:gd name="connsiteX13" fmla="*/ 175297 w 606580"/>
              <a:gd name="connsiteY13" fmla="*/ 214428 h 569745"/>
              <a:gd name="connsiteX14" fmla="*/ 188685 w 606580"/>
              <a:gd name="connsiteY14" fmla="*/ 219950 h 569745"/>
              <a:gd name="connsiteX15" fmla="*/ 282316 w 606580"/>
              <a:gd name="connsiteY15" fmla="*/ 313434 h 569745"/>
              <a:gd name="connsiteX16" fmla="*/ 530023 w 606580"/>
              <a:gd name="connsiteY16" fmla="*/ 67559 h 569745"/>
              <a:gd name="connsiteX17" fmla="*/ 543411 w 606580"/>
              <a:gd name="connsiteY17" fmla="*/ 61956 h 569745"/>
              <a:gd name="connsiteX18" fmla="*/ 285296 w 606580"/>
              <a:gd name="connsiteY18" fmla="*/ 0 h 569745"/>
              <a:gd name="connsiteX19" fmla="*/ 332832 w 606580"/>
              <a:gd name="connsiteY19" fmla="*/ 19690 h 569745"/>
              <a:gd name="connsiteX20" fmla="*/ 431271 w 606580"/>
              <a:gd name="connsiteY20" fmla="*/ 117983 h 569745"/>
              <a:gd name="connsiteX21" fmla="*/ 283452 w 606580"/>
              <a:gd name="connsiteY21" fmla="*/ 265982 h 569745"/>
              <a:gd name="connsiteX22" fmla="*/ 213631 w 606580"/>
              <a:gd name="connsiteY22" fmla="*/ 196265 h 569745"/>
              <a:gd name="connsiteX23" fmla="*/ 176837 w 606580"/>
              <a:gd name="connsiteY23" fmla="*/ 180657 h 569745"/>
              <a:gd name="connsiteX24" fmla="*/ 139642 w 606580"/>
              <a:gd name="connsiteY24" fmla="*/ 195865 h 569745"/>
              <a:gd name="connsiteX25" fmla="*/ 95072 w 606580"/>
              <a:gd name="connsiteY25" fmla="*/ 240769 h 569745"/>
              <a:gd name="connsiteX26" fmla="*/ 79521 w 606580"/>
              <a:gd name="connsiteY26" fmla="*/ 277509 h 569745"/>
              <a:gd name="connsiteX27" fmla="*/ 95072 w 606580"/>
              <a:gd name="connsiteY27" fmla="*/ 314568 h 569745"/>
              <a:gd name="connsiteX28" fmla="*/ 245937 w 606580"/>
              <a:gd name="connsiteY28" fmla="*/ 465930 h 569745"/>
              <a:gd name="connsiteX29" fmla="*/ 270787 w 606580"/>
              <a:gd name="connsiteY29" fmla="*/ 479617 h 569745"/>
              <a:gd name="connsiteX30" fmla="*/ 273031 w 606580"/>
              <a:gd name="connsiteY30" fmla="*/ 481138 h 569745"/>
              <a:gd name="connsiteX31" fmla="*/ 283452 w 606580"/>
              <a:gd name="connsiteY31" fmla="*/ 481138 h 569745"/>
              <a:gd name="connsiteX32" fmla="*/ 320247 w 606580"/>
              <a:gd name="connsiteY32" fmla="*/ 465930 h 569745"/>
              <a:gd name="connsiteX33" fmla="*/ 550151 w 606580"/>
              <a:gd name="connsiteY33" fmla="*/ 236287 h 569745"/>
              <a:gd name="connsiteX34" fmla="*/ 550872 w 606580"/>
              <a:gd name="connsiteY34" fmla="*/ 237407 h 569745"/>
              <a:gd name="connsiteX35" fmla="*/ 570592 w 606580"/>
              <a:gd name="connsiteY35" fmla="*/ 284873 h 569745"/>
              <a:gd name="connsiteX36" fmla="*/ 550872 w 606580"/>
              <a:gd name="connsiteY36" fmla="*/ 332338 h 569745"/>
              <a:gd name="connsiteX37" fmla="*/ 332832 w 606580"/>
              <a:gd name="connsiteY37" fmla="*/ 550135 h 569745"/>
              <a:gd name="connsiteX38" fmla="*/ 285456 w 606580"/>
              <a:gd name="connsiteY38" fmla="*/ 569745 h 569745"/>
              <a:gd name="connsiteX39" fmla="*/ 237760 w 606580"/>
              <a:gd name="connsiteY39" fmla="*/ 550135 h 569745"/>
              <a:gd name="connsiteX40" fmla="*/ 19720 w 606580"/>
              <a:gd name="connsiteY40" fmla="*/ 332338 h 569745"/>
              <a:gd name="connsiteX41" fmla="*/ 0 w 606580"/>
              <a:gd name="connsiteY41" fmla="*/ 284873 h 569745"/>
              <a:gd name="connsiteX42" fmla="*/ 19720 w 606580"/>
              <a:gd name="connsiteY42" fmla="*/ 237407 h 569745"/>
              <a:gd name="connsiteX43" fmla="*/ 237760 w 606580"/>
              <a:gd name="connsiteY43" fmla="*/ 19690 h 569745"/>
              <a:gd name="connsiteX44" fmla="*/ 285296 w 606580"/>
              <a:gd name="connsiteY44" fmla="*/ 0 h 5697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06580" h="569745">
                <a:moveTo>
                  <a:pt x="543411" y="61956"/>
                </a:moveTo>
                <a:cubicBezTo>
                  <a:pt x="548621" y="61956"/>
                  <a:pt x="553030" y="63797"/>
                  <a:pt x="556798" y="67559"/>
                </a:cubicBezTo>
                <a:lnTo>
                  <a:pt x="601369" y="112060"/>
                </a:lnTo>
                <a:cubicBezTo>
                  <a:pt x="604816" y="115741"/>
                  <a:pt x="606580" y="120223"/>
                  <a:pt x="606580" y="125346"/>
                </a:cubicBezTo>
                <a:cubicBezTo>
                  <a:pt x="606580" y="130548"/>
                  <a:pt x="604816" y="135030"/>
                  <a:pt x="601369" y="138712"/>
                </a:cubicBezTo>
                <a:lnTo>
                  <a:pt x="295704" y="442134"/>
                </a:lnTo>
                <a:cubicBezTo>
                  <a:pt x="291455" y="445896"/>
                  <a:pt x="286886" y="447737"/>
                  <a:pt x="281916" y="447737"/>
                </a:cubicBezTo>
                <a:cubicBezTo>
                  <a:pt x="280954" y="447737"/>
                  <a:pt x="280232" y="447577"/>
                  <a:pt x="279671" y="447337"/>
                </a:cubicBezTo>
                <a:cubicBezTo>
                  <a:pt x="275262" y="446857"/>
                  <a:pt x="271494" y="445096"/>
                  <a:pt x="268528" y="442134"/>
                </a:cubicBezTo>
                <a:lnTo>
                  <a:pt x="117339" y="290783"/>
                </a:lnTo>
                <a:cubicBezTo>
                  <a:pt x="113892" y="287102"/>
                  <a:pt x="112128" y="282700"/>
                  <a:pt x="112128" y="277497"/>
                </a:cubicBezTo>
                <a:cubicBezTo>
                  <a:pt x="112128" y="272295"/>
                  <a:pt x="113892" y="267973"/>
                  <a:pt x="117339" y="264451"/>
                </a:cubicBezTo>
                <a:lnTo>
                  <a:pt x="162311" y="219950"/>
                </a:lnTo>
                <a:cubicBezTo>
                  <a:pt x="165517" y="216268"/>
                  <a:pt x="169846" y="214428"/>
                  <a:pt x="175297" y="214428"/>
                </a:cubicBezTo>
                <a:cubicBezTo>
                  <a:pt x="180748" y="214428"/>
                  <a:pt x="185238" y="216268"/>
                  <a:pt x="188685" y="219950"/>
                </a:cubicBezTo>
                <a:lnTo>
                  <a:pt x="282316" y="313434"/>
                </a:lnTo>
                <a:lnTo>
                  <a:pt x="530023" y="67559"/>
                </a:lnTo>
                <a:cubicBezTo>
                  <a:pt x="533711" y="63797"/>
                  <a:pt x="538200" y="61956"/>
                  <a:pt x="543411" y="61956"/>
                </a:cubicBezTo>
                <a:close/>
                <a:moveTo>
                  <a:pt x="285296" y="0"/>
                </a:moveTo>
                <a:cubicBezTo>
                  <a:pt x="303894" y="0"/>
                  <a:pt x="319685" y="6563"/>
                  <a:pt x="332832" y="19690"/>
                </a:cubicBezTo>
                <a:lnTo>
                  <a:pt x="431271" y="117983"/>
                </a:lnTo>
                <a:lnTo>
                  <a:pt x="283452" y="265982"/>
                </a:lnTo>
                <a:lnTo>
                  <a:pt x="213631" y="196265"/>
                </a:lnTo>
                <a:cubicBezTo>
                  <a:pt x="203210" y="185860"/>
                  <a:pt x="190946" y="180657"/>
                  <a:pt x="176837" y="180657"/>
                </a:cubicBezTo>
                <a:cubicBezTo>
                  <a:pt x="162248" y="180657"/>
                  <a:pt x="149822" y="185780"/>
                  <a:pt x="139642" y="195865"/>
                </a:cubicBezTo>
                <a:lnTo>
                  <a:pt x="95072" y="240769"/>
                </a:lnTo>
                <a:cubicBezTo>
                  <a:pt x="84731" y="250694"/>
                  <a:pt x="79521" y="262861"/>
                  <a:pt x="79521" y="277509"/>
                </a:cubicBezTo>
                <a:cubicBezTo>
                  <a:pt x="79521" y="291836"/>
                  <a:pt x="84731" y="304163"/>
                  <a:pt x="95072" y="314568"/>
                </a:cubicBezTo>
                <a:lnTo>
                  <a:pt x="245937" y="465930"/>
                </a:lnTo>
                <a:cubicBezTo>
                  <a:pt x="253311" y="472813"/>
                  <a:pt x="261648" y="477376"/>
                  <a:pt x="270787" y="479617"/>
                </a:cubicBezTo>
                <a:lnTo>
                  <a:pt x="273031" y="481138"/>
                </a:lnTo>
                <a:lnTo>
                  <a:pt x="283452" y="481138"/>
                </a:lnTo>
                <a:cubicBezTo>
                  <a:pt x="298282" y="481138"/>
                  <a:pt x="310547" y="476015"/>
                  <a:pt x="320247" y="465930"/>
                </a:cubicBezTo>
                <a:lnTo>
                  <a:pt x="550151" y="236287"/>
                </a:lnTo>
                <a:lnTo>
                  <a:pt x="550872" y="237407"/>
                </a:lnTo>
                <a:cubicBezTo>
                  <a:pt x="564019" y="250534"/>
                  <a:pt x="570592" y="266303"/>
                  <a:pt x="570592" y="284873"/>
                </a:cubicBezTo>
                <a:cubicBezTo>
                  <a:pt x="570592" y="303443"/>
                  <a:pt x="564019" y="319291"/>
                  <a:pt x="550872" y="332338"/>
                </a:cubicBezTo>
                <a:lnTo>
                  <a:pt x="332832" y="550135"/>
                </a:lnTo>
                <a:cubicBezTo>
                  <a:pt x="319926" y="563182"/>
                  <a:pt x="304134" y="569745"/>
                  <a:pt x="285456" y="569745"/>
                </a:cubicBezTo>
                <a:cubicBezTo>
                  <a:pt x="266779" y="569745"/>
                  <a:pt x="250826" y="563182"/>
                  <a:pt x="237760" y="550135"/>
                </a:cubicBezTo>
                <a:lnTo>
                  <a:pt x="19720" y="332338"/>
                </a:lnTo>
                <a:cubicBezTo>
                  <a:pt x="6573" y="319291"/>
                  <a:pt x="0" y="303443"/>
                  <a:pt x="0" y="284873"/>
                </a:cubicBezTo>
                <a:cubicBezTo>
                  <a:pt x="0" y="266383"/>
                  <a:pt x="6573" y="250534"/>
                  <a:pt x="19720" y="237407"/>
                </a:cubicBezTo>
                <a:lnTo>
                  <a:pt x="237760" y="19690"/>
                </a:lnTo>
                <a:cubicBezTo>
                  <a:pt x="250907" y="6563"/>
                  <a:pt x="266698" y="0"/>
                  <a:pt x="28529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46" name="intelligence_66143">
            <a:extLst>
              <a:ext uri="{FF2B5EF4-FFF2-40B4-BE49-F238E27FC236}">
                <a16:creationId xmlns:a16="http://schemas.microsoft.com/office/drawing/2014/main" id="{D9A2B600-CCF7-67F7-D7BE-7E322887BA75}"/>
              </a:ext>
            </a:extLst>
          </p:cNvPr>
          <p:cNvSpPr>
            <a:spLocks noChangeAspect="1"/>
          </p:cNvSpPr>
          <p:nvPr/>
        </p:nvSpPr>
        <p:spPr bwMode="auto">
          <a:xfrm>
            <a:off x="4157903" y="5958869"/>
            <a:ext cx="316656" cy="370844"/>
          </a:xfrm>
          <a:custGeom>
            <a:avLst/>
            <a:gdLst>
              <a:gd name="connsiteX0" fmla="*/ 220247 w 519074"/>
              <a:gd name="connsiteY0" fmla="*/ 135608 h 607902"/>
              <a:gd name="connsiteX1" fmla="*/ 265974 w 519074"/>
              <a:gd name="connsiteY1" fmla="*/ 181264 h 607902"/>
              <a:gd name="connsiteX2" fmla="*/ 220247 w 519074"/>
              <a:gd name="connsiteY2" fmla="*/ 226920 h 607902"/>
              <a:gd name="connsiteX3" fmla="*/ 174521 w 519074"/>
              <a:gd name="connsiteY3" fmla="*/ 181264 h 607902"/>
              <a:gd name="connsiteX4" fmla="*/ 220247 w 519074"/>
              <a:gd name="connsiteY4" fmla="*/ 135608 h 607902"/>
              <a:gd name="connsiteX5" fmla="*/ 212236 w 519074"/>
              <a:gd name="connsiteY5" fmla="*/ 59615 h 607902"/>
              <a:gd name="connsiteX6" fmla="*/ 202277 w 519074"/>
              <a:gd name="connsiteY6" fmla="*/ 66210 h 607902"/>
              <a:gd name="connsiteX7" fmla="*/ 191760 w 519074"/>
              <a:gd name="connsiteY7" fmla="*/ 91321 h 607902"/>
              <a:gd name="connsiteX8" fmla="*/ 185714 w 519074"/>
              <a:gd name="connsiteY8" fmla="*/ 97206 h 607902"/>
              <a:gd name="connsiteX9" fmla="*/ 185054 w 519074"/>
              <a:gd name="connsiteY9" fmla="*/ 97459 h 607902"/>
              <a:gd name="connsiteX10" fmla="*/ 176924 w 519074"/>
              <a:gd name="connsiteY10" fmla="*/ 97459 h 607902"/>
              <a:gd name="connsiteX11" fmla="*/ 151521 w 519074"/>
              <a:gd name="connsiteY11" fmla="*/ 87263 h 607902"/>
              <a:gd name="connsiteX12" fmla="*/ 139886 w 519074"/>
              <a:gd name="connsiteY12" fmla="*/ 89647 h 607902"/>
              <a:gd name="connsiteX13" fmla="*/ 128403 w 519074"/>
              <a:gd name="connsiteY13" fmla="*/ 101061 h 607902"/>
              <a:gd name="connsiteX14" fmla="*/ 126066 w 519074"/>
              <a:gd name="connsiteY14" fmla="*/ 112780 h 607902"/>
              <a:gd name="connsiteX15" fmla="*/ 136329 w 519074"/>
              <a:gd name="connsiteY15" fmla="*/ 137739 h 607902"/>
              <a:gd name="connsiteX16" fmla="*/ 136329 w 519074"/>
              <a:gd name="connsiteY16" fmla="*/ 145906 h 607902"/>
              <a:gd name="connsiteX17" fmla="*/ 136024 w 519074"/>
              <a:gd name="connsiteY17" fmla="*/ 146870 h 607902"/>
              <a:gd name="connsiteX18" fmla="*/ 130181 w 519074"/>
              <a:gd name="connsiteY18" fmla="*/ 152806 h 607902"/>
              <a:gd name="connsiteX19" fmla="*/ 105133 w 519074"/>
              <a:gd name="connsiteY19" fmla="*/ 163510 h 607902"/>
              <a:gd name="connsiteX20" fmla="*/ 98528 w 519074"/>
              <a:gd name="connsiteY20" fmla="*/ 173351 h 607902"/>
              <a:gd name="connsiteX21" fmla="*/ 98528 w 519074"/>
              <a:gd name="connsiteY21" fmla="*/ 173402 h 607902"/>
              <a:gd name="connsiteX22" fmla="*/ 98630 w 519074"/>
              <a:gd name="connsiteY22" fmla="*/ 173402 h 607902"/>
              <a:gd name="connsiteX23" fmla="*/ 98630 w 519074"/>
              <a:gd name="connsiteY23" fmla="*/ 189534 h 607902"/>
              <a:gd name="connsiteX24" fmla="*/ 105235 w 519074"/>
              <a:gd name="connsiteY24" fmla="*/ 199477 h 607902"/>
              <a:gd name="connsiteX25" fmla="*/ 130181 w 519074"/>
              <a:gd name="connsiteY25" fmla="*/ 209826 h 607902"/>
              <a:gd name="connsiteX26" fmla="*/ 136075 w 519074"/>
              <a:gd name="connsiteY26" fmla="*/ 215812 h 607902"/>
              <a:gd name="connsiteX27" fmla="*/ 136482 w 519074"/>
              <a:gd name="connsiteY27" fmla="*/ 216725 h 607902"/>
              <a:gd name="connsiteX28" fmla="*/ 136532 w 519074"/>
              <a:gd name="connsiteY28" fmla="*/ 224943 h 607902"/>
              <a:gd name="connsiteX29" fmla="*/ 126371 w 519074"/>
              <a:gd name="connsiteY29" fmla="*/ 250156 h 607902"/>
              <a:gd name="connsiteX30" fmla="*/ 128759 w 519074"/>
              <a:gd name="connsiteY30" fmla="*/ 261773 h 607902"/>
              <a:gd name="connsiteX31" fmla="*/ 140191 w 519074"/>
              <a:gd name="connsiteY31" fmla="*/ 273238 h 607902"/>
              <a:gd name="connsiteX32" fmla="*/ 151927 w 519074"/>
              <a:gd name="connsiteY32" fmla="*/ 275572 h 607902"/>
              <a:gd name="connsiteX33" fmla="*/ 177077 w 519074"/>
              <a:gd name="connsiteY33" fmla="*/ 265223 h 607902"/>
              <a:gd name="connsiteX34" fmla="*/ 185206 w 519074"/>
              <a:gd name="connsiteY34" fmla="*/ 265223 h 607902"/>
              <a:gd name="connsiteX35" fmla="*/ 185867 w 519074"/>
              <a:gd name="connsiteY35" fmla="*/ 265476 h 607902"/>
              <a:gd name="connsiteX36" fmla="*/ 191964 w 519074"/>
              <a:gd name="connsiteY36" fmla="*/ 271310 h 607902"/>
              <a:gd name="connsiteX37" fmla="*/ 202735 w 519074"/>
              <a:gd name="connsiteY37" fmla="*/ 296472 h 607902"/>
              <a:gd name="connsiteX38" fmla="*/ 212642 w 519074"/>
              <a:gd name="connsiteY38" fmla="*/ 303016 h 607902"/>
              <a:gd name="connsiteX39" fmla="*/ 228799 w 519074"/>
              <a:gd name="connsiteY39" fmla="*/ 303016 h 607902"/>
              <a:gd name="connsiteX40" fmla="*/ 238757 w 519074"/>
              <a:gd name="connsiteY40" fmla="*/ 296421 h 607902"/>
              <a:gd name="connsiteX41" fmla="*/ 249224 w 519074"/>
              <a:gd name="connsiteY41" fmla="*/ 271057 h 607902"/>
              <a:gd name="connsiteX42" fmla="*/ 255117 w 519074"/>
              <a:gd name="connsiteY42" fmla="*/ 265223 h 607902"/>
              <a:gd name="connsiteX43" fmla="*/ 255575 w 519074"/>
              <a:gd name="connsiteY43" fmla="*/ 265020 h 607902"/>
              <a:gd name="connsiteX44" fmla="*/ 263704 w 519074"/>
              <a:gd name="connsiteY44" fmla="*/ 264969 h 607902"/>
              <a:gd name="connsiteX45" fmla="*/ 289463 w 519074"/>
              <a:gd name="connsiteY45" fmla="*/ 275216 h 607902"/>
              <a:gd name="connsiteX46" fmla="*/ 301098 w 519074"/>
              <a:gd name="connsiteY46" fmla="*/ 272883 h 607902"/>
              <a:gd name="connsiteX47" fmla="*/ 312530 w 519074"/>
              <a:gd name="connsiteY47" fmla="*/ 261418 h 607902"/>
              <a:gd name="connsiteX48" fmla="*/ 314918 w 519074"/>
              <a:gd name="connsiteY48" fmla="*/ 249750 h 607902"/>
              <a:gd name="connsiteX49" fmla="*/ 304350 w 519074"/>
              <a:gd name="connsiteY49" fmla="*/ 224284 h 607902"/>
              <a:gd name="connsiteX50" fmla="*/ 304299 w 519074"/>
              <a:gd name="connsiteY50" fmla="*/ 216268 h 607902"/>
              <a:gd name="connsiteX51" fmla="*/ 304401 w 519074"/>
              <a:gd name="connsiteY51" fmla="*/ 215913 h 607902"/>
              <a:gd name="connsiteX52" fmla="*/ 310244 w 519074"/>
              <a:gd name="connsiteY52" fmla="*/ 209978 h 607902"/>
              <a:gd name="connsiteX53" fmla="*/ 335851 w 519074"/>
              <a:gd name="connsiteY53" fmla="*/ 199071 h 607902"/>
              <a:gd name="connsiteX54" fmla="*/ 342405 w 519074"/>
              <a:gd name="connsiteY54" fmla="*/ 189179 h 607902"/>
              <a:gd name="connsiteX55" fmla="*/ 342405 w 519074"/>
              <a:gd name="connsiteY55" fmla="*/ 173047 h 607902"/>
              <a:gd name="connsiteX56" fmla="*/ 335800 w 519074"/>
              <a:gd name="connsiteY56" fmla="*/ 163104 h 607902"/>
              <a:gd name="connsiteX57" fmla="*/ 310295 w 519074"/>
              <a:gd name="connsiteY57" fmla="*/ 152450 h 607902"/>
              <a:gd name="connsiteX58" fmla="*/ 304401 w 519074"/>
              <a:gd name="connsiteY58" fmla="*/ 146464 h 607902"/>
              <a:gd name="connsiteX59" fmla="*/ 304350 w 519074"/>
              <a:gd name="connsiteY59" fmla="*/ 146261 h 607902"/>
              <a:gd name="connsiteX60" fmla="*/ 304248 w 519074"/>
              <a:gd name="connsiteY60" fmla="*/ 138145 h 607902"/>
              <a:gd name="connsiteX61" fmla="*/ 314562 w 519074"/>
              <a:gd name="connsiteY61" fmla="*/ 112425 h 607902"/>
              <a:gd name="connsiteX62" fmla="*/ 312174 w 519074"/>
              <a:gd name="connsiteY62" fmla="*/ 100808 h 607902"/>
              <a:gd name="connsiteX63" fmla="*/ 300743 w 519074"/>
              <a:gd name="connsiteY63" fmla="*/ 89343 h 607902"/>
              <a:gd name="connsiteX64" fmla="*/ 289006 w 519074"/>
              <a:gd name="connsiteY64" fmla="*/ 87009 h 607902"/>
              <a:gd name="connsiteX65" fmla="*/ 263704 w 519074"/>
              <a:gd name="connsiteY65" fmla="*/ 97409 h 607902"/>
              <a:gd name="connsiteX66" fmla="*/ 255422 w 519074"/>
              <a:gd name="connsiteY66" fmla="*/ 97409 h 607902"/>
              <a:gd name="connsiteX67" fmla="*/ 255016 w 519074"/>
              <a:gd name="connsiteY67" fmla="*/ 97257 h 607902"/>
              <a:gd name="connsiteX68" fmla="*/ 249122 w 519074"/>
              <a:gd name="connsiteY68" fmla="*/ 91524 h 607902"/>
              <a:gd name="connsiteX69" fmla="*/ 238300 w 519074"/>
              <a:gd name="connsiteY69" fmla="*/ 66159 h 607902"/>
              <a:gd name="connsiteX70" fmla="*/ 228393 w 519074"/>
              <a:gd name="connsiteY70" fmla="*/ 59615 h 607902"/>
              <a:gd name="connsiteX71" fmla="*/ 227935 w 519074"/>
              <a:gd name="connsiteY71" fmla="*/ 8 h 607902"/>
              <a:gd name="connsiteX72" fmla="*/ 459669 w 519074"/>
              <a:gd name="connsiteY72" fmla="*/ 229458 h 607902"/>
              <a:gd name="connsiteX73" fmla="*/ 474099 w 519074"/>
              <a:gd name="connsiteY73" fmla="*/ 287341 h 607902"/>
              <a:gd name="connsiteX74" fmla="*/ 516625 w 519074"/>
              <a:gd name="connsiteY74" fmla="*/ 367443 h 607902"/>
              <a:gd name="connsiteX75" fmla="*/ 498689 w 519074"/>
              <a:gd name="connsiteY75" fmla="*/ 397779 h 607902"/>
              <a:gd name="connsiteX76" fmla="*/ 459720 w 519074"/>
              <a:gd name="connsiteY76" fmla="*/ 398540 h 607902"/>
              <a:gd name="connsiteX77" fmla="*/ 459720 w 519074"/>
              <a:gd name="connsiteY77" fmla="*/ 483107 h 607902"/>
              <a:gd name="connsiteX78" fmla="*/ 411402 w 519074"/>
              <a:gd name="connsiteY78" fmla="*/ 531402 h 607902"/>
              <a:gd name="connsiteX79" fmla="*/ 344844 w 519074"/>
              <a:gd name="connsiteY79" fmla="*/ 531402 h 607902"/>
              <a:gd name="connsiteX80" fmla="*/ 344844 w 519074"/>
              <a:gd name="connsiteY80" fmla="*/ 590958 h 607902"/>
              <a:gd name="connsiteX81" fmla="*/ 327925 w 519074"/>
              <a:gd name="connsiteY81" fmla="*/ 607902 h 607902"/>
              <a:gd name="connsiteX82" fmla="*/ 89688 w 519074"/>
              <a:gd name="connsiteY82" fmla="*/ 607902 h 607902"/>
              <a:gd name="connsiteX83" fmla="*/ 72718 w 519074"/>
              <a:gd name="connsiteY83" fmla="*/ 590958 h 607902"/>
              <a:gd name="connsiteX84" fmla="*/ 72718 w 519074"/>
              <a:gd name="connsiteY84" fmla="*/ 529829 h 607902"/>
              <a:gd name="connsiteX85" fmla="*/ 25111 w 519074"/>
              <a:gd name="connsiteY85" fmla="*/ 333657 h 607902"/>
              <a:gd name="connsiteX86" fmla="*/ 12 w 519074"/>
              <a:gd name="connsiteY86" fmla="*/ 231792 h 607902"/>
              <a:gd name="connsiteX87" fmla="*/ 227935 w 519074"/>
              <a:gd name="connsiteY87" fmla="*/ 8 h 607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519074" h="607902">
                <a:moveTo>
                  <a:pt x="220247" y="135608"/>
                </a:moveTo>
                <a:cubicBezTo>
                  <a:pt x="245549" y="135608"/>
                  <a:pt x="265974" y="156052"/>
                  <a:pt x="265974" y="181264"/>
                </a:cubicBezTo>
                <a:cubicBezTo>
                  <a:pt x="265974" y="206527"/>
                  <a:pt x="245499" y="226920"/>
                  <a:pt x="220247" y="226920"/>
                </a:cubicBezTo>
                <a:cubicBezTo>
                  <a:pt x="194996" y="226920"/>
                  <a:pt x="174521" y="206426"/>
                  <a:pt x="174521" y="181264"/>
                </a:cubicBezTo>
                <a:cubicBezTo>
                  <a:pt x="174521" y="156052"/>
                  <a:pt x="194996" y="135608"/>
                  <a:pt x="220247" y="135608"/>
                </a:cubicBezTo>
                <a:close/>
                <a:moveTo>
                  <a:pt x="212236" y="59615"/>
                </a:moveTo>
                <a:cubicBezTo>
                  <a:pt x="207866" y="59615"/>
                  <a:pt x="203954" y="62253"/>
                  <a:pt x="202277" y="66210"/>
                </a:cubicBezTo>
                <a:lnTo>
                  <a:pt x="191760" y="91321"/>
                </a:lnTo>
                <a:cubicBezTo>
                  <a:pt x="190592" y="94010"/>
                  <a:pt x="188458" y="96140"/>
                  <a:pt x="185714" y="97206"/>
                </a:cubicBezTo>
                <a:cubicBezTo>
                  <a:pt x="185511" y="97257"/>
                  <a:pt x="185257" y="97409"/>
                  <a:pt x="185054" y="97459"/>
                </a:cubicBezTo>
                <a:cubicBezTo>
                  <a:pt x="182412" y="98474"/>
                  <a:pt x="179516" y="98474"/>
                  <a:pt x="176924" y="97459"/>
                </a:cubicBezTo>
                <a:lnTo>
                  <a:pt x="151521" y="87263"/>
                </a:lnTo>
                <a:cubicBezTo>
                  <a:pt x="147507" y="85639"/>
                  <a:pt x="142934" y="86603"/>
                  <a:pt x="139886" y="89647"/>
                </a:cubicBezTo>
                <a:lnTo>
                  <a:pt x="128403" y="101061"/>
                </a:lnTo>
                <a:cubicBezTo>
                  <a:pt x="125304" y="104105"/>
                  <a:pt x="124440" y="108772"/>
                  <a:pt x="126066" y="112780"/>
                </a:cubicBezTo>
                <a:lnTo>
                  <a:pt x="136329" y="137739"/>
                </a:lnTo>
                <a:cubicBezTo>
                  <a:pt x="137447" y="140377"/>
                  <a:pt x="137447" y="143268"/>
                  <a:pt x="136329" y="145906"/>
                </a:cubicBezTo>
                <a:cubicBezTo>
                  <a:pt x="136278" y="146261"/>
                  <a:pt x="136126" y="146515"/>
                  <a:pt x="136024" y="146870"/>
                </a:cubicBezTo>
                <a:cubicBezTo>
                  <a:pt x="134907" y="149508"/>
                  <a:pt x="132823" y="151639"/>
                  <a:pt x="130181" y="152806"/>
                </a:cubicBezTo>
                <a:lnTo>
                  <a:pt x="105133" y="163510"/>
                </a:lnTo>
                <a:cubicBezTo>
                  <a:pt x="101119" y="165184"/>
                  <a:pt x="98528" y="169039"/>
                  <a:pt x="98528" y="173351"/>
                </a:cubicBezTo>
                <a:lnTo>
                  <a:pt x="98528" y="173402"/>
                </a:lnTo>
                <a:lnTo>
                  <a:pt x="98630" y="173402"/>
                </a:lnTo>
                <a:lnTo>
                  <a:pt x="98630" y="189534"/>
                </a:lnTo>
                <a:cubicBezTo>
                  <a:pt x="98630" y="193897"/>
                  <a:pt x="101272" y="197803"/>
                  <a:pt x="105235" y="199477"/>
                </a:cubicBezTo>
                <a:lnTo>
                  <a:pt x="130181" y="209826"/>
                </a:lnTo>
                <a:cubicBezTo>
                  <a:pt x="132874" y="210942"/>
                  <a:pt x="135008" y="213073"/>
                  <a:pt x="136075" y="215812"/>
                </a:cubicBezTo>
                <a:cubicBezTo>
                  <a:pt x="136228" y="216116"/>
                  <a:pt x="136329" y="216421"/>
                  <a:pt x="136482" y="216725"/>
                </a:cubicBezTo>
                <a:cubicBezTo>
                  <a:pt x="137549" y="219363"/>
                  <a:pt x="137650" y="222305"/>
                  <a:pt x="136532" y="224943"/>
                </a:cubicBezTo>
                <a:lnTo>
                  <a:pt x="126371" y="250156"/>
                </a:lnTo>
                <a:cubicBezTo>
                  <a:pt x="124745" y="254164"/>
                  <a:pt x="125710" y="258729"/>
                  <a:pt x="128759" y="261773"/>
                </a:cubicBezTo>
                <a:lnTo>
                  <a:pt x="140191" y="273238"/>
                </a:lnTo>
                <a:cubicBezTo>
                  <a:pt x="143239" y="276332"/>
                  <a:pt x="147913" y="277195"/>
                  <a:pt x="151927" y="275572"/>
                </a:cubicBezTo>
                <a:lnTo>
                  <a:pt x="177077" y="265223"/>
                </a:lnTo>
                <a:cubicBezTo>
                  <a:pt x="179617" y="264208"/>
                  <a:pt x="182564" y="264208"/>
                  <a:pt x="185206" y="265223"/>
                </a:cubicBezTo>
                <a:cubicBezTo>
                  <a:pt x="185409" y="265273"/>
                  <a:pt x="185663" y="265426"/>
                  <a:pt x="185867" y="265476"/>
                </a:cubicBezTo>
                <a:cubicBezTo>
                  <a:pt x="188559" y="266491"/>
                  <a:pt x="190795" y="268622"/>
                  <a:pt x="191964" y="271310"/>
                </a:cubicBezTo>
                <a:lnTo>
                  <a:pt x="202735" y="296472"/>
                </a:lnTo>
                <a:cubicBezTo>
                  <a:pt x="204411" y="300480"/>
                  <a:pt x="208273" y="303016"/>
                  <a:pt x="212642" y="303016"/>
                </a:cubicBezTo>
                <a:lnTo>
                  <a:pt x="228799" y="303016"/>
                </a:lnTo>
                <a:cubicBezTo>
                  <a:pt x="233169" y="303016"/>
                  <a:pt x="237081" y="300378"/>
                  <a:pt x="238757" y="296421"/>
                </a:cubicBezTo>
                <a:lnTo>
                  <a:pt x="249224" y="271057"/>
                </a:lnTo>
                <a:cubicBezTo>
                  <a:pt x="250342" y="268419"/>
                  <a:pt x="252475" y="266288"/>
                  <a:pt x="255117" y="265223"/>
                </a:cubicBezTo>
                <a:cubicBezTo>
                  <a:pt x="255219" y="265172"/>
                  <a:pt x="255422" y="265070"/>
                  <a:pt x="255575" y="265020"/>
                </a:cubicBezTo>
                <a:cubicBezTo>
                  <a:pt x="258217" y="263954"/>
                  <a:pt x="261113" y="263954"/>
                  <a:pt x="263704" y="264969"/>
                </a:cubicBezTo>
                <a:lnTo>
                  <a:pt x="289463" y="275216"/>
                </a:lnTo>
                <a:cubicBezTo>
                  <a:pt x="293426" y="276840"/>
                  <a:pt x="298050" y="275927"/>
                  <a:pt x="301098" y="272883"/>
                </a:cubicBezTo>
                <a:lnTo>
                  <a:pt x="312530" y="261418"/>
                </a:lnTo>
                <a:cubicBezTo>
                  <a:pt x="315680" y="258374"/>
                  <a:pt x="316595" y="253707"/>
                  <a:pt x="314918" y="249750"/>
                </a:cubicBezTo>
                <a:lnTo>
                  <a:pt x="304350" y="224284"/>
                </a:lnTo>
                <a:cubicBezTo>
                  <a:pt x="303283" y="221747"/>
                  <a:pt x="303283" y="218805"/>
                  <a:pt x="304299" y="216268"/>
                </a:cubicBezTo>
                <a:lnTo>
                  <a:pt x="304401" y="215913"/>
                </a:lnTo>
                <a:cubicBezTo>
                  <a:pt x="305519" y="213225"/>
                  <a:pt x="307602" y="211094"/>
                  <a:pt x="310244" y="209978"/>
                </a:cubicBezTo>
                <a:lnTo>
                  <a:pt x="335851" y="199071"/>
                </a:lnTo>
                <a:cubicBezTo>
                  <a:pt x="339865" y="197397"/>
                  <a:pt x="342405" y="193542"/>
                  <a:pt x="342405" y="189179"/>
                </a:cubicBezTo>
                <a:lnTo>
                  <a:pt x="342405" y="173047"/>
                </a:lnTo>
                <a:cubicBezTo>
                  <a:pt x="342405" y="168684"/>
                  <a:pt x="339763" y="164778"/>
                  <a:pt x="335800" y="163104"/>
                </a:cubicBezTo>
                <a:lnTo>
                  <a:pt x="310295" y="152450"/>
                </a:lnTo>
                <a:cubicBezTo>
                  <a:pt x="307602" y="151334"/>
                  <a:pt x="305519" y="149153"/>
                  <a:pt x="304401" y="146464"/>
                </a:cubicBezTo>
                <a:cubicBezTo>
                  <a:pt x="304401" y="146363"/>
                  <a:pt x="304350" y="146312"/>
                  <a:pt x="304350" y="146261"/>
                </a:cubicBezTo>
                <a:cubicBezTo>
                  <a:pt x="303232" y="143674"/>
                  <a:pt x="303232" y="140783"/>
                  <a:pt x="304248" y="138145"/>
                </a:cubicBezTo>
                <a:lnTo>
                  <a:pt x="314562" y="112425"/>
                </a:lnTo>
                <a:cubicBezTo>
                  <a:pt x="316188" y="108417"/>
                  <a:pt x="315223" y="103851"/>
                  <a:pt x="312174" y="100808"/>
                </a:cubicBezTo>
                <a:lnTo>
                  <a:pt x="300743" y="89343"/>
                </a:lnTo>
                <a:cubicBezTo>
                  <a:pt x="297694" y="86248"/>
                  <a:pt x="293020" y="85386"/>
                  <a:pt x="289006" y="87009"/>
                </a:cubicBezTo>
                <a:lnTo>
                  <a:pt x="263704" y="97409"/>
                </a:lnTo>
                <a:cubicBezTo>
                  <a:pt x="261062" y="98575"/>
                  <a:pt x="258064" y="98474"/>
                  <a:pt x="255422" y="97409"/>
                </a:cubicBezTo>
                <a:cubicBezTo>
                  <a:pt x="255270" y="97409"/>
                  <a:pt x="255168" y="97358"/>
                  <a:pt x="255016" y="97257"/>
                </a:cubicBezTo>
                <a:cubicBezTo>
                  <a:pt x="252374" y="96191"/>
                  <a:pt x="250291" y="94162"/>
                  <a:pt x="249122" y="91524"/>
                </a:cubicBezTo>
                <a:lnTo>
                  <a:pt x="238300" y="66159"/>
                </a:lnTo>
                <a:cubicBezTo>
                  <a:pt x="236623" y="62152"/>
                  <a:pt x="232711" y="59615"/>
                  <a:pt x="228393" y="59615"/>
                </a:cubicBezTo>
                <a:close/>
                <a:moveTo>
                  <a:pt x="227935" y="8"/>
                </a:moveTo>
                <a:cubicBezTo>
                  <a:pt x="355767" y="-1007"/>
                  <a:pt x="459669" y="102076"/>
                  <a:pt x="459669" y="229458"/>
                </a:cubicBezTo>
                <a:cubicBezTo>
                  <a:pt x="459669" y="249598"/>
                  <a:pt x="464597" y="269484"/>
                  <a:pt x="474099" y="287341"/>
                </a:cubicBezTo>
                <a:lnTo>
                  <a:pt x="516625" y="367443"/>
                </a:lnTo>
                <a:cubicBezTo>
                  <a:pt x="523890" y="381039"/>
                  <a:pt x="514135" y="397526"/>
                  <a:pt x="498689" y="397779"/>
                </a:cubicBezTo>
                <a:lnTo>
                  <a:pt x="459720" y="398540"/>
                </a:lnTo>
                <a:lnTo>
                  <a:pt x="459720" y="483107"/>
                </a:lnTo>
                <a:cubicBezTo>
                  <a:pt x="459720" y="509689"/>
                  <a:pt x="438025" y="531402"/>
                  <a:pt x="411402" y="531402"/>
                </a:cubicBezTo>
                <a:lnTo>
                  <a:pt x="344844" y="531402"/>
                </a:lnTo>
                <a:lnTo>
                  <a:pt x="344844" y="590958"/>
                </a:lnTo>
                <a:cubicBezTo>
                  <a:pt x="344844" y="600293"/>
                  <a:pt x="337273" y="607902"/>
                  <a:pt x="327925" y="607902"/>
                </a:cubicBezTo>
                <a:lnTo>
                  <a:pt x="89688" y="607902"/>
                </a:lnTo>
                <a:cubicBezTo>
                  <a:pt x="80339" y="607902"/>
                  <a:pt x="72718" y="600293"/>
                  <a:pt x="72718" y="590958"/>
                </a:cubicBezTo>
                <a:lnTo>
                  <a:pt x="72718" y="529829"/>
                </a:lnTo>
                <a:cubicBezTo>
                  <a:pt x="72718" y="461648"/>
                  <a:pt x="56358" y="394482"/>
                  <a:pt x="25111" y="333657"/>
                </a:cubicBezTo>
                <a:cubicBezTo>
                  <a:pt x="9462" y="303118"/>
                  <a:pt x="419" y="268469"/>
                  <a:pt x="12" y="231792"/>
                </a:cubicBezTo>
                <a:cubicBezTo>
                  <a:pt x="-1258" y="104562"/>
                  <a:pt x="100510" y="1022"/>
                  <a:pt x="227935" y="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6E4AF58-9FB8-5B55-CF31-C4817E9C80C3}"/>
              </a:ext>
            </a:extLst>
          </p:cNvPr>
          <p:cNvSpPr/>
          <p:nvPr/>
        </p:nvSpPr>
        <p:spPr>
          <a:xfrm>
            <a:off x="410368" y="4341884"/>
            <a:ext cx="2503613" cy="73410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目标用户</a:t>
            </a:r>
          </a:p>
        </p:txBody>
      </p:sp>
      <p:sp>
        <p:nvSpPr>
          <p:cNvPr id="48" name="左大括号 47">
            <a:extLst>
              <a:ext uri="{FF2B5EF4-FFF2-40B4-BE49-F238E27FC236}">
                <a16:creationId xmlns:a16="http://schemas.microsoft.com/office/drawing/2014/main" id="{ABDF1881-1DB0-F581-12DA-45F75CC2A9DA}"/>
              </a:ext>
            </a:extLst>
          </p:cNvPr>
          <p:cNvSpPr/>
          <p:nvPr/>
        </p:nvSpPr>
        <p:spPr>
          <a:xfrm>
            <a:off x="2913981" y="3235167"/>
            <a:ext cx="938575" cy="2842680"/>
          </a:xfrm>
          <a:prstGeom prst="leftBrace">
            <a:avLst/>
          </a:prstGeom>
          <a:ln w="31750"/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82755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11892-CAEA-C791-31E8-7D02F11C3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F80D261-15E5-EA63-C836-FFF84311ABB6}"/>
              </a:ext>
            </a:extLst>
          </p:cNvPr>
          <p:cNvGrpSpPr/>
          <p:nvPr/>
        </p:nvGrpSpPr>
        <p:grpSpPr>
          <a:xfrm>
            <a:off x="-240704" y="246620"/>
            <a:ext cx="4464496" cy="734108"/>
            <a:chOff x="-240704" y="246620"/>
            <a:chExt cx="3456384" cy="7341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6B9A80FA-E21C-F240-10FD-CD6A68CD1ABE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7" name="文本占位符 3">
              <a:extLst>
                <a:ext uri="{FF2B5EF4-FFF2-40B4-BE49-F238E27FC236}">
                  <a16:creationId xmlns:a16="http://schemas.microsoft.com/office/drawing/2014/main" id="{BD5ACB45-01A7-2E58-4486-B0530D699F2B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项目动机和背景介绍</a:t>
              </a: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59C12451-AD02-C913-97FF-2BB420B8DEFA}"/>
              </a:ext>
            </a:extLst>
          </p:cNvPr>
          <p:cNvSpPr/>
          <p:nvPr/>
        </p:nvSpPr>
        <p:spPr>
          <a:xfrm>
            <a:off x="733245" y="1100547"/>
            <a:ext cx="10768992" cy="159071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lnSpc>
                <a:spcPct val="150000"/>
              </a:lnSpc>
              <a:defRPr/>
            </a:pP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a typeface="微软雅黑 Light" panose="020B0502040204020203" pitchFamily="34" charset="-122"/>
              </a:rPr>
              <a:t>项目定位：</a:t>
            </a:r>
            <a:endParaRPr lang="en-US" altLang="zh-CN" sz="2400" b="1" dirty="0">
              <a:solidFill>
                <a:schemeClr val="tx1">
                  <a:lumMod val="95000"/>
                  <a:lumOff val="5000"/>
                </a:schemeClr>
              </a:solidFill>
              <a:ea typeface="微软雅黑 Light" panose="020B0502040204020203" pitchFamily="34" charset="-122"/>
            </a:endParaRPr>
          </a:p>
          <a:p>
            <a:pPr lvl="0">
              <a:lnSpc>
                <a:spcPct val="150000"/>
              </a:lnSpc>
              <a:defRPr/>
            </a:pPr>
            <a:r>
              <a:rPr lang="en-US" altLang="zh-CN" sz="2400" b="1" dirty="0" err="1">
                <a:solidFill>
                  <a:schemeClr val="tx1">
                    <a:lumMod val="95000"/>
                    <a:lumOff val="5000"/>
                  </a:schemeClr>
                </a:solidFill>
                <a:ea typeface="微软雅黑 Light" panose="020B0502040204020203" pitchFamily="34" charset="-122"/>
              </a:rPr>
              <a:t>DormFix</a:t>
            </a: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a typeface="微软雅黑 Light" panose="020B0502040204020203" pitchFamily="34" charset="-122"/>
              </a:rPr>
              <a:t>是一个面向学生、宿舍管理员、维修人员三类用户的</a:t>
            </a:r>
            <a:r>
              <a:rPr lang="en-US" altLang="zh-CN" sz="2400" b="1" dirty="0">
                <a:solidFill>
                  <a:schemeClr val="tx1">
                    <a:lumMod val="95000"/>
                    <a:lumOff val="5000"/>
                  </a:schemeClr>
                </a:solidFill>
                <a:ea typeface="微软雅黑 Light" panose="020B0502040204020203" pitchFamily="34" charset="-122"/>
              </a:rPr>
              <a:t>Web</a:t>
            </a: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a typeface="微软雅黑 Light" panose="020B0502040204020203" pitchFamily="34" charset="-122"/>
              </a:rPr>
              <a:t>端系统，旨在实现</a:t>
            </a: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报修</a:t>
            </a:r>
            <a:r>
              <a:rPr lang="en-US" altLang="zh-CN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—</a:t>
            </a: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审核</a:t>
            </a:r>
            <a:r>
              <a:rPr lang="en-US" altLang="zh-CN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—</a:t>
            </a: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派单</a:t>
            </a:r>
            <a:r>
              <a:rPr lang="en-US" altLang="zh-CN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—</a:t>
            </a: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维修</a:t>
            </a:r>
            <a:r>
              <a:rPr lang="en-US" altLang="zh-CN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—</a:t>
            </a: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确认</a:t>
            </a:r>
            <a:r>
              <a:rPr lang="en-US" altLang="zh-CN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—</a:t>
            </a: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评价</a:t>
            </a:r>
            <a:r>
              <a:rPr lang="zh-CN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ea typeface="微软雅黑 Light" panose="020B0502040204020203" pitchFamily="34" charset="-122"/>
              </a:rPr>
              <a:t>的全流程管理。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95000"/>
                  <a:lumOff val="5000"/>
                </a:schemeClr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87B8332-CD67-42FE-BB8C-EFE667BEFB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464" y="2792479"/>
            <a:ext cx="9361040" cy="3913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568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64499-3E40-C62A-C86E-BC1F91818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 descr="D:\360MoveData\Users\xiaoxiao\Desktop\1004150863.jpg1004150863">
            <a:extLst>
              <a:ext uri="{FF2B5EF4-FFF2-40B4-BE49-F238E27FC236}">
                <a16:creationId xmlns:a16="http://schemas.microsoft.com/office/drawing/2014/main" id="{2E9DB100-1F16-6056-25AC-F37C0361ED1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rcRect t="28060" b="17165"/>
          <a:stretch>
            <a:fillRect/>
          </a:stretch>
        </p:blipFill>
        <p:spPr>
          <a:xfrm>
            <a:off x="1270" y="-120650"/>
            <a:ext cx="12190730" cy="4153535"/>
          </a:xfrm>
          <a:prstGeom prst="rect">
            <a:avLst/>
          </a:prstGeom>
        </p:spPr>
      </p:pic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13C62E0-854D-1D77-0A22-1B810976E0EF}"/>
              </a:ext>
            </a:extLst>
          </p:cNvPr>
          <p:cNvCxnSpPr/>
          <p:nvPr/>
        </p:nvCxnSpPr>
        <p:spPr>
          <a:xfrm>
            <a:off x="0" y="4056185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2537BB4A-7C91-F972-3527-CEA03E1B1841}"/>
              </a:ext>
            </a:extLst>
          </p:cNvPr>
          <p:cNvSpPr/>
          <p:nvPr/>
        </p:nvSpPr>
        <p:spPr>
          <a:xfrm>
            <a:off x="4224759" y="3429000"/>
            <a:ext cx="3742482" cy="98272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7F152AE-426E-259E-0276-210B66CE04DB}"/>
              </a:ext>
            </a:extLst>
          </p:cNvPr>
          <p:cNvSpPr txBox="1"/>
          <p:nvPr/>
        </p:nvSpPr>
        <p:spPr>
          <a:xfrm>
            <a:off x="4474046" y="3458695"/>
            <a:ext cx="32394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PART 02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E64153C-CC61-78E3-B221-0938B0A37D84}"/>
              </a:ext>
            </a:extLst>
          </p:cNvPr>
          <p:cNvCxnSpPr/>
          <p:nvPr/>
        </p:nvCxnSpPr>
        <p:spPr>
          <a:xfrm>
            <a:off x="7893127" y="4056186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D924C589-5B07-E3F5-A80F-9E5F5A1DC2AD}"/>
              </a:ext>
            </a:extLst>
          </p:cNvPr>
          <p:cNvSpPr txBox="1"/>
          <p:nvPr/>
        </p:nvSpPr>
        <p:spPr>
          <a:xfrm>
            <a:off x="2418831" y="4772125"/>
            <a:ext cx="73499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4800" b="1" dirty="0">
                <a:solidFill>
                  <a:prstClr val="black">
                    <a:lumMod val="65000"/>
                    <a:lumOff val="35000"/>
                  </a:prstClr>
                </a:solidFill>
                <a:latin typeface="微软雅黑" panose="020B0503020204020204" charset="-122"/>
                <a:ea typeface="微软雅黑" panose="020B0503020204020204" charset="-122"/>
              </a:rPr>
              <a:t>项目的组织管理情况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等腰三角形 10">
            <a:extLst>
              <a:ext uri="{FF2B5EF4-FFF2-40B4-BE49-F238E27FC236}">
                <a16:creationId xmlns:a16="http://schemas.microsoft.com/office/drawing/2014/main" id="{B52503CA-1553-32D8-C1EB-393ADA990011}"/>
              </a:ext>
            </a:extLst>
          </p:cNvPr>
          <p:cNvSpPr/>
          <p:nvPr/>
        </p:nvSpPr>
        <p:spPr>
          <a:xfrm>
            <a:off x="5922380" y="6558655"/>
            <a:ext cx="347240" cy="29934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200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F3EE2-7F3E-B808-8D56-ACDCECAD9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C305B197-2355-744C-4B72-6E21B642F6D5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57329C41-8A1B-0009-4E1F-D4F6B053869B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6D445C0D-EDC6-BC90-7DC1-9A4EF372FDCD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模型选取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108AB590-0388-3943-7722-DCA62E8ED2C2}"/>
              </a:ext>
            </a:extLst>
          </p:cNvPr>
          <p:cNvSpPr/>
          <p:nvPr/>
        </p:nvSpPr>
        <p:spPr>
          <a:xfrm>
            <a:off x="407368" y="1068358"/>
            <a:ext cx="4824536" cy="632450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800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本项目选取迭代式开发模型：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3890458-2862-AC00-0DBB-B935CC1E94B2}"/>
              </a:ext>
            </a:extLst>
          </p:cNvPr>
          <p:cNvSpPr/>
          <p:nvPr/>
        </p:nvSpPr>
        <p:spPr>
          <a:xfrm>
            <a:off x="407368" y="1788437"/>
            <a:ext cx="11233248" cy="47588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indent="457200">
              <a:lnSpc>
                <a:spcPct val="130000"/>
              </a:lnSpc>
              <a:defRPr/>
            </a:pPr>
            <a:r>
              <a:rPr lang="zh-CN" altLang="en-US" sz="3200" b="1" dirty="0">
                <a:solidFill>
                  <a:schemeClr val="accent5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选择迭代式开发模型原因：</a:t>
            </a:r>
          </a:p>
          <a:p>
            <a:pPr lvl="0" indent="457200">
              <a:lnSpc>
                <a:spcPct val="130000"/>
              </a:lnSpc>
              <a:defRPr/>
            </a:pPr>
            <a:r>
              <a:rPr lang="en-US" altLang="zh-CN" sz="2400" b="1" dirty="0">
                <a:solidFill>
                  <a:schemeClr val="accent6">
                    <a:lumMod val="50000"/>
                  </a:schemeClr>
                </a:solidFill>
                <a:ea typeface="微软雅黑 Light" panose="020B0502040204020203" pitchFamily="34" charset="-122"/>
              </a:rPr>
              <a:t>1.</a:t>
            </a:r>
            <a:r>
              <a:rPr lang="zh-CN" altLang="en-US" sz="2400" b="1" dirty="0">
                <a:solidFill>
                  <a:schemeClr val="accent6">
                    <a:lumMod val="50000"/>
                  </a:schemeClr>
                </a:solidFill>
                <a:ea typeface="微软雅黑 Light" panose="020B0502040204020203" pitchFamily="34" charset="-122"/>
              </a:rPr>
              <a:t>核心需求（如报修、派单、评价）在初期已通过调研明确，但具体交互细节和用户体验需要通过快速原型进行验证和调整。</a:t>
            </a:r>
            <a:endParaRPr lang="en-US" altLang="zh-CN" sz="2400" b="1" dirty="0">
              <a:solidFill>
                <a:schemeClr val="accent6">
                  <a:lumMod val="50000"/>
                </a:schemeClr>
              </a:solidFill>
              <a:ea typeface="微软雅黑 Light" panose="020B0502040204020203" pitchFamily="34" charset="-122"/>
            </a:endParaRPr>
          </a:p>
          <a:p>
            <a:pPr lvl="0" indent="457200">
              <a:lnSpc>
                <a:spcPct val="130000"/>
              </a:lnSpc>
              <a:defRPr/>
            </a:pPr>
            <a:r>
              <a:rPr lang="en-US" altLang="zh-CN" sz="2400" b="1" dirty="0">
                <a:solidFill>
                  <a:schemeClr val="accent6">
                    <a:lumMod val="50000"/>
                  </a:schemeClr>
                </a:solidFill>
                <a:ea typeface="微软雅黑 Light" panose="020B0502040204020203" pitchFamily="34" charset="-122"/>
              </a:rPr>
              <a:t>2.</a:t>
            </a:r>
            <a:r>
              <a:rPr lang="zh-CN" altLang="en-US" sz="2400" b="1" dirty="0">
                <a:solidFill>
                  <a:schemeClr val="accent6">
                    <a:lumMod val="50000"/>
                  </a:schemeClr>
                </a:solidFill>
                <a:ea typeface="微软雅黑 Light" panose="020B0502040204020203" pitchFamily="34" charset="-122"/>
              </a:rPr>
              <a:t>迭代模型允许我们在有限的课程周期内，分阶段交付可用的功能模块（如先完成核心报修流程，再增加统计、评价等）。</a:t>
            </a:r>
            <a:endParaRPr lang="en-US" altLang="zh-CN" sz="2400" b="1" dirty="0">
              <a:solidFill>
                <a:schemeClr val="accent6">
                  <a:lumMod val="50000"/>
                </a:schemeClr>
              </a:solidFill>
              <a:ea typeface="微软雅黑 Light" panose="020B0502040204020203" pitchFamily="34" charset="-122"/>
            </a:endParaRPr>
          </a:p>
          <a:p>
            <a:pPr lvl="0" indent="457200">
              <a:lnSpc>
                <a:spcPct val="130000"/>
              </a:lnSpc>
              <a:defRPr/>
            </a:pPr>
            <a:r>
              <a:rPr lang="en-US" altLang="zh-CN" sz="2400" b="1" dirty="0">
                <a:solidFill>
                  <a:schemeClr val="accent6">
                    <a:lumMod val="50000"/>
                  </a:schemeClr>
                </a:solidFill>
                <a:ea typeface="微软雅黑 Light" panose="020B0502040204020203" pitchFamily="34" charset="-122"/>
              </a:rPr>
              <a:t>3.</a:t>
            </a:r>
            <a:r>
              <a:rPr lang="zh-CN" altLang="en-US" sz="2400" b="1" dirty="0">
                <a:solidFill>
                  <a:schemeClr val="accent6">
                    <a:lumMod val="50000"/>
                  </a:schemeClr>
                </a:solidFill>
                <a:ea typeface="微软雅黑 Light" panose="020B0502040204020203" pitchFamily="34" charset="-122"/>
              </a:rPr>
              <a:t>迭代模型根据</a:t>
            </a: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灵活性</a:t>
            </a:r>
            <a:r>
              <a:rPr lang="zh-CN" altLang="en-US" sz="2400" b="1" dirty="0">
                <a:solidFill>
                  <a:schemeClr val="accent6">
                    <a:lumMod val="50000"/>
                  </a:schemeClr>
                </a:solidFill>
                <a:ea typeface="微软雅黑 Light" panose="020B0502040204020203" pitchFamily="34" charset="-122"/>
              </a:rPr>
              <a:t>，在开发过程中，有利于我们根据内部测试反馈，对部分核心功能进行了调整。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6779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3EBF6-B2CE-BCE5-49F0-445982F1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F6656B64-D61A-2B71-B9B8-F5DF1DF2A38F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9507ADC0-FED0-42D7-7CE8-8F9CB6DB0F93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10A91AF0-8DFA-9A70-53C8-600CAC86FF7F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软件过程管理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45D1237A-BA82-BCE4-4C7D-F1FEDFB63B6F}"/>
              </a:ext>
            </a:extLst>
          </p:cNvPr>
          <p:cNvSpPr/>
          <p:nvPr/>
        </p:nvSpPr>
        <p:spPr>
          <a:xfrm>
            <a:off x="263352" y="1182724"/>
            <a:ext cx="11305256" cy="108012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2400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严格遵循软件工程流程，划分为</a:t>
            </a:r>
            <a:endParaRPr lang="en-US" altLang="zh-CN" sz="2400" b="1" dirty="0">
              <a:solidFill>
                <a:schemeClr val="accent1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2400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需求分析 </a:t>
            </a:r>
            <a:r>
              <a:rPr lang="en-US" altLang="zh-CN" sz="2400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-&gt; </a:t>
            </a:r>
            <a:r>
              <a:rPr lang="zh-CN" altLang="en-US" sz="2400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软件设计 </a:t>
            </a:r>
            <a:r>
              <a:rPr lang="en-US" altLang="zh-CN" sz="2400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-&gt; </a:t>
            </a:r>
            <a:r>
              <a:rPr lang="zh-CN" altLang="en-US" sz="2400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编码实现 </a:t>
            </a:r>
            <a:r>
              <a:rPr lang="en-US" altLang="zh-CN" sz="2400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-&gt; </a:t>
            </a:r>
            <a:r>
              <a:rPr lang="zh-CN" altLang="en-US" sz="2400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测试联调</a:t>
            </a:r>
            <a:r>
              <a:rPr lang="zh-CN" altLang="en-US" sz="2400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四大阶段。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39751C2-EAA9-97F6-BAAA-554056D1A4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08" y="2436222"/>
            <a:ext cx="9649072" cy="375550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62066C9-DDC4-A12F-81D2-16510632656F}"/>
              </a:ext>
            </a:extLst>
          </p:cNvPr>
          <p:cNvSpPr txBox="1"/>
          <p:nvPr/>
        </p:nvSpPr>
        <p:spPr>
          <a:xfrm>
            <a:off x="918538" y="6196134"/>
            <a:ext cx="9505056" cy="597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2800" b="1" dirty="0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项目甘特图</a:t>
            </a:r>
          </a:p>
        </p:txBody>
      </p:sp>
    </p:spTree>
    <p:extLst>
      <p:ext uri="{BB962C8B-B14F-4D97-AF65-F5344CB8AC3E}">
        <p14:creationId xmlns:p14="http://schemas.microsoft.com/office/powerpoint/2010/main" val="1899898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F2E0B-D8BA-B6EA-CC09-D89A07BDE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381B6F93-CDF3-612D-BEED-4152AB9786C4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8DA45EF9-BB11-3BC1-B7DF-38067AE0AD1A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B5C4859C-E008-E264-0A63-2022481DE85E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软件过程管理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FA83475F-A7F0-F11B-D287-224B98591EBF}"/>
              </a:ext>
            </a:extLst>
          </p:cNvPr>
          <p:cNvSpPr/>
          <p:nvPr/>
        </p:nvSpPr>
        <p:spPr>
          <a:xfrm>
            <a:off x="479376" y="1196752"/>
            <a:ext cx="10729192" cy="108803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indent="457200">
              <a:lnSpc>
                <a:spcPct val="150000"/>
              </a:lnSpc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rPr>
              <a:t>项目分阶段开发报修系统，后端搭建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rPr>
              <a:t>Django 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rPr>
              <a:t>框架、开发全套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rPr>
              <a:t>API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rPr>
              <a:t>，前端完成多角色页面开发，同步优化路由与界面问题。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CF701F2-0C1A-06E7-FBB7-6FB5CCA8B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30" y="2522052"/>
            <a:ext cx="11779539" cy="3479073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66E88E09-D070-6B05-0408-5EA1BE588DB8}"/>
              </a:ext>
            </a:extLst>
          </p:cNvPr>
          <p:cNvSpPr txBox="1"/>
          <p:nvPr/>
        </p:nvSpPr>
        <p:spPr>
          <a:xfrm>
            <a:off x="911424" y="6036784"/>
            <a:ext cx="9505056" cy="597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2800" b="1" dirty="0">
                <a:solidFill>
                  <a:schemeClr val="accent6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项目开发阶段</a:t>
            </a:r>
          </a:p>
        </p:txBody>
      </p:sp>
    </p:spTree>
    <p:extLst>
      <p:ext uri="{BB962C8B-B14F-4D97-AF65-F5344CB8AC3E}">
        <p14:creationId xmlns:p14="http://schemas.microsoft.com/office/powerpoint/2010/main" val="2709305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341FE-564B-E14A-8989-1EFDEB1C2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33A055EE-B724-725F-CDC2-2EEA7206515D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AE459B21-02D5-E1BF-18B6-FA762386C984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89BF43B6-61E0-283F-793E-38F5B7CBA1E9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软件过程管理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32A2D586-1275-6FBA-019D-A0F62B482CFB}"/>
              </a:ext>
            </a:extLst>
          </p:cNvPr>
          <p:cNvSpPr/>
          <p:nvPr/>
        </p:nvSpPr>
        <p:spPr>
          <a:xfrm>
            <a:off x="479376" y="1348678"/>
            <a:ext cx="10729192" cy="10880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indent="457200">
              <a:lnSpc>
                <a:spcPct val="150000"/>
              </a:lnSpc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10000"/>
                  </a:schemeClr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rPr>
              <a:t>新增管理员用户管理功能，集中修复工单、页面、导出等多处 </a:t>
            </a:r>
            <a:r>
              <a: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10000"/>
                  </a:schemeClr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rPr>
              <a:t>BUG</a:t>
            </a: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10000"/>
                  </a:schemeClr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rPr>
              <a:t>，优化界面与数据逻辑，改造存储方案以适配多账号测试。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025926-6E6D-9425-DFDC-4CFA08F909B4}"/>
              </a:ext>
            </a:extLst>
          </p:cNvPr>
          <p:cNvSpPr txBox="1"/>
          <p:nvPr/>
        </p:nvSpPr>
        <p:spPr>
          <a:xfrm>
            <a:off x="911424" y="5949360"/>
            <a:ext cx="9505056" cy="597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zh-CN" sz="2800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bug</a:t>
            </a:r>
            <a:r>
              <a:rPr lang="zh-CN" altLang="en-US" sz="2800" b="1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测试修复阶段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395552C-C571-9642-0263-D98862C81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44" y="2852936"/>
            <a:ext cx="11650018" cy="265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4547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F24FF-2AA7-A8FA-9883-B274593F4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4BCA5078-947E-8968-3F00-10ACB571BE88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E15D0AE7-116E-C87A-D820-CB1457335D14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8D93D737-CFCF-EFDB-1012-E92432BCEFA5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软件过程管理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BC28C0F4-CBC1-2502-0442-7D4FFF02BC4C}"/>
              </a:ext>
            </a:extLst>
          </p:cNvPr>
          <p:cNvSpPr/>
          <p:nvPr/>
        </p:nvSpPr>
        <p:spPr>
          <a:xfrm>
            <a:off x="479376" y="1348678"/>
            <a:ext cx="10729192" cy="1088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indent="457200">
              <a:lnSpc>
                <a:spcPct val="150000"/>
              </a:lnSpc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rPr>
              <a:t>本阶段完善项目配套文档，提交系统演示文档并补充接单规则说明，优化软件工程设计报告，绘制配图，最终定稿提交完整设计报告。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8E1EFE9-A086-AE04-8022-F82617531DFE}"/>
              </a:ext>
            </a:extLst>
          </p:cNvPr>
          <p:cNvSpPr txBox="1"/>
          <p:nvPr/>
        </p:nvSpPr>
        <p:spPr>
          <a:xfrm>
            <a:off x="767408" y="5220227"/>
            <a:ext cx="9505056" cy="597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2800" b="1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完成相关文档界面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7F09931-8CB1-A1CF-0B5B-995A42FCD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19" y="2804658"/>
            <a:ext cx="11561905" cy="20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647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DF61B-573E-71D7-520A-8C298F9AD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6182E5C0-DFC9-F319-4AF5-391CDCD788BC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2C69231E-294B-8F78-F04E-223E356D19C4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1DB0C435-3E54-9410-5A78-1C10300D820B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问题与措施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2F3D2ED-89F9-340D-C94C-E5F3C3C5D381}"/>
              </a:ext>
            </a:extLst>
          </p:cNvPr>
          <p:cNvSpPr/>
          <p:nvPr/>
        </p:nvSpPr>
        <p:spPr>
          <a:xfrm>
            <a:off x="695400" y="1268760"/>
            <a:ext cx="10009112" cy="202647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/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问题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：评价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投诉页 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— 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表单替换后继续执行</a:t>
            </a:r>
          </a:p>
          <a:p>
            <a:pPr indent="457200"/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文件：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evaluate.html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complaint.html</a:t>
            </a:r>
          </a:p>
          <a:p>
            <a:pPr indent="457200"/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现象：工单状态不允许评价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投诉时报错</a:t>
            </a:r>
          </a:p>
          <a:p>
            <a:pPr indent="457200"/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原因：当工单状态不允许操作时，前端因表单被替换而报错</a:t>
            </a:r>
          </a:p>
          <a:p>
            <a:pPr indent="457200"/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修复：引入 </a:t>
            </a:r>
            <a:r>
              <a:rPr lang="en-US" altLang="zh-CN" sz="2000" dirty="0" err="1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canEvaluate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标志位提前拦截逻辑，状态不允许时提前 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return</a:t>
            </a:r>
            <a:endParaRPr lang="zh-CN" altLang="en-US" sz="2000" dirty="0">
              <a:solidFill>
                <a:schemeClr val="accent1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4595564-3987-3953-5E7A-487A8052300A}"/>
              </a:ext>
            </a:extLst>
          </p:cNvPr>
          <p:cNvSpPr/>
          <p:nvPr/>
        </p:nvSpPr>
        <p:spPr>
          <a:xfrm>
            <a:off x="730404" y="3549862"/>
            <a:ext cx="10118124" cy="239941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/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问题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：评价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投诉页 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— 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错误处理不完整</a:t>
            </a:r>
          </a:p>
          <a:p>
            <a:pPr indent="457200"/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文件：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evaluate.html</a:t>
            </a:r>
          </a:p>
          <a:p>
            <a:pPr indent="457200"/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现象：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API 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返回错误时用户看不到提示原因：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API 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返回 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{'error': '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该工单状态不允许评价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'}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，但前端 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catch 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只检查 </a:t>
            </a:r>
            <a:r>
              <a:rPr lang="en-US" altLang="zh-CN" sz="2000" dirty="0" err="1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error.content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和 </a:t>
            </a:r>
            <a:r>
              <a:rPr lang="en-US" altLang="zh-CN" sz="2000" dirty="0" err="1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error.detail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，没检查 </a:t>
            </a:r>
            <a:r>
              <a:rPr lang="en-US" altLang="zh-CN" sz="2000" dirty="0" err="1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error.error</a:t>
            </a:r>
            <a:endParaRPr lang="en-US" altLang="zh-CN" sz="2000" dirty="0">
              <a:solidFill>
                <a:schemeClr val="accent1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indent="457200"/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修复：添加 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else if (error &amp;&amp; </a:t>
            </a:r>
            <a:r>
              <a:rPr lang="en-US" altLang="zh-CN" sz="2000" dirty="0" err="1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error.error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) 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分支，补充了对 </a:t>
            </a:r>
            <a:r>
              <a:rPr lang="en-US" altLang="zh-CN" sz="2000" dirty="0" err="1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error.error</a:t>
            </a:r>
            <a:r>
              <a:rPr lang="en-US" altLang="zh-CN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sz="2000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字段的判断，提升用户体验</a:t>
            </a:r>
          </a:p>
        </p:txBody>
      </p:sp>
    </p:spTree>
    <p:extLst>
      <p:ext uri="{BB962C8B-B14F-4D97-AF65-F5344CB8AC3E}">
        <p14:creationId xmlns:p14="http://schemas.microsoft.com/office/powerpoint/2010/main" val="2278383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3FE98-1F4A-A465-6FA5-7B595B1A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 descr="D:\360MoveData\Users\xiaoxiao\Desktop\1004150863.jpg1004150863">
            <a:extLst>
              <a:ext uri="{FF2B5EF4-FFF2-40B4-BE49-F238E27FC236}">
                <a16:creationId xmlns:a16="http://schemas.microsoft.com/office/drawing/2014/main" id="{29A3DEC0-7756-1D93-5A78-E1607EFFE61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rcRect t="28060" b="17165"/>
          <a:stretch>
            <a:fillRect/>
          </a:stretch>
        </p:blipFill>
        <p:spPr>
          <a:xfrm>
            <a:off x="1270" y="-120650"/>
            <a:ext cx="12190730" cy="4153535"/>
          </a:xfrm>
          <a:prstGeom prst="rect">
            <a:avLst/>
          </a:prstGeom>
        </p:spPr>
      </p:pic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7ED19569-CB4F-5AB9-FB35-5614DBAA073F}"/>
              </a:ext>
            </a:extLst>
          </p:cNvPr>
          <p:cNvCxnSpPr/>
          <p:nvPr/>
        </p:nvCxnSpPr>
        <p:spPr>
          <a:xfrm>
            <a:off x="0" y="4056185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AD13956-79CB-B476-EFB5-6A03867BB8BC}"/>
              </a:ext>
            </a:extLst>
          </p:cNvPr>
          <p:cNvSpPr/>
          <p:nvPr/>
        </p:nvSpPr>
        <p:spPr>
          <a:xfrm>
            <a:off x="4224759" y="3429000"/>
            <a:ext cx="3742482" cy="98272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BDB5F5-28E0-9756-B94C-90C116DDE6A5}"/>
              </a:ext>
            </a:extLst>
          </p:cNvPr>
          <p:cNvSpPr txBox="1"/>
          <p:nvPr/>
        </p:nvSpPr>
        <p:spPr>
          <a:xfrm>
            <a:off x="4474046" y="3458695"/>
            <a:ext cx="32394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PART 03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506D07A-972E-D591-D3CB-25BF0BE71913}"/>
              </a:ext>
            </a:extLst>
          </p:cNvPr>
          <p:cNvCxnSpPr/>
          <p:nvPr/>
        </p:nvCxnSpPr>
        <p:spPr>
          <a:xfrm>
            <a:off x="7893127" y="4056186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F17A3AD-751F-496A-E2E4-9EFB629D479C}"/>
              </a:ext>
            </a:extLst>
          </p:cNvPr>
          <p:cNvSpPr txBox="1"/>
          <p:nvPr/>
        </p:nvSpPr>
        <p:spPr>
          <a:xfrm>
            <a:off x="2418831" y="4772125"/>
            <a:ext cx="73499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项目功能演示</a:t>
            </a:r>
          </a:p>
        </p:txBody>
      </p:sp>
      <p:sp>
        <p:nvSpPr>
          <p:cNvPr id="11" name="等腰三角形 10">
            <a:extLst>
              <a:ext uri="{FF2B5EF4-FFF2-40B4-BE49-F238E27FC236}">
                <a16:creationId xmlns:a16="http://schemas.microsoft.com/office/drawing/2014/main" id="{64BB33AA-BF2C-20D1-9090-E408A0869F09}"/>
              </a:ext>
            </a:extLst>
          </p:cNvPr>
          <p:cNvSpPr/>
          <p:nvPr/>
        </p:nvSpPr>
        <p:spPr>
          <a:xfrm>
            <a:off x="5922380" y="6558655"/>
            <a:ext cx="347240" cy="29934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5094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DED4F-29C1-0C06-47FA-2233291A4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BAE25388-BF72-BD65-D5ED-D6F2F02AE327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ADDB90E7-E67D-2059-071D-5C70BA665ACA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F3D76150-AD8D-11C6-9387-4AE31B79445E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核心功能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10CCE8FF-BFA2-F27F-8C64-8F86F6CADBA9}"/>
              </a:ext>
            </a:extLst>
          </p:cNvPr>
          <p:cNvSpPr/>
          <p:nvPr/>
        </p:nvSpPr>
        <p:spPr>
          <a:xfrm>
            <a:off x="191344" y="1196752"/>
            <a:ext cx="4007387" cy="518457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chemeClr val="accent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核心功能流程：</a:t>
            </a:r>
            <a:endParaRPr lang="en-US" altLang="zh-CN" sz="2800" b="1" dirty="0">
              <a:solidFill>
                <a:schemeClr val="accent1">
                  <a:lumMod val="50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400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报修提交→</a:t>
            </a:r>
            <a:endParaRPr lang="en-US" altLang="zh-CN" sz="2400" dirty="0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400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工单审核→</a:t>
            </a:r>
            <a:endParaRPr lang="en-US" altLang="zh-CN" sz="2400" dirty="0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400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任务派单→</a:t>
            </a:r>
            <a:endParaRPr lang="en-US" altLang="zh-CN" sz="2400" dirty="0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400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维修处理→</a:t>
            </a:r>
            <a:endParaRPr lang="en-US" altLang="zh-CN" sz="2400" dirty="0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400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完工确认→</a:t>
            </a:r>
            <a:endParaRPr lang="en-US" altLang="zh-CN" sz="2400" dirty="0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400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服务评价→</a:t>
            </a:r>
            <a:endParaRPr lang="en-US" altLang="zh-CN" sz="2400" dirty="0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400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投诉处理</a:t>
            </a:r>
            <a:endParaRPr lang="en-US" altLang="zh-CN" sz="2400" dirty="0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400" dirty="0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数据统计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93763F7-1963-A33D-0141-9010BD6FB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0193" y="916628"/>
            <a:ext cx="7158705" cy="591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6836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87AB9-7FD4-4D7A-895F-336CD6EA3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A9BCF424-7792-389A-3E95-1925C42432AF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96C27668-6B63-F444-869C-0C9DF735CD5E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4D27FD03-E126-73E1-0E84-01E7763DF7FE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系统架构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4F974BBF-4B5B-121F-DEF5-FBA5201D8619}"/>
              </a:ext>
            </a:extLst>
          </p:cNvPr>
          <p:cNvSpPr/>
          <p:nvPr/>
        </p:nvSpPr>
        <p:spPr>
          <a:xfrm>
            <a:off x="479376" y="1044827"/>
            <a:ext cx="11161240" cy="167055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indent="457200">
              <a:lnSpc>
                <a:spcPct val="130000"/>
              </a:lnSpc>
              <a:defRPr/>
            </a:pPr>
            <a:r>
              <a:rPr lang="zh-CN" altLang="en-US" sz="2000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本宿舍报修系统采用前后端分离架构：</a:t>
            </a:r>
            <a:endParaRPr lang="en-US" altLang="zh-CN" sz="2000" b="1" dirty="0">
              <a:solidFill>
                <a:schemeClr val="accent4">
                  <a:lumMod val="10000"/>
                </a:schemeClr>
              </a:solidFill>
              <a:ea typeface="微软雅黑 Light" panose="020B0502040204020203" pitchFamily="34" charset="-122"/>
            </a:endParaRPr>
          </a:p>
          <a:p>
            <a:pPr lvl="0" indent="457200">
              <a:lnSpc>
                <a:spcPct val="130000"/>
              </a:lnSpc>
              <a:defRPr/>
            </a:pP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前端由页面模板与静态资源组成，以 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HTTP+JSON 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通过 现有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API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（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Fetch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）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请求后端接口；</a:t>
            </a:r>
            <a:endParaRPr lang="en-US" altLang="zh-CN" b="1" dirty="0">
              <a:solidFill>
                <a:srgbClr val="7030A0"/>
              </a:solidFill>
              <a:ea typeface="微软雅黑 Light" panose="020B0502040204020203" pitchFamily="34" charset="-122"/>
            </a:endParaRPr>
          </a:p>
          <a:p>
            <a:pPr lvl="0" indent="457200">
              <a:lnSpc>
                <a:spcPct val="130000"/>
              </a:lnSpc>
              <a:defRPr/>
            </a:pP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后端使用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Django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开发框架，分六大 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API 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模块，依托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Django 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内置的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ORM 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映射对接数据库；</a:t>
            </a:r>
            <a:endParaRPr lang="en-US" altLang="zh-CN" b="1" dirty="0">
              <a:solidFill>
                <a:srgbClr val="7030A0"/>
              </a:solidFill>
              <a:ea typeface="微软雅黑 Light" panose="020B0502040204020203" pitchFamily="34" charset="-122"/>
            </a:endParaRPr>
          </a:p>
          <a:p>
            <a:pPr lvl="0" indent="457200">
              <a:lnSpc>
                <a:spcPct val="130000"/>
              </a:lnSpc>
              <a:defRPr/>
            </a:pP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数据库含用户、楼栋、工单等六张数据表，完成全流程数据存取。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07B803F-C40B-3365-5967-57C4AE669A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7528" y="2852936"/>
            <a:ext cx="7272808" cy="392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3884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28E30-3BD3-1956-49F2-60CF57465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D8285B77-1EFE-FE5B-6399-41BE0D389785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C57B52BD-43B6-98FD-DCB7-E4171F1C223C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6CB67E39-7D4F-354A-E93A-C5D783CB2EE1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功能模块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FB55909-39AE-0251-25FC-C7597FA98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913946"/>
              </p:ext>
            </p:extLst>
          </p:nvPr>
        </p:nvGraphicFramePr>
        <p:xfrm>
          <a:off x="263352" y="1196752"/>
          <a:ext cx="11665296" cy="54146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4376">
                  <a:extLst>
                    <a:ext uri="{9D8B030D-6E8A-4147-A177-3AD203B41FA5}">
                      <a16:colId xmlns:a16="http://schemas.microsoft.com/office/drawing/2014/main" val="1400090769"/>
                    </a:ext>
                  </a:extLst>
                </a:gridCol>
                <a:gridCol w="3816424">
                  <a:extLst>
                    <a:ext uri="{9D8B030D-6E8A-4147-A177-3AD203B41FA5}">
                      <a16:colId xmlns:a16="http://schemas.microsoft.com/office/drawing/2014/main" val="196320368"/>
                    </a:ext>
                  </a:extLst>
                </a:gridCol>
                <a:gridCol w="4464496">
                  <a:extLst>
                    <a:ext uri="{9D8B030D-6E8A-4147-A177-3AD203B41FA5}">
                      <a16:colId xmlns:a16="http://schemas.microsoft.com/office/drawing/2014/main" val="730259216"/>
                    </a:ext>
                  </a:extLst>
                </a:gridCol>
              </a:tblGrid>
              <a:tr h="7253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模块 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核心模型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主要职责</a:t>
                      </a:r>
                    </a:p>
                  </a:txBody>
                  <a:tcPr marL="60960" marR="60960" marT="60960" marB="60960" anchor="ctr"/>
                </a:tc>
                <a:extLst>
                  <a:ext uri="{0D108BD9-81ED-4DB2-BD59-A6C34878D82A}">
                    <a16:rowId xmlns:a16="http://schemas.microsoft.com/office/drawing/2014/main" val="3446167438"/>
                  </a:ext>
                </a:extLst>
              </a:tr>
              <a:tr h="781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用户管理模块（</a:t>
                      </a:r>
                      <a:r>
                        <a:rPr 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accounts</a:t>
                      </a: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）</a:t>
                      </a:r>
                      <a:endParaRPr lang="zh-CN" sz="2000" dirty="0">
                        <a:effectLst/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User、DormBuilding、DormRoom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用户认证权限、用户与楼栋房间信息管理维护</a:t>
                      </a:r>
                    </a:p>
                  </a:txBody>
                  <a:tcPr marL="60960" marR="60960" marT="60960" marB="60960" anchor="ctr"/>
                </a:tc>
                <a:extLst>
                  <a:ext uri="{0D108BD9-81ED-4DB2-BD59-A6C34878D82A}">
                    <a16:rowId xmlns:a16="http://schemas.microsoft.com/office/drawing/2014/main" val="1654832563"/>
                  </a:ext>
                </a:extLst>
              </a:tr>
              <a:tr h="781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报修模块（</a:t>
                      </a:r>
                      <a:r>
                        <a:rPr 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repairs</a:t>
                      </a: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）</a:t>
                      </a:r>
                      <a:endParaRPr lang="zh-CN" sz="2000" dirty="0">
                        <a:effectLst/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WorkOrder、WorkOrderImage、WorkOrderLog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报修单创建、查询、撤销，全流程操作日志留存</a:t>
                      </a:r>
                    </a:p>
                  </a:txBody>
                  <a:tcPr marL="60960" marR="60960" marT="60960" marB="60960" anchor="ctr"/>
                </a:tc>
                <a:extLst>
                  <a:ext uri="{0D108BD9-81ED-4DB2-BD59-A6C34878D82A}">
                    <a16:rowId xmlns:a16="http://schemas.microsoft.com/office/drawing/2014/main" val="4182749236"/>
                  </a:ext>
                </a:extLst>
              </a:tr>
              <a:tr h="781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派单模块（</a:t>
                      </a:r>
                      <a:r>
                        <a:rPr 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dispatch</a:t>
                      </a: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）</a:t>
                      </a:r>
                      <a:endParaRPr lang="zh-CN" sz="2000" dirty="0">
                        <a:effectLst/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复用 WorkOrder 相关模型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工单审核驳回、派单分配、维修工接单负载统计查询</a:t>
                      </a:r>
                    </a:p>
                  </a:txBody>
                  <a:tcPr marL="60960" marR="60960" marT="60960" marB="60960" anchor="ctr"/>
                </a:tc>
                <a:extLst>
                  <a:ext uri="{0D108BD9-81ED-4DB2-BD59-A6C34878D82A}">
                    <a16:rowId xmlns:a16="http://schemas.microsoft.com/office/drawing/2014/main" val="3788181907"/>
                  </a:ext>
                </a:extLst>
              </a:tr>
              <a:tr h="781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维修处理模块（</a:t>
                      </a:r>
                      <a:r>
                        <a:rPr lang="en-US" alt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m</a:t>
                      </a:r>
                      <a:r>
                        <a:rPr 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aintenance</a:t>
                      </a: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）</a:t>
                      </a:r>
                      <a:endParaRPr lang="zh-CN" sz="2000" dirty="0">
                        <a:effectLst/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复用 WorkOrder 相关模型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维修工接单完工、用户验收确认、异常返修处理</a:t>
                      </a:r>
                    </a:p>
                  </a:txBody>
                  <a:tcPr marL="60960" marR="60960" marT="60960" marB="60960" anchor="ctr"/>
                </a:tc>
                <a:extLst>
                  <a:ext uri="{0D108BD9-81ED-4DB2-BD59-A6C34878D82A}">
                    <a16:rowId xmlns:a16="http://schemas.microsoft.com/office/drawing/2014/main" val="961507416"/>
                  </a:ext>
                </a:extLst>
              </a:tr>
              <a:tr h="781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评论投诉模块（</a:t>
                      </a:r>
                      <a:r>
                        <a:rPr 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feedback</a:t>
                      </a: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）</a:t>
                      </a:r>
                      <a:endParaRPr lang="zh-CN" sz="2000" dirty="0">
                        <a:effectLst/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Evaluation、Complaint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工单评价录入、用户投诉提交与售后处置</a:t>
                      </a:r>
                    </a:p>
                  </a:txBody>
                  <a:tcPr marL="60960" marR="60960" marT="60960" marB="60960" anchor="ctr"/>
                </a:tc>
                <a:extLst>
                  <a:ext uri="{0D108BD9-81ED-4DB2-BD59-A6C34878D82A}">
                    <a16:rowId xmlns:a16="http://schemas.microsoft.com/office/drawing/2014/main" val="105716562"/>
                  </a:ext>
                </a:extLst>
              </a:tr>
              <a:tr h="78154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数据统计模块（</a:t>
                      </a:r>
                      <a:r>
                        <a:rPr 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dashboard</a:t>
                      </a:r>
                      <a:r>
                        <a:rPr lang="zh-CN" altLang="en-US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）</a:t>
                      </a:r>
                      <a:endParaRPr lang="zh-CN" sz="2000" dirty="0">
                        <a:effectLst/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无独立数据表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000" dirty="0">
                          <a:effectLst/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业务数据聚合统计、可视化图表生成、报表 Excel 导出</a:t>
                      </a:r>
                    </a:p>
                  </a:txBody>
                  <a:tcPr marL="60960" marR="60960" marT="60960" marB="60960" anchor="ctr"/>
                </a:tc>
                <a:extLst>
                  <a:ext uri="{0D108BD9-81ED-4DB2-BD59-A6C34878D82A}">
                    <a16:rowId xmlns:a16="http://schemas.microsoft.com/office/drawing/2014/main" val="546418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7771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2CA7-89F4-0625-0D78-4DFAEDB3B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5946D170-BCFE-7592-201D-3F8B27C7ED09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87824DC0-2ED0-3C2F-76B5-BF84B9FCB9BC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C4B3D104-2302-D150-6243-F8FDD299472F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数据库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805D29F2-2B76-82EB-DAE2-F7F602C9B8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472" y="1077661"/>
            <a:ext cx="8496944" cy="566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960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7909E-F26F-08BF-7A7D-44FB180A7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2FDBDDD9-ADB2-86B2-CDAD-DD376974A211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19014509-7E42-3917-505E-D8DEBD03C3AC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63030724-4F75-6E9B-37D4-A70CAD00A4F3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状态图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9574C95E-553C-67C0-88A8-A2E3551DC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715" y="916628"/>
            <a:ext cx="8277909" cy="571693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13BE2F08-CB74-55C6-F45A-BE2F2F5621FD}"/>
              </a:ext>
            </a:extLst>
          </p:cNvPr>
          <p:cNvSpPr/>
          <p:nvPr/>
        </p:nvSpPr>
        <p:spPr>
          <a:xfrm>
            <a:off x="236847" y="1556792"/>
            <a:ext cx="3096344" cy="47744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indent="457200">
              <a:lnSpc>
                <a:spcPct val="130000"/>
              </a:lnSpc>
              <a:defRPr/>
            </a:pPr>
            <a:r>
              <a:rPr lang="zh-CN" altLang="en-US" sz="2400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整个宿舍报修系统的运行核心围绕</a:t>
            </a: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工单的状态变化</a:t>
            </a:r>
            <a:r>
              <a:rPr lang="zh-CN" altLang="en-US" sz="2400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展开。</a:t>
            </a:r>
            <a:endParaRPr lang="en-US" altLang="zh-CN" sz="2400" b="1" dirty="0">
              <a:solidFill>
                <a:schemeClr val="accent4">
                  <a:lumMod val="10000"/>
                </a:schemeClr>
              </a:solidFill>
              <a:ea typeface="微软雅黑 Light" panose="020B0502040204020203" pitchFamily="34" charset="-122"/>
            </a:endParaRPr>
          </a:p>
          <a:p>
            <a:pPr lvl="0" indent="457200">
              <a:lnSpc>
                <a:spcPct val="130000"/>
              </a:lnSpc>
              <a:defRPr/>
            </a:pPr>
            <a:r>
              <a:rPr lang="zh-CN" altLang="en-US" sz="2400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我们通过设计一套完整的状态模型，确保每一条报修请求在不同角色之间的流转过程</a:t>
            </a:r>
            <a:r>
              <a:rPr lang="zh-CN" altLang="en-US" sz="2400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清晰、可控、可追溯。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46513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C7F90-13D8-6C7B-A593-05F3D0A93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C69B30FA-7D61-8D6F-62DB-27A10F8E3C23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2E67299E-17A0-B1C8-03DC-C6F9CE6E3830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3A5C2017-A8DB-D65F-615B-A5FD47D0345E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非功能性需求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11C5D67-5AF7-974B-BE47-F257D4AB3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84" y="2276872"/>
            <a:ext cx="11784632" cy="377893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6010706F-BF73-E523-D195-8ED6A3A79782}"/>
              </a:ext>
            </a:extLst>
          </p:cNvPr>
          <p:cNvSpPr txBox="1"/>
          <p:nvPr/>
        </p:nvSpPr>
        <p:spPr>
          <a:xfrm>
            <a:off x="623392" y="6011898"/>
            <a:ext cx="9505056" cy="597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2800" b="1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安全性需求与设计落实对照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5CB04C5-1AEF-4DB7-E05B-672AE3CF3952}"/>
              </a:ext>
            </a:extLst>
          </p:cNvPr>
          <p:cNvSpPr/>
          <p:nvPr/>
        </p:nvSpPr>
        <p:spPr>
          <a:xfrm>
            <a:off x="479376" y="1044827"/>
            <a:ext cx="11161240" cy="11679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indent="457200">
              <a:lnSpc>
                <a:spcPct val="130000"/>
              </a:lnSpc>
              <a:defRPr/>
            </a:pPr>
            <a:r>
              <a:rPr lang="zh-CN" altLang="en-US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非功能需求上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注重系统安全</a:t>
            </a:r>
            <a:r>
              <a:rPr lang="zh-CN" altLang="en-US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，通过 </a:t>
            </a:r>
            <a:r>
              <a:rPr lang="en-US" altLang="zh-CN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Token </a:t>
            </a:r>
            <a:r>
              <a:rPr lang="zh-CN" altLang="en-US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实现登录认证，采用基于角色的访问控制模型（</a:t>
            </a:r>
            <a:r>
              <a:rPr lang="en-US" altLang="zh-CN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RBAC</a:t>
            </a:r>
            <a:r>
              <a:rPr lang="zh-CN" altLang="en-US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）完成角色权限管控，搭配密码哈希、登录限流、操作日志审计保障数据安全；</a:t>
            </a:r>
            <a:endParaRPr lang="en-US" altLang="zh-CN" b="1" dirty="0">
              <a:solidFill>
                <a:schemeClr val="accent4">
                  <a:lumMod val="10000"/>
                </a:schemeClr>
              </a:solidFill>
              <a:ea typeface="微软雅黑 Light" panose="020B0502040204020203" pitchFamily="34" charset="-122"/>
            </a:endParaRPr>
          </a:p>
          <a:p>
            <a:pPr lvl="0" indent="457200">
              <a:lnSpc>
                <a:spcPct val="130000"/>
              </a:lnSpc>
              <a:defRPr/>
            </a:pPr>
            <a:r>
              <a:rPr lang="zh-CN" altLang="en-US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后续规划实现</a:t>
            </a:r>
            <a:r>
              <a:rPr lang="en-US" altLang="zh-CN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HTTPS </a:t>
            </a:r>
            <a:r>
              <a:rPr lang="zh-CN" altLang="en-US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加密传输与数据库定时备份。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10000"/>
                </a:schemeClr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6300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861B9-9334-6640-C9D4-39670EA59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2D0BE8A5-69C4-9816-A47E-0E93E54C985E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CD587CEC-2437-A2E2-AD07-AFCA5B2AB813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F14E4841-AB98-DB71-95C6-B90C159DEFEA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非功能性需求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sp>
        <p:nvSpPr>
          <p:cNvPr id="4" name="文本框 3">
            <a:extLst>
              <a:ext uri="{FF2B5EF4-FFF2-40B4-BE49-F238E27FC236}">
                <a16:creationId xmlns:a16="http://schemas.microsoft.com/office/drawing/2014/main" id="{34C28B6F-641B-B137-68A7-32701B95F761}"/>
              </a:ext>
            </a:extLst>
          </p:cNvPr>
          <p:cNvSpPr txBox="1"/>
          <p:nvPr/>
        </p:nvSpPr>
        <p:spPr>
          <a:xfrm>
            <a:off x="623392" y="6011898"/>
            <a:ext cx="9505056" cy="597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2800" b="1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性能优化措施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7B6B2C2-1082-2603-5B81-83899B4C4EE1}"/>
              </a:ext>
            </a:extLst>
          </p:cNvPr>
          <p:cNvSpPr/>
          <p:nvPr/>
        </p:nvSpPr>
        <p:spPr>
          <a:xfrm>
            <a:off x="479376" y="1044827"/>
            <a:ext cx="11161240" cy="116794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indent="457200">
              <a:lnSpc>
                <a:spcPct val="130000"/>
              </a:lnSpc>
              <a:defRPr/>
            </a:pPr>
            <a:r>
              <a:rPr lang="zh-CN" altLang="en-US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同时已完成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分页、数据库索引、图片校验、接口超时控制与聚合统计等</a:t>
            </a:r>
            <a:r>
              <a:rPr lang="zh-CN" altLang="en-US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性能优化，从查询、上传、接口多方面提升使用效率；</a:t>
            </a:r>
            <a:endParaRPr lang="en-US" altLang="zh-CN" b="1" dirty="0">
              <a:solidFill>
                <a:schemeClr val="accent4">
                  <a:lumMod val="10000"/>
                </a:schemeClr>
              </a:solidFill>
              <a:ea typeface="微软雅黑 Light" panose="020B0502040204020203" pitchFamily="34" charset="-122"/>
            </a:endParaRPr>
          </a:p>
          <a:p>
            <a:pPr lvl="0" indent="457200">
              <a:lnSpc>
                <a:spcPct val="130000"/>
              </a:lnSpc>
              <a:defRPr/>
            </a:pPr>
            <a:r>
              <a:rPr lang="zh-CN" altLang="en-US" b="1" dirty="0">
                <a:solidFill>
                  <a:schemeClr val="accent4">
                    <a:lumMod val="10000"/>
                  </a:schemeClr>
                </a:solidFill>
                <a:ea typeface="微软雅黑 Light" panose="020B0502040204020203" pitchFamily="34" charset="-122"/>
              </a:rPr>
              <a:t>未来规划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Redis 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热点缓存、</a:t>
            </a:r>
            <a:r>
              <a:rPr lang="en-US" altLang="zh-CN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CDN </a:t>
            </a:r>
            <a:r>
              <a:rPr lang="zh-CN" altLang="en-US" b="1" dirty="0">
                <a:solidFill>
                  <a:srgbClr val="7030A0"/>
                </a:solidFill>
                <a:ea typeface="微软雅黑 Light" panose="020B0502040204020203" pitchFamily="34" charset="-122"/>
              </a:rPr>
              <a:t>静态资源加速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9CCFA76-7701-6795-0BF2-B5E5A58A4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2333444"/>
            <a:ext cx="10441160" cy="3706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8257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C3044-ED1F-4A28-53FE-0FEE7E185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5D43D785-73B2-4BCB-49C0-E2A038822B5F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B7B47A27-50BD-EEF7-0919-F0DA523D7DBE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B5583ED2-930A-2E31-B5B6-47B419526497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关键流程演示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4C1E57E9-8A08-BE3B-46CD-AB3102E8E0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16831"/>
            <a:ext cx="4248414" cy="434144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978561F-70AD-82C0-9D2F-46497CF34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8414" y="1916831"/>
            <a:ext cx="4056340" cy="479715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533BD6B-6914-0821-91DD-0A1859692F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4754" y="1916831"/>
            <a:ext cx="3854376" cy="461469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899214-A8C6-EC62-488D-67A1B6C63201}"/>
              </a:ext>
            </a:extLst>
          </p:cNvPr>
          <p:cNvSpPr txBox="1"/>
          <p:nvPr/>
        </p:nvSpPr>
        <p:spPr>
          <a:xfrm>
            <a:off x="612039" y="1209562"/>
            <a:ext cx="3024336" cy="4534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2000" b="1" dirty="0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</a:rPr>
              <a:t>学生报修流程图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72327D-F70E-8D2E-AEAC-332B1C5886B7}"/>
              </a:ext>
            </a:extLst>
          </p:cNvPr>
          <p:cNvSpPr txBox="1"/>
          <p:nvPr/>
        </p:nvSpPr>
        <p:spPr>
          <a:xfrm>
            <a:off x="8326212" y="1208711"/>
            <a:ext cx="3653958" cy="4534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维修处理与学生确认流程图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05C694-4C3C-D4F8-2E17-BCA60E59BE41}"/>
              </a:ext>
            </a:extLst>
          </p:cNvPr>
          <p:cNvSpPr txBox="1"/>
          <p:nvPr/>
        </p:nvSpPr>
        <p:spPr>
          <a:xfrm>
            <a:off x="4434817" y="1208712"/>
            <a:ext cx="3350964" cy="4534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2000" b="1" dirty="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rPr>
              <a:t> 管理员审核派单流程图</a:t>
            </a:r>
          </a:p>
        </p:txBody>
      </p:sp>
    </p:spTree>
    <p:extLst>
      <p:ext uri="{BB962C8B-B14F-4D97-AF65-F5344CB8AC3E}">
        <p14:creationId xmlns:p14="http://schemas.microsoft.com/office/powerpoint/2010/main" val="29675878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DB1E-E36A-EB0F-A2F5-705284D9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7CF9FED3-34C3-471C-EE8C-37AABCF331C4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70DFFDA8-819B-5D79-139F-2E4F05D7B630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49B49FAE-3D7D-51D8-24C3-FA80138F5997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演示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pic>
        <p:nvPicPr>
          <p:cNvPr id="2" name="图片 1">
            <a:extLst>
              <a:ext uri="{FF2B5EF4-FFF2-40B4-BE49-F238E27FC236}">
                <a16:creationId xmlns:a16="http://schemas.microsoft.com/office/drawing/2014/main" id="{0A17C574-70C4-54A8-8EEC-41A8EC1849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432" y="1772816"/>
            <a:ext cx="9587444" cy="462698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矩形: 圆角 3">
            <a:extLst>
              <a:ext uri="{FF2B5EF4-FFF2-40B4-BE49-F238E27FC236}">
                <a16:creationId xmlns:a16="http://schemas.microsoft.com/office/drawing/2014/main" id="{A6D038D2-1F59-A561-8726-FD8AEF919ED4}"/>
              </a:ext>
            </a:extLst>
          </p:cNvPr>
          <p:cNvSpPr/>
          <p:nvPr/>
        </p:nvSpPr>
        <p:spPr>
          <a:xfrm>
            <a:off x="3863752" y="958338"/>
            <a:ext cx="3600400" cy="75298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457200"/>
            <a:r>
              <a:rPr lang="zh-CN" altLang="en-US" sz="2800" b="1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</a:rPr>
              <a:t>进行网页演示：</a:t>
            </a:r>
          </a:p>
        </p:txBody>
      </p:sp>
    </p:spTree>
    <p:extLst>
      <p:ext uri="{BB962C8B-B14F-4D97-AF65-F5344CB8AC3E}">
        <p14:creationId xmlns:p14="http://schemas.microsoft.com/office/powerpoint/2010/main" val="18910479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45832-9EE1-5408-5345-CC2B9DC3D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 descr="D:\360MoveData\Users\xiaoxiao\Desktop\1004150863.jpg1004150863">
            <a:extLst>
              <a:ext uri="{FF2B5EF4-FFF2-40B4-BE49-F238E27FC236}">
                <a16:creationId xmlns:a16="http://schemas.microsoft.com/office/drawing/2014/main" id="{5B1F50C1-4E7B-EBBD-F3BF-7290B7AEFEA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rcRect t="28060" b="17165"/>
          <a:stretch>
            <a:fillRect/>
          </a:stretch>
        </p:blipFill>
        <p:spPr>
          <a:xfrm>
            <a:off x="1270" y="-120650"/>
            <a:ext cx="12190730" cy="4153535"/>
          </a:xfrm>
          <a:prstGeom prst="rect">
            <a:avLst/>
          </a:prstGeom>
        </p:spPr>
      </p:pic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D10B6EDE-E952-B93F-713B-ED2E2DCFF997}"/>
              </a:ext>
            </a:extLst>
          </p:cNvPr>
          <p:cNvCxnSpPr/>
          <p:nvPr/>
        </p:nvCxnSpPr>
        <p:spPr>
          <a:xfrm>
            <a:off x="0" y="4056185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2CEFF39-6FDB-431A-CA6B-9C8F8592AAED}"/>
              </a:ext>
            </a:extLst>
          </p:cNvPr>
          <p:cNvSpPr/>
          <p:nvPr/>
        </p:nvSpPr>
        <p:spPr>
          <a:xfrm>
            <a:off x="4224759" y="3429000"/>
            <a:ext cx="3742482" cy="98272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C0240B-39E5-81FF-5968-F8DE4E52E8F1}"/>
              </a:ext>
            </a:extLst>
          </p:cNvPr>
          <p:cNvSpPr txBox="1"/>
          <p:nvPr/>
        </p:nvSpPr>
        <p:spPr>
          <a:xfrm>
            <a:off x="4474046" y="3458695"/>
            <a:ext cx="32394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PART 04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1E73013-FB5F-8C7A-9EEB-3D14527BAFEA}"/>
              </a:ext>
            </a:extLst>
          </p:cNvPr>
          <p:cNvCxnSpPr/>
          <p:nvPr/>
        </p:nvCxnSpPr>
        <p:spPr>
          <a:xfrm>
            <a:off x="7893127" y="4056186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4E05D6A1-A63A-EAB7-6A08-7A302F78D9F3}"/>
              </a:ext>
            </a:extLst>
          </p:cNvPr>
          <p:cNvSpPr txBox="1"/>
          <p:nvPr/>
        </p:nvSpPr>
        <p:spPr>
          <a:xfrm>
            <a:off x="2418831" y="4772125"/>
            <a:ext cx="73499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分工情况</a:t>
            </a:r>
          </a:p>
        </p:txBody>
      </p:sp>
      <p:sp>
        <p:nvSpPr>
          <p:cNvPr id="11" name="等腰三角形 10">
            <a:extLst>
              <a:ext uri="{FF2B5EF4-FFF2-40B4-BE49-F238E27FC236}">
                <a16:creationId xmlns:a16="http://schemas.microsoft.com/office/drawing/2014/main" id="{A6305A6C-03E7-1CFF-0DF9-491D186170AF}"/>
              </a:ext>
            </a:extLst>
          </p:cNvPr>
          <p:cNvSpPr/>
          <p:nvPr/>
        </p:nvSpPr>
        <p:spPr>
          <a:xfrm>
            <a:off x="5922380" y="6558655"/>
            <a:ext cx="347240" cy="29934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3998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CABD8-F8EE-5336-ADCD-967489E2F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C82D2BB5-6F1A-6C14-F923-FDFA18172E9B}"/>
              </a:ext>
            </a:extLst>
          </p:cNvPr>
          <p:cNvGrpSpPr/>
          <p:nvPr/>
        </p:nvGrpSpPr>
        <p:grpSpPr>
          <a:xfrm>
            <a:off x="-240704" y="246620"/>
            <a:ext cx="3456384" cy="734108"/>
            <a:chOff x="-240704" y="246620"/>
            <a:chExt cx="3456384" cy="734108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77CA8FED-564C-5BEF-63CE-8C7A39A49DAF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31" name="文本占位符 3">
              <a:extLst>
                <a:ext uri="{FF2B5EF4-FFF2-40B4-BE49-F238E27FC236}">
                  <a16:creationId xmlns:a16="http://schemas.microsoft.com/office/drawing/2014/main" id="{78DE08CB-7864-2C98-6ED6-341183A44F53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0" indent="0">
                <a:buNone/>
                <a:defRPr/>
              </a:pPr>
              <a:r>
                <a:rPr lang="zh-CN" altLang="en-US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分工情况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endParaRPr>
            </a:p>
          </p:txBody>
        </p:sp>
      </p:grp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AC30B6F-8B4D-E163-9084-3A4CD46E5B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8785426"/>
              </p:ext>
            </p:extLst>
          </p:nvPr>
        </p:nvGraphicFramePr>
        <p:xfrm>
          <a:off x="263352" y="1484783"/>
          <a:ext cx="11737304" cy="4771481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651924">
                  <a:extLst>
                    <a:ext uri="{9D8B030D-6E8A-4147-A177-3AD203B41FA5}">
                      <a16:colId xmlns:a16="http://schemas.microsoft.com/office/drawing/2014/main" val="1419759770"/>
                    </a:ext>
                  </a:extLst>
                </a:gridCol>
                <a:gridCol w="2092492">
                  <a:extLst>
                    <a:ext uri="{9D8B030D-6E8A-4147-A177-3AD203B41FA5}">
                      <a16:colId xmlns:a16="http://schemas.microsoft.com/office/drawing/2014/main" val="3565521129"/>
                    </a:ext>
                  </a:extLst>
                </a:gridCol>
                <a:gridCol w="6696744">
                  <a:extLst>
                    <a:ext uri="{9D8B030D-6E8A-4147-A177-3AD203B41FA5}">
                      <a16:colId xmlns:a16="http://schemas.microsoft.com/office/drawing/2014/main" val="14692417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315715857"/>
                    </a:ext>
                  </a:extLst>
                </a:gridCol>
              </a:tblGrid>
              <a:tr h="7920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rgbClr val="7030A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小组成员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rgbClr val="7030A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学号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>
                          <a:solidFill>
                            <a:srgbClr val="7030A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</a:rPr>
                        <a:t>分工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CN" altLang="zh-CN" sz="2800" b="1" kern="1200" dirty="0">
                          <a:solidFill>
                            <a:srgbClr val="7030A0"/>
                          </a:solidFill>
                          <a:latin typeface="黑体" panose="02010609060101010101" pitchFamily="49" charset="-122"/>
                          <a:ea typeface="黑体" panose="02010609060101010101" pitchFamily="49" charset="-122"/>
                          <a:cs typeface="+mn-cs"/>
                        </a:rPr>
                        <a:t>贡献度</a:t>
                      </a:r>
                      <a:endParaRPr lang="zh-CN" altLang="en-US" sz="2800" b="1" kern="1200" dirty="0">
                        <a:solidFill>
                          <a:srgbClr val="7030A0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714935"/>
                  </a:ext>
                </a:extLst>
              </a:tr>
              <a:tr h="99484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2800" b="1" dirty="0">
                          <a:solidFill>
                            <a:schemeClr val="tx1"/>
                          </a:solidFill>
                        </a:rPr>
                        <a:t>王怡博</a:t>
                      </a:r>
                      <a:endParaRPr lang="zh-CN" altLang="en-US" sz="2800" b="1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2800" b="1" dirty="0">
                          <a:solidFill>
                            <a:schemeClr val="tx1"/>
                          </a:solidFill>
                        </a:rPr>
                        <a:t>2310425</a:t>
                      </a:r>
                      <a:endParaRPr lang="zh-CN" altLang="en-US" sz="2800" b="1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设计报告、需求报告、系统架构图绘制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CN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25%</a:t>
                      </a:r>
                      <a:endParaRPr lang="zh-CN" altLang="en-US" sz="2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7091225"/>
                  </a:ext>
                </a:extLst>
              </a:tr>
              <a:tr h="99484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2800" b="1" dirty="0">
                          <a:solidFill>
                            <a:schemeClr val="tx1"/>
                          </a:solidFill>
                        </a:rPr>
                        <a:t>孙佳乐</a:t>
                      </a:r>
                      <a:endParaRPr lang="zh-CN" altLang="en-US" sz="2800" b="1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2800" b="1" dirty="0">
                          <a:solidFill>
                            <a:schemeClr val="tx1"/>
                          </a:solidFill>
                        </a:rPr>
                        <a:t>2310417</a:t>
                      </a:r>
                      <a:endParaRPr lang="zh-CN" altLang="en-US" sz="2800" b="1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后端代码、需求报告、</a:t>
                      </a:r>
                      <a:r>
                        <a:rPr lang="en-US" altLang="zh-CN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bug</a:t>
                      </a:r>
                      <a:r>
                        <a:rPr lang="zh-CN" alt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调试与修复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25%</a:t>
                      </a:r>
                      <a:endParaRPr lang="zh-CN" altLang="en-US" sz="2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2599813"/>
                  </a:ext>
                </a:extLst>
              </a:tr>
              <a:tr h="99484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2800" b="1" dirty="0">
                          <a:solidFill>
                            <a:schemeClr val="tx1"/>
                          </a:solidFill>
                        </a:rPr>
                        <a:t>何叶</a:t>
                      </a:r>
                      <a:endParaRPr lang="zh-CN" altLang="en-US" sz="2800" b="1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2800" b="1" dirty="0">
                          <a:solidFill>
                            <a:schemeClr val="tx1"/>
                          </a:solidFill>
                        </a:rPr>
                        <a:t>2313487</a:t>
                      </a:r>
                      <a:endParaRPr lang="zh-CN" altLang="en-US" sz="2800" b="1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汇报、</a:t>
                      </a:r>
                      <a:r>
                        <a:rPr lang="en-US" altLang="zh-CN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PPT</a:t>
                      </a:r>
                      <a:r>
                        <a:rPr lang="zh-CN" alt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、项目演示文档、</a:t>
                      </a:r>
                      <a:r>
                        <a:rPr lang="en-US" altLang="zh-CN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UML</a:t>
                      </a:r>
                      <a:r>
                        <a:rPr lang="zh-CN" alt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图绘制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25%</a:t>
                      </a:r>
                      <a:endParaRPr lang="zh-CN" altLang="en-US" sz="2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318518"/>
                  </a:ext>
                </a:extLst>
              </a:tr>
              <a:tr h="994848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2800" b="1" dirty="0">
                          <a:solidFill>
                            <a:schemeClr val="tx1"/>
                          </a:solidFill>
                        </a:rPr>
                        <a:t>王羿淼</a:t>
                      </a:r>
                      <a:endParaRPr lang="zh-CN" altLang="en-US" sz="2800" b="1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2800" b="1" dirty="0">
                          <a:solidFill>
                            <a:schemeClr val="tx1"/>
                          </a:solidFill>
                        </a:rPr>
                        <a:t>2310419</a:t>
                      </a:r>
                      <a:endParaRPr lang="zh-CN" altLang="en-US" sz="2800" b="1" dirty="0">
                        <a:solidFill>
                          <a:schemeClr val="tx1"/>
                        </a:solidFill>
                        <a:latin typeface="黑体" panose="02010609060101010101" pitchFamily="49" charset="-122"/>
                        <a:ea typeface="黑体" panose="02010609060101010101" pitchFamily="49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zh-CN" alt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前端代码、</a:t>
                      </a:r>
                      <a:r>
                        <a:rPr lang="en-US" altLang="zh-CN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ER</a:t>
                      </a:r>
                      <a:r>
                        <a:rPr lang="zh-CN" alt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图绘制、</a:t>
                      </a:r>
                      <a:r>
                        <a:rPr lang="en-US" altLang="zh-CN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bug</a:t>
                      </a:r>
                      <a:r>
                        <a:rPr lang="zh-CN" altLang="en-US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调试与修复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25%</a:t>
                      </a:r>
                      <a:endParaRPr lang="zh-CN" altLang="en-US" sz="2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8665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82153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8E262-E36A-0B97-93BB-CBC2DAE78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图片 45" descr="D:\360MoveData\Users\xiaoxiao\Desktop\1004150863.jpg1004150863">
            <a:extLst>
              <a:ext uri="{FF2B5EF4-FFF2-40B4-BE49-F238E27FC236}">
                <a16:creationId xmlns:a16="http://schemas.microsoft.com/office/drawing/2014/main" id="{9582EB0A-9EBE-1314-5D46-A6781FD99BA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rcRect t="28060" b="17165"/>
          <a:stretch>
            <a:fillRect/>
          </a:stretch>
        </p:blipFill>
        <p:spPr>
          <a:xfrm>
            <a:off x="1270" y="-120650"/>
            <a:ext cx="12190730" cy="4153535"/>
          </a:xfrm>
          <a:prstGeom prst="rect">
            <a:avLst/>
          </a:prstGeom>
        </p:spPr>
      </p:pic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5CFC46A-BAEC-F07D-06DA-7FF7D3A59E43}"/>
              </a:ext>
            </a:extLst>
          </p:cNvPr>
          <p:cNvCxnSpPr/>
          <p:nvPr/>
        </p:nvCxnSpPr>
        <p:spPr>
          <a:xfrm>
            <a:off x="0" y="4056185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CCD5B92D-18D7-092D-BE7F-DCEBD73A1B33}"/>
              </a:ext>
            </a:extLst>
          </p:cNvPr>
          <p:cNvSpPr/>
          <p:nvPr/>
        </p:nvSpPr>
        <p:spPr>
          <a:xfrm>
            <a:off x="4224759" y="3429000"/>
            <a:ext cx="3742482" cy="982721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137CE54-89A2-29ED-5CF5-A143B05FD54F}"/>
              </a:ext>
            </a:extLst>
          </p:cNvPr>
          <p:cNvSpPr txBox="1"/>
          <p:nvPr/>
        </p:nvSpPr>
        <p:spPr>
          <a:xfrm>
            <a:off x="4474046" y="3458695"/>
            <a:ext cx="32394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PART 04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7812F77-9817-203E-65B4-EC5A97548901}"/>
              </a:ext>
            </a:extLst>
          </p:cNvPr>
          <p:cNvCxnSpPr/>
          <p:nvPr/>
        </p:nvCxnSpPr>
        <p:spPr>
          <a:xfrm>
            <a:off x="7893127" y="4056186"/>
            <a:ext cx="4298873" cy="0"/>
          </a:xfrm>
          <a:prstGeom prst="line">
            <a:avLst/>
          </a:prstGeom>
          <a:ln w="1016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C3ECD120-9B0E-6209-BD71-17B86145EA8E}"/>
              </a:ext>
            </a:extLst>
          </p:cNvPr>
          <p:cNvSpPr txBox="1"/>
          <p:nvPr/>
        </p:nvSpPr>
        <p:spPr>
          <a:xfrm>
            <a:off x="2418831" y="4772125"/>
            <a:ext cx="73499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总结</a:t>
            </a:r>
          </a:p>
        </p:txBody>
      </p:sp>
      <p:sp>
        <p:nvSpPr>
          <p:cNvPr id="11" name="等腰三角形 10">
            <a:extLst>
              <a:ext uri="{FF2B5EF4-FFF2-40B4-BE49-F238E27FC236}">
                <a16:creationId xmlns:a16="http://schemas.microsoft.com/office/drawing/2014/main" id="{42161C28-7F8C-4ACE-DD6B-5EF21D3B6B9F}"/>
              </a:ext>
            </a:extLst>
          </p:cNvPr>
          <p:cNvSpPr/>
          <p:nvPr/>
        </p:nvSpPr>
        <p:spPr>
          <a:xfrm>
            <a:off x="5922380" y="6558655"/>
            <a:ext cx="347240" cy="299345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51463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C1BE-5520-428E-AEA8-5E64674D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C27D587-8DF5-F749-1BBA-429BA2A5CE8D}"/>
              </a:ext>
            </a:extLst>
          </p:cNvPr>
          <p:cNvSpPr/>
          <p:nvPr/>
        </p:nvSpPr>
        <p:spPr>
          <a:xfrm>
            <a:off x="624255" y="2420888"/>
            <a:ext cx="3504823" cy="43204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EB1257-24F6-5CF5-35E6-5B07C90CA7DF}"/>
              </a:ext>
            </a:extLst>
          </p:cNvPr>
          <p:cNvSpPr/>
          <p:nvPr/>
        </p:nvSpPr>
        <p:spPr>
          <a:xfrm>
            <a:off x="4296275" y="2420888"/>
            <a:ext cx="3489668" cy="43204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BBC5B4-AA47-A6BF-A9DC-B22A9EEB82DC}"/>
              </a:ext>
            </a:extLst>
          </p:cNvPr>
          <p:cNvSpPr/>
          <p:nvPr/>
        </p:nvSpPr>
        <p:spPr>
          <a:xfrm>
            <a:off x="7968295" y="2420888"/>
            <a:ext cx="3416462" cy="43204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50C10649-D8B2-76C1-99B0-C352AA11F383}"/>
              </a:ext>
            </a:extLst>
          </p:cNvPr>
          <p:cNvCxnSpPr>
            <a:cxnSpLocks/>
          </p:cNvCxnSpPr>
          <p:nvPr/>
        </p:nvCxnSpPr>
        <p:spPr>
          <a:xfrm>
            <a:off x="623392" y="6741368"/>
            <a:ext cx="3526297" cy="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84B5468-9EB0-FB95-4CB0-129BA13A69C8}"/>
              </a:ext>
            </a:extLst>
          </p:cNvPr>
          <p:cNvCxnSpPr>
            <a:cxnSpLocks/>
          </p:cNvCxnSpPr>
          <p:nvPr/>
        </p:nvCxnSpPr>
        <p:spPr>
          <a:xfrm>
            <a:off x="7955595" y="6741368"/>
            <a:ext cx="3526297" cy="0"/>
          </a:xfrm>
          <a:prstGeom prst="line">
            <a:avLst/>
          </a:prstGeom>
          <a:ln w="508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B39F607-0A25-9CF0-E401-90349B031CA4}"/>
              </a:ext>
            </a:extLst>
          </p:cNvPr>
          <p:cNvCxnSpPr>
            <a:cxnSpLocks/>
          </p:cNvCxnSpPr>
          <p:nvPr/>
        </p:nvCxnSpPr>
        <p:spPr>
          <a:xfrm>
            <a:off x="4296274" y="6741368"/>
            <a:ext cx="3526297" cy="0"/>
          </a:xfrm>
          <a:prstGeom prst="line">
            <a:avLst/>
          </a:prstGeom>
          <a:ln w="508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F9A1BB2B-C116-8BFD-C018-C8BB04D8E359}"/>
              </a:ext>
            </a:extLst>
          </p:cNvPr>
          <p:cNvSpPr/>
          <p:nvPr/>
        </p:nvSpPr>
        <p:spPr>
          <a:xfrm flipV="1">
            <a:off x="623393" y="2433465"/>
            <a:ext cx="801950" cy="80195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F53EAE19-6D64-97F0-4A05-E7A19C4CCB5F}"/>
              </a:ext>
            </a:extLst>
          </p:cNvPr>
          <p:cNvSpPr/>
          <p:nvPr/>
        </p:nvSpPr>
        <p:spPr>
          <a:xfrm flipV="1">
            <a:off x="4295412" y="2433465"/>
            <a:ext cx="801950" cy="8019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14" name="直角三角形 13">
            <a:extLst>
              <a:ext uri="{FF2B5EF4-FFF2-40B4-BE49-F238E27FC236}">
                <a16:creationId xmlns:a16="http://schemas.microsoft.com/office/drawing/2014/main" id="{30588680-0F27-99BF-8757-14442ECD35EE}"/>
              </a:ext>
            </a:extLst>
          </p:cNvPr>
          <p:cNvSpPr/>
          <p:nvPr/>
        </p:nvSpPr>
        <p:spPr>
          <a:xfrm flipV="1">
            <a:off x="7967432" y="2433465"/>
            <a:ext cx="801950" cy="80195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0B3DAE-03F7-4757-415E-E2FEBAC10488}"/>
              </a:ext>
            </a:extLst>
          </p:cNvPr>
          <p:cNvSpPr txBox="1"/>
          <p:nvPr/>
        </p:nvSpPr>
        <p:spPr>
          <a:xfrm>
            <a:off x="1027586" y="2837940"/>
            <a:ext cx="2762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800" dirty="0">
                <a:solidFill>
                  <a:schemeClr val="accent5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项目完成情况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81576E8-5970-881B-58AC-D24DC11C78EC}"/>
              </a:ext>
            </a:extLst>
          </p:cNvPr>
          <p:cNvSpPr txBox="1"/>
          <p:nvPr/>
        </p:nvSpPr>
        <p:spPr>
          <a:xfrm>
            <a:off x="4809466" y="2750937"/>
            <a:ext cx="2762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项目优点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DCEB112-4155-D800-029B-51818056AACD}"/>
              </a:ext>
            </a:extLst>
          </p:cNvPr>
          <p:cNvSpPr txBox="1"/>
          <p:nvPr/>
        </p:nvSpPr>
        <p:spPr>
          <a:xfrm>
            <a:off x="8514130" y="2750937"/>
            <a:ext cx="2762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2800" dirty="0">
                <a:solidFill>
                  <a:schemeClr val="accent2"/>
                </a:solidFill>
                <a:latin typeface="微软雅黑" panose="020B0503020204020204" charset="-122"/>
                <a:ea typeface="微软雅黑" panose="020B0503020204020204" charset="-122"/>
              </a:rPr>
              <a:t>后续优化方向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626BBFD-13E4-8867-44CF-9EADB3DFA92F}"/>
              </a:ext>
            </a:extLst>
          </p:cNvPr>
          <p:cNvSpPr/>
          <p:nvPr/>
        </p:nvSpPr>
        <p:spPr>
          <a:xfrm>
            <a:off x="807244" y="3645024"/>
            <a:ext cx="3139482" cy="28079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 algn="just">
              <a:lnSpc>
                <a:spcPct val="150000"/>
              </a:lnSpc>
              <a:defRPr/>
            </a:pP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已依照前期需求文档完成整套报修系统开发，实现三类用户操作页面，</a:t>
            </a:r>
            <a:r>
              <a:rPr lang="zh-CN" altLang="zh-CN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核心业务</a:t>
            </a: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（报修</a:t>
            </a:r>
            <a:r>
              <a:rPr lang="en-US" altLang="zh-CN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审核</a:t>
            </a:r>
            <a:r>
              <a:rPr lang="en-US" altLang="zh-CN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派单</a:t>
            </a:r>
            <a:r>
              <a:rPr lang="en-US" altLang="zh-CN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维修</a:t>
            </a:r>
            <a:r>
              <a:rPr lang="en-US" altLang="zh-CN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确认</a:t>
            </a:r>
            <a:r>
              <a:rPr lang="en-US" altLang="zh-CN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评价</a:t>
            </a:r>
            <a:r>
              <a:rPr lang="en-US" altLang="zh-CN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投诉</a:t>
            </a:r>
            <a:r>
              <a:rPr lang="en-US" altLang="zh-CN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统计）</a:t>
            </a:r>
            <a:r>
              <a:rPr lang="zh-CN" altLang="zh-CN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可正常运行</a:t>
            </a: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98F476C-9BE2-24ED-C225-FED3D5BF94B3}"/>
              </a:ext>
            </a:extLst>
          </p:cNvPr>
          <p:cNvCxnSpPr>
            <a:cxnSpLocks/>
          </p:cNvCxnSpPr>
          <p:nvPr/>
        </p:nvCxnSpPr>
        <p:spPr>
          <a:xfrm>
            <a:off x="2203657" y="3518943"/>
            <a:ext cx="373697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6CBD903-C622-B7C6-6A58-EB0D6DF3B5D6}"/>
              </a:ext>
            </a:extLst>
          </p:cNvPr>
          <p:cNvCxnSpPr>
            <a:cxnSpLocks/>
          </p:cNvCxnSpPr>
          <p:nvPr/>
        </p:nvCxnSpPr>
        <p:spPr>
          <a:xfrm>
            <a:off x="5850371" y="3518943"/>
            <a:ext cx="373697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A676C8-F058-962C-3105-A6328F097E21}"/>
              </a:ext>
            </a:extLst>
          </p:cNvPr>
          <p:cNvCxnSpPr>
            <a:cxnSpLocks/>
          </p:cNvCxnSpPr>
          <p:nvPr/>
        </p:nvCxnSpPr>
        <p:spPr>
          <a:xfrm>
            <a:off x="9595056" y="3518943"/>
            <a:ext cx="373697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580EFB6A-0BEF-BB7B-F552-97C21CF6D59C}"/>
              </a:ext>
            </a:extLst>
          </p:cNvPr>
          <p:cNvSpPr/>
          <p:nvPr/>
        </p:nvSpPr>
        <p:spPr>
          <a:xfrm>
            <a:off x="4432030" y="3645024"/>
            <a:ext cx="3139482" cy="28079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 algn="just">
              <a:lnSpc>
                <a:spcPct val="150000"/>
              </a:lnSpc>
              <a:defRPr/>
            </a:pP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系统贴合高校宿舍报修实际场景，线上报修、派单、评价，进度透明，统计报表方便后勤管理，有效替代低效人工登记，实用性强。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614CBB3-A7C2-35C6-CEC3-BA75D06F392A}"/>
              </a:ext>
            </a:extLst>
          </p:cNvPr>
          <p:cNvSpPr/>
          <p:nvPr/>
        </p:nvSpPr>
        <p:spPr>
          <a:xfrm>
            <a:off x="8136694" y="3645024"/>
            <a:ext cx="3139482" cy="23462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 algn="just">
              <a:lnSpc>
                <a:spcPct val="150000"/>
              </a:lnSpc>
              <a:defRPr/>
            </a:pPr>
            <a:r>
              <a:rPr lang="zh-CN" altLang="en-US" sz="2000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rPr>
              <a:t>后续计划引入缓存优化数据库查询效率，开发智能派单功能，深化多维度报修数据分析与报表导出能力。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24" name="ebook_274884">
            <a:extLst>
              <a:ext uri="{FF2B5EF4-FFF2-40B4-BE49-F238E27FC236}">
                <a16:creationId xmlns:a16="http://schemas.microsoft.com/office/drawing/2014/main" id="{7A337B51-2FC8-1A3C-4EC7-AE711BA73257}"/>
              </a:ext>
            </a:extLst>
          </p:cNvPr>
          <p:cNvSpPr>
            <a:spLocks noChangeAspect="1"/>
          </p:cNvSpPr>
          <p:nvPr/>
        </p:nvSpPr>
        <p:spPr bwMode="auto">
          <a:xfrm>
            <a:off x="4386945" y="2513597"/>
            <a:ext cx="317089" cy="237339"/>
          </a:xfrm>
          <a:custGeom>
            <a:avLst/>
            <a:gdLst>
              <a:gd name="connsiteX0" fmla="*/ 446710 w 607639"/>
              <a:gd name="connsiteY0" fmla="*/ 256866 h 420993"/>
              <a:gd name="connsiteX1" fmla="*/ 364838 w 607639"/>
              <a:gd name="connsiteY1" fmla="*/ 267065 h 420993"/>
              <a:gd name="connsiteX2" fmla="*/ 373738 w 607639"/>
              <a:gd name="connsiteY2" fmla="*/ 301992 h 420993"/>
              <a:gd name="connsiteX3" fmla="*/ 519615 w 607639"/>
              <a:gd name="connsiteY3" fmla="*/ 301992 h 420993"/>
              <a:gd name="connsiteX4" fmla="*/ 528515 w 607639"/>
              <a:gd name="connsiteY4" fmla="*/ 267065 h 420993"/>
              <a:gd name="connsiteX5" fmla="*/ 446710 w 607639"/>
              <a:gd name="connsiteY5" fmla="*/ 256866 h 420993"/>
              <a:gd name="connsiteX6" fmla="*/ 160918 w 607639"/>
              <a:gd name="connsiteY6" fmla="*/ 256866 h 420993"/>
              <a:gd name="connsiteX7" fmla="*/ 79035 w 607639"/>
              <a:gd name="connsiteY7" fmla="*/ 267065 h 420993"/>
              <a:gd name="connsiteX8" fmla="*/ 87936 w 607639"/>
              <a:gd name="connsiteY8" fmla="*/ 301992 h 420993"/>
              <a:gd name="connsiteX9" fmla="*/ 233901 w 607639"/>
              <a:gd name="connsiteY9" fmla="*/ 301992 h 420993"/>
              <a:gd name="connsiteX10" fmla="*/ 242801 w 607639"/>
              <a:gd name="connsiteY10" fmla="*/ 267065 h 420993"/>
              <a:gd name="connsiteX11" fmla="*/ 160918 w 607639"/>
              <a:gd name="connsiteY11" fmla="*/ 256866 h 420993"/>
              <a:gd name="connsiteX12" fmla="*/ 446710 w 607639"/>
              <a:gd name="connsiteY12" fmla="*/ 194922 h 420993"/>
              <a:gd name="connsiteX13" fmla="*/ 364838 w 607639"/>
              <a:gd name="connsiteY13" fmla="*/ 205120 h 420993"/>
              <a:gd name="connsiteX14" fmla="*/ 373738 w 607639"/>
              <a:gd name="connsiteY14" fmla="*/ 240047 h 420993"/>
              <a:gd name="connsiteX15" fmla="*/ 519615 w 607639"/>
              <a:gd name="connsiteY15" fmla="*/ 240047 h 420993"/>
              <a:gd name="connsiteX16" fmla="*/ 528515 w 607639"/>
              <a:gd name="connsiteY16" fmla="*/ 205120 h 420993"/>
              <a:gd name="connsiteX17" fmla="*/ 446710 w 607639"/>
              <a:gd name="connsiteY17" fmla="*/ 194922 h 420993"/>
              <a:gd name="connsiteX18" fmla="*/ 160918 w 607639"/>
              <a:gd name="connsiteY18" fmla="*/ 194922 h 420993"/>
              <a:gd name="connsiteX19" fmla="*/ 79035 w 607639"/>
              <a:gd name="connsiteY19" fmla="*/ 205120 h 420993"/>
              <a:gd name="connsiteX20" fmla="*/ 87936 w 607639"/>
              <a:gd name="connsiteY20" fmla="*/ 240047 h 420993"/>
              <a:gd name="connsiteX21" fmla="*/ 233901 w 607639"/>
              <a:gd name="connsiteY21" fmla="*/ 240047 h 420993"/>
              <a:gd name="connsiteX22" fmla="*/ 242801 w 607639"/>
              <a:gd name="connsiteY22" fmla="*/ 205120 h 420993"/>
              <a:gd name="connsiteX23" fmla="*/ 160918 w 607639"/>
              <a:gd name="connsiteY23" fmla="*/ 194922 h 420993"/>
              <a:gd name="connsiteX24" fmla="*/ 446710 w 607639"/>
              <a:gd name="connsiteY24" fmla="*/ 132888 h 420993"/>
              <a:gd name="connsiteX25" fmla="*/ 364838 w 607639"/>
              <a:gd name="connsiteY25" fmla="*/ 143086 h 420993"/>
              <a:gd name="connsiteX26" fmla="*/ 373738 w 607639"/>
              <a:gd name="connsiteY26" fmla="*/ 178013 h 420993"/>
              <a:gd name="connsiteX27" fmla="*/ 519615 w 607639"/>
              <a:gd name="connsiteY27" fmla="*/ 178013 h 420993"/>
              <a:gd name="connsiteX28" fmla="*/ 528515 w 607639"/>
              <a:gd name="connsiteY28" fmla="*/ 143086 h 420993"/>
              <a:gd name="connsiteX29" fmla="*/ 446710 w 607639"/>
              <a:gd name="connsiteY29" fmla="*/ 132888 h 420993"/>
              <a:gd name="connsiteX30" fmla="*/ 160918 w 607639"/>
              <a:gd name="connsiteY30" fmla="*/ 132888 h 420993"/>
              <a:gd name="connsiteX31" fmla="*/ 79035 w 607639"/>
              <a:gd name="connsiteY31" fmla="*/ 143086 h 420993"/>
              <a:gd name="connsiteX32" fmla="*/ 87936 w 607639"/>
              <a:gd name="connsiteY32" fmla="*/ 178013 h 420993"/>
              <a:gd name="connsiteX33" fmla="*/ 233901 w 607639"/>
              <a:gd name="connsiteY33" fmla="*/ 178013 h 420993"/>
              <a:gd name="connsiteX34" fmla="*/ 242801 w 607639"/>
              <a:gd name="connsiteY34" fmla="*/ 143086 h 420993"/>
              <a:gd name="connsiteX35" fmla="*/ 160918 w 607639"/>
              <a:gd name="connsiteY35" fmla="*/ 132888 h 420993"/>
              <a:gd name="connsiteX36" fmla="*/ 446710 w 607639"/>
              <a:gd name="connsiteY36" fmla="*/ 70854 h 420993"/>
              <a:gd name="connsiteX37" fmla="*/ 364838 w 607639"/>
              <a:gd name="connsiteY37" fmla="*/ 81053 h 420993"/>
              <a:gd name="connsiteX38" fmla="*/ 373738 w 607639"/>
              <a:gd name="connsiteY38" fmla="*/ 115980 h 420993"/>
              <a:gd name="connsiteX39" fmla="*/ 519615 w 607639"/>
              <a:gd name="connsiteY39" fmla="*/ 115980 h 420993"/>
              <a:gd name="connsiteX40" fmla="*/ 528515 w 607639"/>
              <a:gd name="connsiteY40" fmla="*/ 81053 h 420993"/>
              <a:gd name="connsiteX41" fmla="*/ 446710 w 607639"/>
              <a:gd name="connsiteY41" fmla="*/ 70854 h 420993"/>
              <a:gd name="connsiteX42" fmla="*/ 160918 w 607639"/>
              <a:gd name="connsiteY42" fmla="*/ 70854 h 420993"/>
              <a:gd name="connsiteX43" fmla="*/ 79035 w 607639"/>
              <a:gd name="connsiteY43" fmla="*/ 81053 h 420993"/>
              <a:gd name="connsiteX44" fmla="*/ 87936 w 607639"/>
              <a:gd name="connsiteY44" fmla="*/ 115980 h 420993"/>
              <a:gd name="connsiteX45" fmla="*/ 233901 w 607639"/>
              <a:gd name="connsiteY45" fmla="*/ 115980 h 420993"/>
              <a:gd name="connsiteX46" fmla="*/ 242801 w 607639"/>
              <a:gd name="connsiteY46" fmla="*/ 81053 h 420993"/>
              <a:gd name="connsiteX47" fmla="*/ 160918 w 607639"/>
              <a:gd name="connsiteY47" fmla="*/ 70854 h 420993"/>
              <a:gd name="connsiteX48" fmla="*/ 446721 w 607639"/>
              <a:gd name="connsiteY48" fmla="*/ 0 h 420993"/>
              <a:gd name="connsiteX49" fmla="*/ 597760 w 607639"/>
              <a:gd name="connsiteY49" fmla="*/ 36349 h 420993"/>
              <a:gd name="connsiteX50" fmla="*/ 607639 w 607639"/>
              <a:gd name="connsiteY50" fmla="*/ 41415 h 420993"/>
              <a:gd name="connsiteX51" fmla="*/ 607639 w 607639"/>
              <a:gd name="connsiteY51" fmla="*/ 420993 h 420993"/>
              <a:gd name="connsiteX52" fmla="*/ 581294 w 607639"/>
              <a:gd name="connsiteY52" fmla="*/ 407484 h 420993"/>
              <a:gd name="connsiteX53" fmla="*/ 446721 w 607639"/>
              <a:gd name="connsiteY53" fmla="*/ 375134 h 420993"/>
              <a:gd name="connsiteX54" fmla="*/ 321849 w 607639"/>
              <a:gd name="connsiteY54" fmla="*/ 402774 h 420993"/>
              <a:gd name="connsiteX55" fmla="*/ 321849 w 607639"/>
              <a:gd name="connsiteY55" fmla="*/ 24351 h 420993"/>
              <a:gd name="connsiteX56" fmla="*/ 446721 w 607639"/>
              <a:gd name="connsiteY56" fmla="*/ 0 h 420993"/>
              <a:gd name="connsiteX57" fmla="*/ 160918 w 607639"/>
              <a:gd name="connsiteY57" fmla="*/ 0 h 420993"/>
              <a:gd name="connsiteX58" fmla="*/ 285790 w 607639"/>
              <a:gd name="connsiteY58" fmla="*/ 24351 h 420993"/>
              <a:gd name="connsiteX59" fmla="*/ 285790 w 607639"/>
              <a:gd name="connsiteY59" fmla="*/ 402774 h 420993"/>
              <a:gd name="connsiteX60" fmla="*/ 160918 w 607639"/>
              <a:gd name="connsiteY60" fmla="*/ 375134 h 420993"/>
              <a:gd name="connsiteX61" fmla="*/ 26256 w 607639"/>
              <a:gd name="connsiteY61" fmla="*/ 407484 h 420993"/>
              <a:gd name="connsiteX62" fmla="*/ 0 w 607639"/>
              <a:gd name="connsiteY62" fmla="*/ 420993 h 420993"/>
              <a:gd name="connsiteX63" fmla="*/ 0 w 607639"/>
              <a:gd name="connsiteY63" fmla="*/ 41415 h 420993"/>
              <a:gd name="connsiteX64" fmla="*/ 9791 w 607639"/>
              <a:gd name="connsiteY64" fmla="*/ 36349 h 420993"/>
              <a:gd name="connsiteX65" fmla="*/ 160918 w 607639"/>
              <a:gd name="connsiteY65" fmla="*/ 0 h 420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607639" h="420993">
                <a:moveTo>
                  <a:pt x="446710" y="256866"/>
                </a:moveTo>
                <a:cubicBezTo>
                  <a:pt x="419174" y="256866"/>
                  <a:pt x="391628" y="260266"/>
                  <a:pt x="364838" y="267065"/>
                </a:cubicBezTo>
                <a:lnTo>
                  <a:pt x="373738" y="301992"/>
                </a:lnTo>
                <a:cubicBezTo>
                  <a:pt x="421444" y="289905"/>
                  <a:pt x="471909" y="289905"/>
                  <a:pt x="519615" y="301992"/>
                </a:cubicBezTo>
                <a:lnTo>
                  <a:pt x="528515" y="267065"/>
                </a:lnTo>
                <a:cubicBezTo>
                  <a:pt x="501770" y="260266"/>
                  <a:pt x="474245" y="256866"/>
                  <a:pt x="446710" y="256866"/>
                </a:cubicBezTo>
                <a:close/>
                <a:moveTo>
                  <a:pt x="160918" y="256866"/>
                </a:moveTo>
                <a:cubicBezTo>
                  <a:pt x="133372" y="256866"/>
                  <a:pt x="105825" y="260266"/>
                  <a:pt x="79035" y="267065"/>
                </a:cubicBezTo>
                <a:lnTo>
                  <a:pt x="87936" y="301992"/>
                </a:lnTo>
                <a:cubicBezTo>
                  <a:pt x="135730" y="289905"/>
                  <a:pt x="186106" y="289905"/>
                  <a:pt x="233901" y="301992"/>
                </a:cubicBezTo>
                <a:lnTo>
                  <a:pt x="242801" y="267065"/>
                </a:lnTo>
                <a:cubicBezTo>
                  <a:pt x="216011" y="260266"/>
                  <a:pt x="188465" y="256866"/>
                  <a:pt x="160918" y="256866"/>
                </a:cubicBezTo>
                <a:close/>
                <a:moveTo>
                  <a:pt x="446710" y="194922"/>
                </a:moveTo>
                <a:cubicBezTo>
                  <a:pt x="419174" y="194922"/>
                  <a:pt x="391628" y="198321"/>
                  <a:pt x="364838" y="205120"/>
                </a:cubicBezTo>
                <a:lnTo>
                  <a:pt x="373738" y="240047"/>
                </a:lnTo>
                <a:cubicBezTo>
                  <a:pt x="421444" y="227871"/>
                  <a:pt x="471909" y="227871"/>
                  <a:pt x="519615" y="240047"/>
                </a:cubicBezTo>
                <a:lnTo>
                  <a:pt x="528515" y="205120"/>
                </a:lnTo>
                <a:cubicBezTo>
                  <a:pt x="501770" y="198321"/>
                  <a:pt x="474245" y="194922"/>
                  <a:pt x="446710" y="194922"/>
                </a:cubicBezTo>
                <a:close/>
                <a:moveTo>
                  <a:pt x="160918" y="194922"/>
                </a:moveTo>
                <a:cubicBezTo>
                  <a:pt x="133372" y="194922"/>
                  <a:pt x="105825" y="198321"/>
                  <a:pt x="79035" y="205120"/>
                </a:cubicBezTo>
                <a:lnTo>
                  <a:pt x="87936" y="240047"/>
                </a:lnTo>
                <a:cubicBezTo>
                  <a:pt x="135730" y="227871"/>
                  <a:pt x="186106" y="227871"/>
                  <a:pt x="233901" y="240047"/>
                </a:cubicBezTo>
                <a:lnTo>
                  <a:pt x="242801" y="205120"/>
                </a:lnTo>
                <a:cubicBezTo>
                  <a:pt x="216011" y="198321"/>
                  <a:pt x="188465" y="194922"/>
                  <a:pt x="160918" y="194922"/>
                </a:cubicBezTo>
                <a:close/>
                <a:moveTo>
                  <a:pt x="446710" y="132888"/>
                </a:moveTo>
                <a:cubicBezTo>
                  <a:pt x="419174" y="132888"/>
                  <a:pt x="391628" y="136287"/>
                  <a:pt x="364838" y="143086"/>
                </a:cubicBezTo>
                <a:lnTo>
                  <a:pt x="373738" y="178013"/>
                </a:lnTo>
                <a:cubicBezTo>
                  <a:pt x="421444" y="165927"/>
                  <a:pt x="471909" y="165927"/>
                  <a:pt x="519615" y="178013"/>
                </a:cubicBezTo>
                <a:lnTo>
                  <a:pt x="528515" y="143086"/>
                </a:lnTo>
                <a:cubicBezTo>
                  <a:pt x="501770" y="136287"/>
                  <a:pt x="474245" y="132888"/>
                  <a:pt x="446710" y="132888"/>
                </a:cubicBezTo>
                <a:close/>
                <a:moveTo>
                  <a:pt x="160918" y="132888"/>
                </a:moveTo>
                <a:cubicBezTo>
                  <a:pt x="133372" y="132888"/>
                  <a:pt x="105825" y="136287"/>
                  <a:pt x="79035" y="143086"/>
                </a:cubicBezTo>
                <a:lnTo>
                  <a:pt x="87936" y="178013"/>
                </a:lnTo>
                <a:cubicBezTo>
                  <a:pt x="135730" y="165927"/>
                  <a:pt x="186106" y="165927"/>
                  <a:pt x="233901" y="178013"/>
                </a:cubicBezTo>
                <a:lnTo>
                  <a:pt x="242801" y="143086"/>
                </a:lnTo>
                <a:cubicBezTo>
                  <a:pt x="216011" y="136287"/>
                  <a:pt x="188465" y="132888"/>
                  <a:pt x="160918" y="132888"/>
                </a:cubicBezTo>
                <a:close/>
                <a:moveTo>
                  <a:pt x="446710" y="70854"/>
                </a:moveTo>
                <a:cubicBezTo>
                  <a:pt x="419174" y="70854"/>
                  <a:pt x="391628" y="74254"/>
                  <a:pt x="364838" y="81053"/>
                </a:cubicBezTo>
                <a:lnTo>
                  <a:pt x="373738" y="115980"/>
                </a:lnTo>
                <a:cubicBezTo>
                  <a:pt x="421444" y="103893"/>
                  <a:pt x="471909" y="103893"/>
                  <a:pt x="519615" y="115980"/>
                </a:cubicBezTo>
                <a:lnTo>
                  <a:pt x="528515" y="81053"/>
                </a:lnTo>
                <a:cubicBezTo>
                  <a:pt x="501770" y="74254"/>
                  <a:pt x="474245" y="70854"/>
                  <a:pt x="446710" y="70854"/>
                </a:cubicBezTo>
                <a:close/>
                <a:moveTo>
                  <a:pt x="160918" y="70854"/>
                </a:moveTo>
                <a:cubicBezTo>
                  <a:pt x="133372" y="70854"/>
                  <a:pt x="105825" y="74254"/>
                  <a:pt x="79035" y="81053"/>
                </a:cubicBezTo>
                <a:lnTo>
                  <a:pt x="87936" y="115980"/>
                </a:lnTo>
                <a:cubicBezTo>
                  <a:pt x="135730" y="103893"/>
                  <a:pt x="186106" y="103893"/>
                  <a:pt x="233901" y="115980"/>
                </a:cubicBezTo>
                <a:lnTo>
                  <a:pt x="242801" y="81053"/>
                </a:lnTo>
                <a:cubicBezTo>
                  <a:pt x="216011" y="74254"/>
                  <a:pt x="188465" y="70854"/>
                  <a:pt x="160918" y="70854"/>
                </a:cubicBezTo>
                <a:close/>
                <a:moveTo>
                  <a:pt x="446721" y="0"/>
                </a:moveTo>
                <a:cubicBezTo>
                  <a:pt x="498966" y="0"/>
                  <a:pt x="551211" y="12620"/>
                  <a:pt x="597760" y="36349"/>
                </a:cubicBezTo>
                <a:lnTo>
                  <a:pt x="607639" y="41415"/>
                </a:lnTo>
                <a:lnTo>
                  <a:pt x="607639" y="420993"/>
                </a:lnTo>
                <a:lnTo>
                  <a:pt x="581294" y="407484"/>
                </a:lnTo>
                <a:cubicBezTo>
                  <a:pt x="539908" y="386333"/>
                  <a:pt x="493270" y="375134"/>
                  <a:pt x="446721" y="375134"/>
                </a:cubicBezTo>
                <a:cubicBezTo>
                  <a:pt x="403732" y="375134"/>
                  <a:pt x="360833" y="384644"/>
                  <a:pt x="321849" y="402774"/>
                </a:cubicBezTo>
                <a:lnTo>
                  <a:pt x="321849" y="24351"/>
                </a:lnTo>
                <a:cubicBezTo>
                  <a:pt x="361367" y="8354"/>
                  <a:pt x="403999" y="0"/>
                  <a:pt x="446721" y="0"/>
                </a:cubicBezTo>
                <a:close/>
                <a:moveTo>
                  <a:pt x="160918" y="0"/>
                </a:moveTo>
                <a:cubicBezTo>
                  <a:pt x="203640" y="0"/>
                  <a:pt x="246273" y="8354"/>
                  <a:pt x="285790" y="24351"/>
                </a:cubicBezTo>
                <a:lnTo>
                  <a:pt x="285790" y="402774"/>
                </a:lnTo>
                <a:cubicBezTo>
                  <a:pt x="246807" y="384644"/>
                  <a:pt x="203907" y="375134"/>
                  <a:pt x="160918" y="375134"/>
                </a:cubicBezTo>
                <a:cubicBezTo>
                  <a:pt x="114281" y="375134"/>
                  <a:pt x="67732" y="386333"/>
                  <a:pt x="26256" y="407484"/>
                </a:cubicBezTo>
                <a:lnTo>
                  <a:pt x="0" y="420993"/>
                </a:lnTo>
                <a:lnTo>
                  <a:pt x="0" y="41415"/>
                </a:lnTo>
                <a:lnTo>
                  <a:pt x="9791" y="36349"/>
                </a:lnTo>
                <a:cubicBezTo>
                  <a:pt x="56339" y="12620"/>
                  <a:pt x="108584" y="0"/>
                  <a:pt x="1609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pic>
        <p:nvPicPr>
          <p:cNvPr id="25" name="图形 24" descr="握手">
            <a:extLst>
              <a:ext uri="{FF2B5EF4-FFF2-40B4-BE49-F238E27FC236}">
                <a16:creationId xmlns:a16="http://schemas.microsoft.com/office/drawing/2014/main" id="{1B93114E-090A-985D-41B2-E99EC3292F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15994" y="2445593"/>
            <a:ext cx="450436" cy="450436"/>
          </a:xfrm>
          <a:prstGeom prst="rect">
            <a:avLst/>
          </a:prstGeom>
        </p:spPr>
      </p:pic>
      <p:pic>
        <p:nvPicPr>
          <p:cNvPr id="26" name="图形 25" descr="黑板">
            <a:extLst>
              <a:ext uri="{FF2B5EF4-FFF2-40B4-BE49-F238E27FC236}">
                <a16:creationId xmlns:a16="http://schemas.microsoft.com/office/drawing/2014/main" id="{068DF89B-D5D9-4B32-23F4-D3948BC01759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8561" y="2457532"/>
            <a:ext cx="369392" cy="369392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92EA411D-727E-1075-AAEF-54DA4DABCF30}"/>
              </a:ext>
            </a:extLst>
          </p:cNvPr>
          <p:cNvGrpSpPr/>
          <p:nvPr/>
        </p:nvGrpSpPr>
        <p:grpSpPr>
          <a:xfrm>
            <a:off x="-240704" y="246620"/>
            <a:ext cx="3672408" cy="806116"/>
            <a:chOff x="-240704" y="246620"/>
            <a:chExt cx="3456384" cy="734108"/>
          </a:xfrm>
        </p:grpSpPr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1F612FDE-3CB0-08EC-533C-A889DCD0BE7F}"/>
                </a:ext>
              </a:extLst>
            </p:cNvPr>
            <p:cNvSpPr/>
            <p:nvPr/>
          </p:nvSpPr>
          <p:spPr>
            <a:xfrm>
              <a:off x="-240704" y="246620"/>
              <a:ext cx="3456384" cy="734108"/>
            </a:xfrm>
            <a:prstGeom prst="roundRect">
              <a:avLst/>
            </a:prstGeom>
            <a:solidFill>
              <a:srgbClr val="034C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Light" panose="020B0502040204020203"/>
                <a:ea typeface="微软雅黑 Light" panose="020B0502040204020203" pitchFamily="34" charset="-122"/>
                <a:cs typeface="+mn-cs"/>
              </a:endParaRPr>
            </a:p>
          </p:txBody>
        </p:sp>
        <p:sp>
          <p:nvSpPr>
            <p:cNvPr id="28" name="文本占位符 3">
              <a:extLst>
                <a:ext uri="{FF2B5EF4-FFF2-40B4-BE49-F238E27FC236}">
                  <a16:creationId xmlns:a16="http://schemas.microsoft.com/office/drawing/2014/main" id="{55F80FD6-8B27-7F2A-3551-3E76A1380326}"/>
                </a:ext>
              </a:extLst>
            </p:cNvPr>
            <p:cNvSpPr txBox="1"/>
            <p:nvPr/>
          </p:nvSpPr>
          <p:spPr>
            <a:xfrm>
              <a:off x="263352" y="310719"/>
              <a:ext cx="2765853" cy="605909"/>
            </a:xfrm>
            <a:prstGeom prst="roundRect">
              <a:avLst>
                <a:gd name="adj" fmla="val 50000"/>
              </a:avLst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微软雅黑" panose="020B0503020204020204" charset="-122"/>
                  <a:ea typeface="微软雅黑" panose="020B0503020204020204" charset="-122"/>
                  <a:cs typeface="+mn-cs"/>
                </a:rPr>
                <a:t>总结</a:t>
              </a:r>
            </a:p>
          </p:txBody>
        </p:sp>
      </p:grp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90F1C30-3F1C-4AC9-A1EC-84678163925A}"/>
              </a:ext>
            </a:extLst>
          </p:cNvPr>
          <p:cNvSpPr/>
          <p:nvPr/>
        </p:nvSpPr>
        <p:spPr>
          <a:xfrm>
            <a:off x="579348" y="1089985"/>
            <a:ext cx="11222282" cy="118569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 dirty="0" err="1">
                <a:solidFill>
                  <a:schemeClr val="accent6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DormFix</a:t>
            </a:r>
            <a:r>
              <a:rPr lang="zh-CN" altLang="en-US" sz="2000" b="1" dirty="0">
                <a:solidFill>
                  <a:schemeClr val="accent6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宿舍报修系统实现报修提交、审核派单、维修处理、评价反馈等核心功能，注重安全性、可追溯性与用户体验，有效解决了传统报修方式效率低、信息不透明等问题。</a:t>
            </a:r>
          </a:p>
        </p:txBody>
      </p:sp>
    </p:spTree>
    <p:extLst>
      <p:ext uri="{BB962C8B-B14F-4D97-AF65-F5344CB8AC3E}">
        <p14:creationId xmlns:p14="http://schemas.microsoft.com/office/powerpoint/2010/main" val="1949714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52EEA-0DFF-FB2F-5EAB-FECD00C79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\360MoveData\Users\xiaoxiao\Desktop\微信图片_20230609200901.png微信图片_20230609200901">
            <a:extLst>
              <a:ext uri="{FF2B5EF4-FFF2-40B4-BE49-F238E27FC236}">
                <a16:creationId xmlns:a16="http://schemas.microsoft.com/office/drawing/2014/main" id="{E085CE72-A739-EDC4-7466-8B0F74A87C4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rcRect t="25402" b="15531"/>
          <a:stretch>
            <a:fillRect/>
          </a:stretch>
        </p:blipFill>
        <p:spPr>
          <a:xfrm>
            <a:off x="0" y="0"/>
            <a:ext cx="12178030" cy="3604895"/>
          </a:xfrm>
          <a:custGeom>
            <a:avLst/>
            <a:gdLst>
              <a:gd name="connsiteX0" fmla="*/ 0 w 12192000"/>
              <a:gd name="connsiteY0" fmla="*/ 0 h 3573014"/>
              <a:gd name="connsiteX1" fmla="*/ 12192000 w 12192000"/>
              <a:gd name="connsiteY1" fmla="*/ 0 h 3573014"/>
              <a:gd name="connsiteX2" fmla="*/ 12192000 w 12192000"/>
              <a:gd name="connsiteY2" fmla="*/ 1792365 h 3573014"/>
              <a:gd name="connsiteX3" fmla="*/ 12053358 w 12192000"/>
              <a:gd name="connsiteY3" fmla="*/ 1912035 h 3573014"/>
              <a:gd name="connsiteX4" fmla="*/ 6096000 w 12192000"/>
              <a:gd name="connsiteY4" fmla="*/ 3573014 h 3573014"/>
              <a:gd name="connsiteX5" fmla="*/ 138643 w 12192000"/>
              <a:gd name="connsiteY5" fmla="*/ 1912035 h 3573014"/>
              <a:gd name="connsiteX6" fmla="*/ 0 w 12192000"/>
              <a:gd name="connsiteY6" fmla="*/ 1792365 h 35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3573014">
                <a:moveTo>
                  <a:pt x="0" y="0"/>
                </a:moveTo>
                <a:lnTo>
                  <a:pt x="12192000" y="0"/>
                </a:lnTo>
                <a:lnTo>
                  <a:pt x="12192000" y="1792365"/>
                </a:lnTo>
                <a:lnTo>
                  <a:pt x="12053358" y="1912035"/>
                </a:lnTo>
                <a:cubicBezTo>
                  <a:pt x="10762282" y="2914151"/>
                  <a:pt x="8575872" y="3573014"/>
                  <a:pt x="6096000" y="3573014"/>
                </a:cubicBezTo>
                <a:cubicBezTo>
                  <a:pt x="3616128" y="3573014"/>
                  <a:pt x="1429718" y="2914151"/>
                  <a:pt x="138643" y="1912035"/>
                </a:cubicBezTo>
                <a:lnTo>
                  <a:pt x="0" y="1792365"/>
                </a:lnTo>
                <a:close/>
              </a:path>
            </a:pathLst>
          </a:custGeom>
        </p:spPr>
      </p:pic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192B0FA0-3ABB-CFEE-FCBD-72E03FE8E27B}"/>
              </a:ext>
            </a:extLst>
          </p:cNvPr>
          <p:cNvSpPr/>
          <p:nvPr/>
        </p:nvSpPr>
        <p:spPr>
          <a:xfrm>
            <a:off x="19050" y="635"/>
            <a:ext cx="12176760" cy="3702685"/>
          </a:xfrm>
          <a:custGeom>
            <a:avLst/>
            <a:gdLst>
              <a:gd name="connsiteX0" fmla="*/ 0 w 12192000"/>
              <a:gd name="connsiteY0" fmla="*/ 0 h 4104640"/>
              <a:gd name="connsiteX1" fmla="*/ 12192000 w 12192000"/>
              <a:gd name="connsiteY1" fmla="*/ 0 h 4104640"/>
              <a:gd name="connsiteX2" fmla="*/ 12192000 w 12192000"/>
              <a:gd name="connsiteY2" fmla="*/ 2059049 h 4104640"/>
              <a:gd name="connsiteX3" fmla="*/ 12053358 w 12192000"/>
              <a:gd name="connsiteY3" fmla="*/ 2196525 h 4104640"/>
              <a:gd name="connsiteX4" fmla="*/ 6096000 w 12192000"/>
              <a:gd name="connsiteY4" fmla="*/ 4104640 h 4104640"/>
              <a:gd name="connsiteX5" fmla="*/ 138643 w 12192000"/>
              <a:gd name="connsiteY5" fmla="*/ 2196525 h 4104640"/>
              <a:gd name="connsiteX6" fmla="*/ 0 w 12192000"/>
              <a:gd name="connsiteY6" fmla="*/ 2059049 h 4104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4104640">
                <a:moveTo>
                  <a:pt x="0" y="0"/>
                </a:moveTo>
                <a:lnTo>
                  <a:pt x="12192000" y="0"/>
                </a:lnTo>
                <a:lnTo>
                  <a:pt x="12192000" y="2059049"/>
                </a:lnTo>
                <a:lnTo>
                  <a:pt x="12053358" y="2196525"/>
                </a:lnTo>
                <a:cubicBezTo>
                  <a:pt x="10762282" y="3347745"/>
                  <a:pt x="8575872" y="4104640"/>
                  <a:pt x="6096000" y="4104640"/>
                </a:cubicBezTo>
                <a:cubicBezTo>
                  <a:pt x="3616128" y="4104640"/>
                  <a:pt x="1429718" y="3347745"/>
                  <a:pt x="138643" y="2196525"/>
                </a:cubicBezTo>
                <a:lnTo>
                  <a:pt x="0" y="2059049"/>
                </a:ln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2EE63BCF-7AD5-93F1-D031-4C6F1CB52BC5}"/>
              </a:ext>
            </a:extLst>
          </p:cNvPr>
          <p:cNvSpPr/>
          <p:nvPr/>
        </p:nvSpPr>
        <p:spPr>
          <a:xfrm>
            <a:off x="0" y="1533191"/>
            <a:ext cx="12192000" cy="1869044"/>
          </a:xfrm>
          <a:custGeom>
            <a:avLst/>
            <a:gdLst>
              <a:gd name="connsiteX0" fmla="*/ 0 w 12192000"/>
              <a:gd name="connsiteY0" fmla="*/ 0 h 4104640"/>
              <a:gd name="connsiteX1" fmla="*/ 12192000 w 12192000"/>
              <a:gd name="connsiteY1" fmla="*/ 0 h 4104640"/>
              <a:gd name="connsiteX2" fmla="*/ 12192000 w 12192000"/>
              <a:gd name="connsiteY2" fmla="*/ 2059049 h 4104640"/>
              <a:gd name="connsiteX3" fmla="*/ 12053358 w 12192000"/>
              <a:gd name="connsiteY3" fmla="*/ 2196525 h 4104640"/>
              <a:gd name="connsiteX4" fmla="*/ 6096000 w 12192000"/>
              <a:gd name="connsiteY4" fmla="*/ 4104640 h 4104640"/>
              <a:gd name="connsiteX5" fmla="*/ 138643 w 12192000"/>
              <a:gd name="connsiteY5" fmla="*/ 2196525 h 4104640"/>
              <a:gd name="connsiteX6" fmla="*/ 0 w 12192000"/>
              <a:gd name="connsiteY6" fmla="*/ 2059049 h 4104640"/>
              <a:gd name="connsiteX0-1" fmla="*/ 0 w 12192000"/>
              <a:gd name="connsiteY0-2" fmla="*/ 0 h 4104640"/>
              <a:gd name="connsiteX1-3" fmla="*/ 12192000 w 12192000"/>
              <a:gd name="connsiteY1-4" fmla="*/ 0 h 4104640"/>
              <a:gd name="connsiteX2-5" fmla="*/ 12192000 w 12192000"/>
              <a:gd name="connsiteY2-6" fmla="*/ 2059049 h 4104640"/>
              <a:gd name="connsiteX3-7" fmla="*/ 12053358 w 12192000"/>
              <a:gd name="connsiteY3-8" fmla="*/ 2196525 h 4104640"/>
              <a:gd name="connsiteX4-9" fmla="*/ 6096000 w 12192000"/>
              <a:gd name="connsiteY4-10" fmla="*/ 4104640 h 4104640"/>
              <a:gd name="connsiteX5-11" fmla="*/ 138643 w 12192000"/>
              <a:gd name="connsiteY5-12" fmla="*/ 2196525 h 4104640"/>
              <a:gd name="connsiteX6-13" fmla="*/ 0 w 12192000"/>
              <a:gd name="connsiteY6-14" fmla="*/ 2059049 h 4104640"/>
              <a:gd name="connsiteX7" fmla="*/ 91440 w 12192000"/>
              <a:gd name="connsiteY7" fmla="*/ 87904 h 4104640"/>
              <a:gd name="connsiteX0-15" fmla="*/ 0 w 12192000"/>
              <a:gd name="connsiteY0-16" fmla="*/ 0 h 4104640"/>
              <a:gd name="connsiteX1-17" fmla="*/ 12192000 w 12192000"/>
              <a:gd name="connsiteY1-18" fmla="*/ 0 h 4104640"/>
              <a:gd name="connsiteX2-19" fmla="*/ 12192000 w 12192000"/>
              <a:gd name="connsiteY2-20" fmla="*/ 2059049 h 4104640"/>
              <a:gd name="connsiteX3-21" fmla="*/ 12053358 w 12192000"/>
              <a:gd name="connsiteY3-22" fmla="*/ 2196525 h 4104640"/>
              <a:gd name="connsiteX4-23" fmla="*/ 6096000 w 12192000"/>
              <a:gd name="connsiteY4-24" fmla="*/ 4104640 h 4104640"/>
              <a:gd name="connsiteX5-25" fmla="*/ 138643 w 12192000"/>
              <a:gd name="connsiteY5-26" fmla="*/ 2196525 h 4104640"/>
              <a:gd name="connsiteX6-27" fmla="*/ 0 w 12192000"/>
              <a:gd name="connsiteY6-28" fmla="*/ 2059049 h 4104640"/>
              <a:gd name="connsiteX0-29" fmla="*/ 0 w 12192000"/>
              <a:gd name="connsiteY0-30" fmla="*/ 0 h 4104640"/>
              <a:gd name="connsiteX1-31" fmla="*/ 12192000 w 12192000"/>
              <a:gd name="connsiteY1-32" fmla="*/ 2059049 h 4104640"/>
              <a:gd name="connsiteX2-33" fmla="*/ 12053358 w 12192000"/>
              <a:gd name="connsiteY2-34" fmla="*/ 2196525 h 4104640"/>
              <a:gd name="connsiteX3-35" fmla="*/ 6096000 w 12192000"/>
              <a:gd name="connsiteY3-36" fmla="*/ 4104640 h 4104640"/>
              <a:gd name="connsiteX4-37" fmla="*/ 138643 w 12192000"/>
              <a:gd name="connsiteY4-38" fmla="*/ 2196525 h 4104640"/>
              <a:gd name="connsiteX5-39" fmla="*/ 0 w 12192000"/>
              <a:gd name="connsiteY5-40" fmla="*/ 2059049 h 4104640"/>
              <a:gd name="connsiteX0-41" fmla="*/ 12192000 w 12192000"/>
              <a:gd name="connsiteY0-42" fmla="*/ 0 h 2045591"/>
              <a:gd name="connsiteX1-43" fmla="*/ 12053358 w 12192000"/>
              <a:gd name="connsiteY1-44" fmla="*/ 137476 h 2045591"/>
              <a:gd name="connsiteX2-45" fmla="*/ 6096000 w 12192000"/>
              <a:gd name="connsiteY2-46" fmla="*/ 2045591 h 2045591"/>
              <a:gd name="connsiteX3-47" fmla="*/ 138643 w 12192000"/>
              <a:gd name="connsiteY3-48" fmla="*/ 137476 h 2045591"/>
              <a:gd name="connsiteX4-49" fmla="*/ 0 w 12192000"/>
              <a:gd name="connsiteY4-50" fmla="*/ 0 h 204559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192000" h="2045591">
                <a:moveTo>
                  <a:pt x="12192000" y="0"/>
                </a:moveTo>
                <a:lnTo>
                  <a:pt x="12053358" y="137476"/>
                </a:lnTo>
                <a:cubicBezTo>
                  <a:pt x="10762282" y="1288696"/>
                  <a:pt x="8575872" y="2045591"/>
                  <a:pt x="6096000" y="2045591"/>
                </a:cubicBezTo>
                <a:cubicBezTo>
                  <a:pt x="3616128" y="2045591"/>
                  <a:pt x="1429718" y="1288696"/>
                  <a:pt x="138643" y="137476"/>
                </a:cubicBezTo>
                <a:lnTo>
                  <a:pt x="0" y="0"/>
                </a:lnTo>
              </a:path>
            </a:pathLst>
          </a:cu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Light" panose="020B0502040204020203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DECF3FE-2BF4-C97C-4104-66098BD34325}"/>
              </a:ext>
            </a:extLst>
          </p:cNvPr>
          <p:cNvSpPr txBox="1"/>
          <p:nvPr/>
        </p:nvSpPr>
        <p:spPr>
          <a:xfrm>
            <a:off x="676280" y="3866738"/>
            <a:ext cx="1100813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zh-CN" altLang="en-US" sz="8000" b="1" dirty="0">
                <a:solidFill>
                  <a:srgbClr val="034C9C"/>
                </a:solidFill>
                <a:latin typeface="微软雅黑" panose="020B0503020204020204" charset="-122"/>
                <a:ea typeface="微软雅黑" panose="020B0503020204020204" charset="-122"/>
              </a:rPr>
              <a:t>汇报结束 感谢垂听</a:t>
            </a:r>
            <a:r>
              <a:rPr lang="zh-CN" altLang="en-US" sz="8000" b="1" i="1" dirty="0">
                <a:solidFill>
                  <a:srgbClr val="034C9C"/>
                </a:solidFill>
                <a:latin typeface="微软雅黑" panose="020B0503020204020204" charset="-122"/>
                <a:ea typeface="微软雅黑" panose="020B0503020204020204" charset="-122"/>
              </a:rPr>
              <a:t>！</a:t>
            </a:r>
          </a:p>
        </p:txBody>
      </p:sp>
      <p:pic>
        <p:nvPicPr>
          <p:cNvPr id="6" name="图片 5" descr="D:\360MoveData\Users\xiaoxiao\Desktop\图片1.png图片1">
            <a:extLst>
              <a:ext uri="{FF2B5EF4-FFF2-40B4-BE49-F238E27FC236}">
                <a16:creationId xmlns:a16="http://schemas.microsoft.com/office/drawing/2014/main" id="{97B0FCEA-0F58-074D-5BB0-2288193AC06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rcRect/>
          <a:stretch>
            <a:fillRect/>
          </a:stretch>
        </p:blipFill>
        <p:spPr>
          <a:xfrm>
            <a:off x="3892868" y="1737995"/>
            <a:ext cx="4112260" cy="151257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A675ECA0-6954-9C8C-CE79-601D92F0DF1E}"/>
              </a:ext>
            </a:extLst>
          </p:cNvPr>
          <p:cNvSpPr txBox="1"/>
          <p:nvPr/>
        </p:nvSpPr>
        <p:spPr>
          <a:xfrm>
            <a:off x="6816080" y="5358112"/>
            <a:ext cx="3672408" cy="9164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4800" b="1" dirty="0">
                <a:solidFill>
                  <a:schemeClr val="accent5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--</a:t>
            </a:r>
            <a:r>
              <a:rPr lang="zh-CN" altLang="en-US" sz="4800" b="1" dirty="0">
                <a:solidFill>
                  <a:schemeClr val="accent5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第</a:t>
            </a:r>
            <a:r>
              <a:rPr lang="en-US" altLang="zh-CN" sz="4800" b="1" dirty="0">
                <a:solidFill>
                  <a:schemeClr val="accent5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2</a:t>
            </a:r>
            <a:r>
              <a:rPr lang="zh-CN" altLang="en-US" sz="4800" b="1" dirty="0">
                <a:solidFill>
                  <a:schemeClr val="accent5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小组</a:t>
            </a:r>
          </a:p>
        </p:txBody>
      </p:sp>
    </p:spTree>
    <p:extLst>
      <p:ext uri="{BB962C8B-B14F-4D97-AF65-F5344CB8AC3E}">
        <p14:creationId xmlns:p14="http://schemas.microsoft.com/office/powerpoint/2010/main" val="120250727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5677a410-e558-42a0-bab5-7d1b81048dee"/>
  <p:tag name="COMMONDATA" val="eyJoZGlkIjoiZDk3OGIwOWUzZDQzMTYzNzEyZWFmZjBjYmIxOTViYzc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西大模板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34C9C"/>
      </a:accent1>
      <a:accent2>
        <a:srgbClr val="FFA405"/>
      </a:accent2>
      <a:accent3>
        <a:srgbClr val="B5B5B5"/>
      </a:accent3>
      <a:accent4>
        <a:srgbClr val="D4D9DD"/>
      </a:accent4>
      <a:accent5>
        <a:srgbClr val="66BE96"/>
      </a:accent5>
      <a:accent6>
        <a:srgbClr val="104685"/>
      </a:accent6>
      <a:hlink>
        <a:srgbClr val="0563C1"/>
      </a:hlink>
      <a:folHlink>
        <a:srgbClr val="954F72"/>
      </a:folHlink>
    </a:clrScheme>
    <a:fontScheme name="西大模板">
      <a:majorFont>
        <a:latin typeface="Segoe UI Black"/>
        <a:ea typeface="思源宋体 CN Heavy"/>
        <a:cs typeface=""/>
      </a:majorFont>
      <a:minorFont>
        <a:latin typeface="Segoe UI 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lnSpc>
            <a:spcPct val="130000"/>
          </a:lnSpc>
          <a:defRPr sz="2000" dirty="0" smtClean="0"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617</TotalTime>
  <Words>1373</Words>
  <Application>Microsoft Office PowerPoint</Application>
  <PresentationFormat>宽屏</PresentationFormat>
  <Paragraphs>157</Paragraphs>
  <Slides>28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9" baseType="lpstr">
      <vt:lpstr>等线</vt:lpstr>
      <vt:lpstr>管峻楷书简体</vt:lpstr>
      <vt:lpstr>黑体</vt:lpstr>
      <vt:lpstr>微软雅黑</vt:lpstr>
      <vt:lpstr>微软雅黑 Light</vt:lpstr>
      <vt:lpstr>Arial</vt:lpstr>
      <vt:lpstr>Calibri</vt:lpstr>
      <vt:lpstr>Segoe UI</vt:lpstr>
      <vt:lpstr>Segoe UI Black</vt:lpstr>
      <vt:lpstr>Segoe UI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锅炉爷爷</dc:creator>
  <cp:lastModifiedBy>ye he</cp:lastModifiedBy>
  <cp:revision>109</cp:revision>
  <dcterms:created xsi:type="dcterms:W3CDTF">2020-05-09T22:50:00Z</dcterms:created>
  <dcterms:modified xsi:type="dcterms:W3CDTF">2026-06-08T05:55:18Z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C0FCC16EC1284348B4C24E69053586C1_13</vt:lpwstr>
  </property>
  <property fmtid="{D5CDD505-2E9C-101B-9397-08002B2CF9AE}" pid="3" name="KSOProductBuildVer">
    <vt:lpwstr>2052-11.1.0.14309</vt:lpwstr>
  </property>
</Properties>
</file>